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4e86dcb9b4fd8" /><Relationship Type="http://schemas.openxmlformats.org/officeDocument/2006/relationships/extended-properties" Target="/docProps/app.xml" Id="R78be001f0dba4ea6" /><Relationship Type="http://schemas.openxmlformats.org/officeDocument/2006/relationships/officeDocument" Target="/ppt/presentation.xml" Id="R9a81c3959700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a2e04ae45844ed"/>
  </p:sldMasterIdLst>
  <p:notesMasterIdLst>
    <p:notesMasterId xmlns:r="http://schemas.openxmlformats.org/officeDocument/2006/relationships" r:id="Rcc1ddfadef1d461e"/>
  </p:notesMasterIdLst>
  <p:sldIdLst>
    <p:sldId xmlns:r="http://schemas.openxmlformats.org/officeDocument/2006/relationships" id="256" r:id="R477212d58e56426e"/>
    <p:sldId xmlns:r="http://schemas.openxmlformats.org/officeDocument/2006/relationships" id="257" r:id="Red65a2fb9b8a4191"/>
    <p:sldId xmlns:r="http://schemas.openxmlformats.org/officeDocument/2006/relationships" id="258" r:id="R9023ede0fa814e2a"/>
    <p:sldId xmlns:r="http://schemas.openxmlformats.org/officeDocument/2006/relationships" id="259" r:id="Rad62ee4c8e044dd8"/>
    <p:sldId xmlns:r="http://schemas.openxmlformats.org/officeDocument/2006/relationships" id="260" r:id="R4b8cf2eab71d4970"/>
    <p:sldId xmlns:r="http://schemas.openxmlformats.org/officeDocument/2006/relationships" id="261" r:id="R7c861ecbba974b43"/>
    <p:sldId xmlns:r="http://schemas.openxmlformats.org/officeDocument/2006/relationships" id="262" r:id="R9217be81bde64ca6"/>
    <p:sldId xmlns:r="http://schemas.openxmlformats.org/officeDocument/2006/relationships" id="263" r:id="R868bdfc3f3fa49ed"/>
    <p:sldId xmlns:r="http://schemas.openxmlformats.org/officeDocument/2006/relationships" id="264" r:id="R92217bb01bd9475f"/>
    <p:sldId xmlns:r="http://schemas.openxmlformats.org/officeDocument/2006/relationships" id="265" r:id="Rd478005dc8c64186"/>
    <p:sldId xmlns:r="http://schemas.openxmlformats.org/officeDocument/2006/relationships" id="266" r:id="R105b68d777c44d21"/>
    <p:sldId xmlns:r="http://schemas.openxmlformats.org/officeDocument/2006/relationships" id="267" r:id="Raa18e18318be40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7e373340a54cd9" /><Relationship Type="http://schemas.openxmlformats.org/officeDocument/2006/relationships/slideMaster" Target="/ppt/slideMasters/slideMaster1.xml" Id="R43a2e04ae45844ed" /><Relationship Type="http://schemas.openxmlformats.org/officeDocument/2006/relationships/notesMaster" Target="/ppt/notesMasters/notesMaster1.xml" Id="Rcc1ddfadef1d461e" /><Relationship Type="http://schemas.openxmlformats.org/officeDocument/2006/relationships/presProps" Target="/ppt/presProps.xml" Id="R48ccba8e7ecc499b" /><Relationship Type="http://schemas.openxmlformats.org/officeDocument/2006/relationships/tableStyles" Target="/ppt/tableStyles.xml" Id="R6be2bb35a69348ba" /><Relationship Type="http://schemas.openxmlformats.org/officeDocument/2006/relationships/slide" Target="/ppt/slides/slide1.xml" Id="R477212d58e56426e" /><Relationship Type="http://schemas.openxmlformats.org/officeDocument/2006/relationships/slide" Target="/ppt/slides/slide2.xml" Id="Red65a2fb9b8a4191" /><Relationship Type="http://schemas.openxmlformats.org/officeDocument/2006/relationships/slide" Target="/ppt/slides/slide3.xml" Id="R9023ede0fa814e2a" /><Relationship Type="http://schemas.openxmlformats.org/officeDocument/2006/relationships/slide" Target="/ppt/slides/slide4.xml" Id="Rad62ee4c8e044dd8" /><Relationship Type="http://schemas.openxmlformats.org/officeDocument/2006/relationships/slide" Target="/ppt/slides/slide5.xml" Id="R4b8cf2eab71d4970" /><Relationship Type="http://schemas.openxmlformats.org/officeDocument/2006/relationships/slide" Target="/ppt/slides/slide6.xml" Id="R7c861ecbba974b43" /><Relationship Type="http://schemas.openxmlformats.org/officeDocument/2006/relationships/slide" Target="/ppt/slides/slide7.xml" Id="R9217be81bde64ca6" /><Relationship Type="http://schemas.openxmlformats.org/officeDocument/2006/relationships/slide" Target="/ppt/slides/slide8.xml" Id="R868bdfc3f3fa49ed" /><Relationship Type="http://schemas.openxmlformats.org/officeDocument/2006/relationships/slide" Target="/ppt/slides/slide9.xml" Id="R92217bb01bd9475f" /><Relationship Type="http://schemas.openxmlformats.org/officeDocument/2006/relationships/slide" Target="/ppt/slides/slide10.xml" Id="Rd478005dc8c64186" /><Relationship Type="http://schemas.openxmlformats.org/officeDocument/2006/relationships/slide" Target="/ppt/slides/slide11.xml" Id="R105b68d777c44d21" /><Relationship Type="http://schemas.openxmlformats.org/officeDocument/2006/relationships/slide" Target="/ppt/slides/slide12.xml" Id="Raa18e18318be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53b1f4859e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bd99fd8d44084" /><Relationship Type="http://schemas.openxmlformats.org/officeDocument/2006/relationships/notesMaster" Target="/ppt/notesMasters/notesMaster1.xml" Id="Ra8ac83c5fcf5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2d8ef9062f4ec7" /><Relationship Type="http://schemas.openxmlformats.org/officeDocument/2006/relationships/notesMaster" Target="/ppt/notesMasters/notesMaster1.xml" Id="R499d7390caf0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477c52536b43aa" /><Relationship Type="http://schemas.openxmlformats.org/officeDocument/2006/relationships/notesMaster" Target="/ppt/notesMasters/notesMaster1.xml" Id="R2275e97ca9094d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3f6bb5faf4144" /><Relationship Type="http://schemas.openxmlformats.org/officeDocument/2006/relationships/notesMaster" Target="/ppt/notesMasters/notesMaster1.xml" Id="Rc1c273dfc1814c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1c39f0845f4016" /><Relationship Type="http://schemas.openxmlformats.org/officeDocument/2006/relationships/notesMaster" Target="/ppt/notesMasters/notesMaster1.xml" Id="R1831b161bab942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2026270a541bd" /><Relationship Type="http://schemas.openxmlformats.org/officeDocument/2006/relationships/notesMaster" Target="/ppt/notesMasters/notesMaster1.xml" Id="R868b1ce31770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d0b1e8a68480f" /><Relationship Type="http://schemas.openxmlformats.org/officeDocument/2006/relationships/notesMaster" Target="/ppt/notesMasters/notesMaster1.xml" Id="R9144032739d34e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ea3470bc18405b" /><Relationship Type="http://schemas.openxmlformats.org/officeDocument/2006/relationships/notesMaster" Target="/ppt/notesMasters/notesMaster1.xml" Id="R6872bd9c701e40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8c52d5f7c048cc" /><Relationship Type="http://schemas.openxmlformats.org/officeDocument/2006/relationships/notesMaster" Target="/ppt/notesMasters/notesMaster1.xml" Id="Rd1c852802caf43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b97a6b752d4113" /><Relationship Type="http://schemas.openxmlformats.org/officeDocument/2006/relationships/notesMaster" Target="/ppt/notesMasters/notesMaster1.xml" Id="R646c84717ed24b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18e9253dc448d0" /><Relationship Type="http://schemas.openxmlformats.org/officeDocument/2006/relationships/notesMaster" Target="/ppt/notesMasters/notesMaster1.xml" Id="Rf07c70ba626f41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e39a27c2ce409c" /><Relationship Type="http://schemas.openxmlformats.org/officeDocument/2006/relationships/notesMaster" Target="/ppt/notesMasters/notesMaster1.xml" Id="Rd01b5e74a825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title, course, team names and registrations: Campus_Navigation_Proposal (2).pdf. Implementation scope: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Problem, inputs and outputs: README.md and campus_nav.py. Syllabus relevance: the project’s A* graph search formulation.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and architecture: campus_nav.py; web_app.py; index.html; build_osm_map.py;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and source metadata: campus_map.json. Graph generation and place categories: build_osm_map.py.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Landmark snapping and route distance model: campus_map.json, build_osm_map.py and campus_nav.py. Diagram is illustrative,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and graph validation: campus_nav.py; README.md; test_campus_nav.py.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definitions: campus_nav.py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app-results.png. Interface implementation: index.html and web_app.py.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app-results-crowd.png. Scenario multipliers and limits: index.html, README.md and campus_nav.py.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from running campus_nav.py on the included campus_map.json on 29 Oct 2026. Search timings are one run, not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scope and project assumptions: test_campus_nav.py; README.md; build_osm_map.py. This slide summarizes the test cases present in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contributions reproduced from the project’s final report. Conclusion based on the default route comparison and implemented project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95712241148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023599f194f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e44ff893f4b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d7f570ed744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c5a231ac74b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f79fa8d0f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792E19-3A98-4282-8ED0-1F8F95C72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C165F4-7595-4844-9EA6-158D076498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2EBE26-7EBB-483E-B69A-5F14C5701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1BB9FC-2CCA-41A9-8FB7-53FAA7151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FC6C1D-85FB-47C1-91EE-5817CF4F6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1A06F9-1E5B-433D-9CD7-6F7D2CD16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D12680-C1E7-48F0-A65A-571084B46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9ED8DC-6C4C-402D-8188-4DF9783DFB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3CE0C0-6717-4C1D-B197-F5154A281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3EF6C0-8669-4F28-8A8F-7B32B9E68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77e733bc44381" /><Relationship Type="http://schemas.openxmlformats.org/officeDocument/2006/relationships/slideLayout" Target="/ppt/slideLayouts/slideLayout1.xml" Id="Rf3622fbf40c74161" /><Relationship Type="http://schemas.openxmlformats.org/officeDocument/2006/relationships/slideLayout" Target="/ppt/slideLayouts/slideLayout2.xml" Id="R465f8ae7aebc4c91" /><Relationship Type="http://schemas.openxmlformats.org/officeDocument/2006/relationships/slideLayout" Target="/ppt/slideLayouts/slideLayout3.xml" Id="R361c4faaa25d4669" /><Relationship Type="http://schemas.openxmlformats.org/officeDocument/2006/relationships/slideLayout" Target="/ppt/slideLayouts/slideLayout4.xml" Id="Recd0810fcdce4cef" /><Relationship Type="http://schemas.openxmlformats.org/officeDocument/2006/relationships/slideLayout" Target="/ppt/slideLayouts/slideLayout5.xml" Id="Rba7abc424960492f" /><Relationship Type="http://schemas.openxmlformats.org/officeDocument/2006/relationships/slideLayout" Target="/ppt/slideLayouts/slideLayout6.xml" Id="R6644f8fd84be4c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622fbf40c74161"/>
    <p:sldLayoutId xmlns:r="http://schemas.openxmlformats.org/officeDocument/2006/relationships" id="2147483650" r:id="R465f8ae7aebc4c91"/>
    <p:sldLayoutId xmlns:r="http://schemas.openxmlformats.org/officeDocument/2006/relationships" id="2147483651" r:id="R361c4faaa25d4669"/>
    <p:sldLayoutId xmlns:r="http://schemas.openxmlformats.org/officeDocument/2006/relationships" id="2147483652" r:id="Recd0810fcdce4cef"/>
    <p:sldLayoutId xmlns:r="http://schemas.openxmlformats.org/officeDocument/2006/relationships" id="2147483653" r:id="Rba7abc424960492f"/>
    <p:sldLayoutId xmlns:r="http://schemas.openxmlformats.org/officeDocument/2006/relationships" id="2147483654" r:id="R6644f8fd84be4c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24fd67b814130" /><Relationship Type="http://schemas.openxmlformats.org/officeDocument/2006/relationships/notesSlide" Target="/ppt/notesSlides/notesSlide1.xml" Id="Rfcb63568e98844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c4d3f6ee24631" /><Relationship Type="http://schemas.openxmlformats.org/officeDocument/2006/relationships/notesSlide" Target="/ppt/notesSlides/notesSlide2.xml" Id="Rc9d645773cfc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d05a34ce6492e" /><Relationship Type="http://schemas.openxmlformats.org/officeDocument/2006/relationships/notesSlide" Target="/ppt/notesSlides/notesSlide3.xml" Id="R5485a1726b3845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15dc65cac4a5b" /><Relationship Type="http://schemas.openxmlformats.org/officeDocument/2006/relationships/notesSlide" Target="/ppt/notesSlides/notesSlide4.xml" Id="R3f0c5321a351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fc65a5f99481f" /><Relationship Type="http://schemas.openxmlformats.org/officeDocument/2006/relationships/notesSlide" Target="/ppt/notesSlides/notesSlide5.xml" Id="Rbc0a9a998db74c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bf9ed3bcd43fc" /><Relationship Type="http://schemas.openxmlformats.org/officeDocument/2006/relationships/notesSlide" Target="/ppt/notesSlides/notesSlide6.xml" Id="R554ea864be814d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2304e55eb4fef" /><Relationship Type="http://schemas.openxmlformats.org/officeDocument/2006/relationships/notesSlide" Target="/ppt/notesSlides/notesSlide7.xml" Id="R962ace9c295d4a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2e43d121842fe" /><Relationship Type="http://schemas.openxmlformats.org/officeDocument/2006/relationships/image" Target="/ppt/media/image.png" Id="Rf4d11ffe129b46d1" /><Relationship Type="http://schemas.openxmlformats.org/officeDocument/2006/relationships/notesSlide" Target="/ppt/notesSlides/notesSlide8.xml" Id="R559373d32734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cb156d91d4945" /><Relationship Type="http://schemas.openxmlformats.org/officeDocument/2006/relationships/image" Target="/ppt/media/image2.png" Id="Ra82f630965bd4922" /><Relationship Type="http://schemas.openxmlformats.org/officeDocument/2006/relationships/notesSlide" Target="/ppt/notesSlides/notesSlide9.xml" Id="R072bec916df24a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f7f25e92245d5" /><Relationship Type="http://schemas.openxmlformats.org/officeDocument/2006/relationships/notesSlide" Target="/ppt/notesSlides/notesSlide10.xml" Id="R2f1f5fc5ba84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1c94653f442a7" /><Relationship Type="http://schemas.openxmlformats.org/officeDocument/2006/relationships/notesSlide" Target="/ppt/notesSlides/notesSlide11.xml" Id="Rfcb889f2121741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32ad35ddf40a6" /><Relationship Type="http://schemas.openxmlformats.org/officeDocument/2006/relationships/notesSlide" Target="/ppt/notesSlides/notesSlide12.xml" Id="Rf2ec4d32f7b74e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0F47317-D66F-4E09-B665-017CFCA5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5237A00-A1B7-4AE3-AC33-84C405A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ARTIFICIAL INTELLIGENCE  /  BCSE306L COURSE PROJECT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3CCD43-5781-444C-8987-B538966E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Navigation</a:t>
            </a:r>
          </a:p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Assistant using A*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5FAE60-6165-490B-9D58-15024DC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 working pedestrian route planner for VIT Vellore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18466F07-434F-4F17-967E-D0567641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F61C5C-6A4C-4914-8978-6F9AA34C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A1688F-FF1D-4783-AAEA-EA3D14DA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Rohit Arya  ·  Nayan Gattani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DDEA59-72CB-4F51-A2E2-7888E21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Aditya Kumar  ·  Ashish Kumar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CF8B13-0614-43CA-84AD-28110275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Intelligent Search Techniques  /  Heuristic Graph Search</a:t>
            </a:r>
          </a:p>
        </p:txBody>
      </p:sp>
    </p:spTree>
    <p:extLst>
      <p:ext uri="{BB962C8B-B14F-4D97-AF65-F5344CB8AC3E}">
        <p14:creationId xmlns:p14="http://schemas.microsoft.com/office/powerpoint/2010/main" val="673268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FE8953-2CEE-4F7E-A64E-8549425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9E4CAF-CA5A-4CB2-A59C-73AA1FF4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Problem statement and project objective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32F42C0-353B-4D59-9056-CDB74105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EFA5E4A-2994-4069-B802-FED2335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3A42075-E6AF-4169-AD53-6C34F48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2EC9D1-56E0-47D2-B0B1-77F046C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Finding a walkable route across a large campus takes time.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02E845-3FF9-49EF-A5F7-8901EBF8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During short class transitions, students need routes between distant buildings. Straight-line distance alone cannot represent connected paths, gates and walkway junctions.</a:t>
            </a:r>
          </a:p>
        </p:txBody>
      </p:sp>
      <p:sp>
        <p:nvSpPr>
          <p:cNvPr id="8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31E9C452-4E3C-4E30-9265-5AD0591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90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E6D514-E37C-439E-82FC-83207558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89CAF2-A083-4A14-913C-0EFE48DE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Given two campus places, find a minimum-cost pedestrian route and report its checkpoints, physical distance and estimated walking time.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2DF5D7D-F55A-4AD7-AD8E-7D1F532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AI SYLLABUS FIT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FCFD6C-073D-4E8D-B5B0-9CA2A8A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Informed graph search: represent locations as states, walking segments as actions, distance as path cost, and Euclidean distance as the A* heuristic.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9FF46D9-7359-458E-BB0C-8C2AB10C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C969"/>
                </a:solidFill>
                <a:latin typeface="Arial"/>
                <a:ea typeface="Arial"/>
                <a:cs typeface="Arial"/>
              </a:rPr>
              <a:t>Scope: static mapped paths. Crowd scenarios adjust cost, but the app does not use live crowd sensing.</a:t>
            </a:r>
          </a:p>
        </p:txBody>
      </p:sp>
    </p:spTree>
    <p:extLst>
      <p:ext uri="{BB962C8B-B14F-4D97-AF65-F5344CB8AC3E}">
        <p14:creationId xmlns:p14="http://schemas.microsoft.com/office/powerpoint/2010/main" val="2047604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96DCA19-B730-4E5A-B656-3DEDEF7B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702316-4766-4C66-977D-D725274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Implementation methodology and workflow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CBFB251-23C7-4332-A1CD-FC3A758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4DF6ADA-5619-45CD-A4BB-C4B1AF5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470841-F194-4036-A0EE-91A2D658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One Python search core powers both the command-line demo and the local browser app.</a:t>
            </a:r>
          </a:p>
        </p:txBody>
      </p:sp>
      <p:sp>
        <p:nvSpPr>
          <p:cNvPr id="6" name="workflow-block-0">
            <a:extLst xmlns:a="http://schemas.openxmlformats.org/drawingml/2006/main">
              <a:ext uri="{FF2B5EF4-FFF2-40B4-BE49-F238E27FC236}">
                <a16:creationId xmlns:a16="http://schemas.microsoft.com/office/drawing/2014/main" id="{3AB37B8D-9BFF-4122-9055-3B9ED433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7" name="workflow-accent-0">
            <a:extLst xmlns:a="http://schemas.openxmlformats.org/drawingml/2006/main">
              <a:ext uri="{FF2B5EF4-FFF2-40B4-BE49-F238E27FC236}">
                <a16:creationId xmlns:a16="http://schemas.microsoft.com/office/drawing/2014/main" id="{734FF97E-9C86-4AA9-A14A-F89D82C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28CB02-8E1D-49A3-9218-96D3AAFB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graph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7060F7-6E27-49C7-AD4F-C9464DB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009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walkways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JSON nodes and weighted edges</a:t>
            </a:r>
          </a:p>
        </p:txBody>
      </p:sp>
      <p:sp>
        <p:nvSpPr>
          <p:cNvPr id="10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F894DEB5-D4C4-4737-AC75-0D2C0CD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5625" y="3409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1" name="workflow-block-1">
            <a:extLst xmlns:a="http://schemas.openxmlformats.org/drawingml/2006/main">
              <a:ext uri="{FF2B5EF4-FFF2-40B4-BE49-F238E27FC236}">
                <a16:creationId xmlns:a16="http://schemas.microsoft.com/office/drawing/2014/main" id="{1DF373CC-D37F-4E17-8CEE-39F89B5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717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workflow-accent-1">
            <a:extLst xmlns:a="http://schemas.openxmlformats.org/drawingml/2006/main">
              <a:ext uri="{FF2B5EF4-FFF2-40B4-BE49-F238E27FC236}">
                <a16:creationId xmlns:a16="http://schemas.microsoft.com/office/drawing/2014/main" id="{930467F7-1E11-432F-92EF-D13CBCD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717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78E9704-6EA7-492B-A693-D025AE3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003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Route request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926024-8819-43BB-8444-FB2E9930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05150"/>
            <a:ext cx="2009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Start landmark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Destination landmark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Selected crowd scenario</a:t>
            </a:r>
          </a:p>
        </p:txBody>
      </p:sp>
      <p:sp>
        <p:nvSpPr>
          <p:cNvPr id="15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7F6D46D4-9E21-4349-8DFA-D87C17C8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6450" y="3409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16" name="workflow-block-2">
            <a:extLst xmlns:a="http://schemas.openxmlformats.org/drawingml/2006/main">
              <a:ext uri="{FF2B5EF4-FFF2-40B4-BE49-F238E27FC236}">
                <a16:creationId xmlns:a16="http://schemas.microsoft.com/office/drawing/2014/main" id="{09FD631F-B12A-46CC-8D68-2BA61200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2333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7" name="workflow-accent-2">
            <a:extLst xmlns:a="http://schemas.openxmlformats.org/drawingml/2006/main">
              <a:ext uri="{FF2B5EF4-FFF2-40B4-BE49-F238E27FC236}">
                <a16:creationId xmlns:a16="http://schemas.microsoft.com/office/drawing/2014/main" id="{49017AFC-55B5-46A3-A370-F359F282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64E0E6-826C-45FA-A4D8-AAB13E9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2009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Search core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16C264A-6C06-43F0-A689-8FDD19D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20097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A* / Dijkstra / BFS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Priority queue or FIFO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Parent links rebuild route</a:t>
            </a:r>
          </a:p>
        </p:txBody>
      </p:sp>
      <p:sp>
        <p:nvSpPr>
          <p:cNvPr id="20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B7BB4E41-012A-4053-BD31-CB6256D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7275" y="34099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7C4"/>
            </a:solidFill>
            <a:prstDash val="solid"/>
          </a:ln>
        </p:spPr>
      </p:sp>
      <p:sp>
        <p:nvSpPr>
          <p:cNvPr id="21" name="workflow-block-3">
            <a:extLst xmlns:a="http://schemas.openxmlformats.org/drawingml/2006/main">
              <a:ext uri="{FF2B5EF4-FFF2-40B4-BE49-F238E27FC236}">
                <a16:creationId xmlns:a16="http://schemas.microsoft.com/office/drawing/2014/main" id="{11FA74C5-9BE7-4C84-9301-5228C0ED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71725"/>
            <a:ext cx="24479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22" name="workflow-accent-3">
            <a:extLst xmlns:a="http://schemas.openxmlformats.org/drawingml/2006/main">
              <a:ext uri="{FF2B5EF4-FFF2-40B4-BE49-F238E27FC236}">
                <a16:creationId xmlns:a16="http://schemas.microsoft.com/office/drawing/2014/main" id="{F2B1AE9B-18B9-4931-9A3F-1D221E2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717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7C1805B-DD7C-48E0-9526-BFFE94E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00325"/>
            <a:ext cx="2124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Route results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FC388FC-4888-4445-ADFB-201400C0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05150"/>
            <a:ext cx="21240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Path and checkpoints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Physical distance + time</a:t>
            </a:r>
          </a:p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Expanded nodes + search time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2CB85F8-F9F7-47FD-8AF6-B0419ADC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Web layer: index.html + Leaflet  ·  Python service: /api/map and /api/route  ·  Search: campus_nav.py</a:t>
            </a:r>
          </a:p>
        </p:txBody>
      </p:sp>
    </p:spTree>
    <p:extLst>
      <p:ext uri="{BB962C8B-B14F-4D97-AF65-F5344CB8AC3E}">
        <p14:creationId xmlns:p14="http://schemas.microsoft.com/office/powerpoint/2010/main" val="593395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4B9CE7E-94E8-49BA-B03D-F10724F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F0D1E45-7DC0-4E73-B5D2-EB6AB26D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VIT Vellore walking network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7AB2164-4A25-4827-873A-233A905F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B65E5B-76D4-45AA-8089-2C05FEBB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9D69BD-541A-40C7-B24F-CC8E9CA1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INCLUDED MAP BUNDLE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BC4C81-3355-4E26-9305-10AD5DD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1,965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92B470-751F-475E-853F-1F874FE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nodes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289145-73D1-4325-9B5A-46D57259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2,131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88BEFF-ED03-4755-B07C-AB01F6F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walkway edges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228D034-B0D7-497B-BBC1-B234755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240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0BD8D1-CC7E-4A6B-9E15-96AB121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named campus places</a:t>
            </a:r>
          </a:p>
        </p:txBody>
      </p:sp>
      <p:sp>
        <p:nvSpPr>
          <p:cNvPr id="12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C8FD1C86-674F-4650-A2A0-D2B93E8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C74793-5BA4-4153-B7F1-51DD892C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PLACE CATEGORIES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FD9F704-4F15-4B35-9DE2-1ECB523B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76726E-7E9F-4286-9762-69BB089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86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places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414B206-6428-469E-B78A-45171B0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95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A45A24D-4AB5-4D81-A568-6B84795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862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Hostels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59570AF-1741-4FBA-9B85-85B78675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MAPPED EXAMPLES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03ACCF-BF10-415E-9311-D5DB5E4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A–H blocks, MGB, EV Periyar Library, Anna Auditorium, Food Court, Main Gate and mapped hostels.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B53B835-FB24-4F8F-8336-4D07385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OpenStreetMap contributors  ·  retrieved 21 Oct 2026  ·  ODbL</a:t>
            </a:r>
          </a:p>
        </p:txBody>
      </p:sp>
    </p:spTree>
    <p:extLst>
      <p:ext uri="{BB962C8B-B14F-4D97-AF65-F5344CB8AC3E}">
        <p14:creationId xmlns:p14="http://schemas.microsoft.com/office/powerpoint/2010/main" val="2002516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873AC78-9D1E-4A52-A1C7-9DB142FB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D10D32-C134-496F-ABDD-D1D9320D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Graph model and landmark snapping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E98523C-6F48-4F3E-B9FE-CCECF2A4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8DE184-78AF-4674-BB32-872BD16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CBAED7-3270-459F-BE94-8243C4B9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Walkway junctions are nodes; mapped pedestrian segments are distance-weighted edges.</a:t>
            </a:r>
          </a:p>
        </p:txBody>
      </p:sp>
      <p:sp>
        <p:nvSpPr>
          <p:cNvPr id="6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5F126F2F-6536-4C0A-B929-CCED7E4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52550" y="2476500"/>
            <a:ext cx="188595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7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BD8CCE60-E77D-4635-B294-FF30D2E9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2476500"/>
            <a:ext cx="20002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8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48951784-1DE3-4BC7-8CF3-B986E95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8750" y="2457450"/>
            <a:ext cx="185737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9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5AD82359-2A87-4263-A9CD-B0CF1FA0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96125" y="2457450"/>
            <a:ext cx="357187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0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FAD30EA5-AD18-4D5E-B21E-C55EE0F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3486150"/>
            <a:ext cx="361950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1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55D4C420-D207-44C3-8833-D1127DC2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58250" y="2562225"/>
            <a:ext cx="180975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2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197411D7-0182-4349-8DCC-CEF7550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2457450"/>
            <a:ext cx="38576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4754"/>
            </a:solidFill>
            <a:prstDash val="solid"/>
          </a:ln>
        </p:spPr>
      </p:sp>
      <p:sp>
        <p:nvSpPr>
          <p:cNvPr id="13" name="graph-node-gate">
            <a:extLst xmlns:a="http://schemas.openxmlformats.org/drawingml/2006/main">
              <a:ext uri="{FF2B5EF4-FFF2-40B4-BE49-F238E27FC236}">
                <a16:creationId xmlns:a16="http://schemas.microsoft.com/office/drawing/2014/main" id="{A0EADBB0-130B-498F-823F-CF97D7E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28975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4" name="graph-node-j1">
            <a:extLst xmlns:a="http://schemas.openxmlformats.org/drawingml/2006/main">
              <a:ext uri="{FF2B5EF4-FFF2-40B4-BE49-F238E27FC236}">
                <a16:creationId xmlns:a16="http://schemas.microsoft.com/office/drawing/2014/main" id="{099CA6B6-1C7F-43FB-9A1A-E76AAD33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95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5" name="graph-node-lib">
            <a:extLst xmlns:a="http://schemas.openxmlformats.org/drawingml/2006/main">
              <a:ext uri="{FF2B5EF4-FFF2-40B4-BE49-F238E27FC236}">
                <a16:creationId xmlns:a16="http://schemas.microsoft.com/office/drawing/2014/main" id="{2FFFECB8-0199-4A14-AA48-1AF36E63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05175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6" name="graph-node-j2">
            <a:extLst xmlns:a="http://schemas.openxmlformats.org/drawingml/2006/main">
              <a:ext uri="{FF2B5EF4-FFF2-40B4-BE49-F238E27FC236}">
                <a16:creationId xmlns:a16="http://schemas.microsoft.com/office/drawing/2014/main" id="{08A7E268-7BD8-4A18-ABA6-23D5935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764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19050">
            <a:solidFill>
              <a:srgbClr val="49D7C4"/>
            </a:solidFill>
            <a:prstDash val="solid"/>
          </a:ln>
        </p:spPr>
      </p:sp>
      <p:sp>
        <p:nvSpPr>
          <p:cNvPr id="17" name="graph-node-food">
            <a:extLst xmlns:a="http://schemas.openxmlformats.org/drawingml/2006/main">
              <a:ext uri="{FF2B5EF4-FFF2-40B4-BE49-F238E27FC236}">
                <a16:creationId xmlns:a16="http://schemas.microsoft.com/office/drawing/2014/main" id="{66A9C065-60C5-4946-969A-6CEB3DDF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0995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8" name="graph-node-block">
            <a:extLst xmlns:a="http://schemas.openxmlformats.org/drawingml/2006/main">
              <a:ext uri="{FF2B5EF4-FFF2-40B4-BE49-F238E27FC236}">
                <a16:creationId xmlns:a16="http://schemas.microsoft.com/office/drawing/2014/main" id="{259FE6E0-24AA-4DD1-9112-047B431A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38125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EEE3"/>
            </a:solidFill>
            <a:prstDash val="solid"/>
          </a:ln>
        </p:spPr>
      </p:sp>
      <p:sp>
        <p:nvSpPr>
          <p:cNvPr id="19" name="landmark-feature">
            <a:extLst xmlns:a="http://schemas.openxmlformats.org/drawingml/2006/main">
              <a:ext uri="{FF2B5EF4-FFF2-40B4-BE49-F238E27FC236}">
                <a16:creationId xmlns:a16="http://schemas.microsoft.com/office/drawing/2014/main" id="{1D9BA39A-94D8-40E5-831D-326FFCB5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9525">
            <a:solidFill>
              <a:srgbClr val="F3C969"/>
            </a:solidFill>
            <a:prstDash val="solid"/>
          </a:ln>
        </p:spPr>
      </p:sp>
      <p:sp>
        <p:nvSpPr>
          <p:cNvPr id="20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A31BFEBE-D872-4135-872C-0058B82E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14425" y="3409950"/>
            <a:ext cx="238125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C969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B390242-698E-4929-BCF9-E0D7868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Named place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30E873C-02B0-43CC-9C31-ADCFA1DE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101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Walkway node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33D0273-C301-430F-BCDD-245340FF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Landmarks snap to their nearest mapped walkway node. The estimated straight-line access offset is included in route totals and shown to the user.</a:t>
            </a:r>
          </a:p>
        </p:txBody>
      </p:sp>
    </p:spTree>
    <p:extLst>
      <p:ext uri="{BB962C8B-B14F-4D97-AF65-F5344CB8AC3E}">
        <p14:creationId xmlns:p14="http://schemas.microsoft.com/office/powerpoint/2010/main" val="1755580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AD6146-8009-4419-9695-3343B91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D5C7E32-FBBF-4425-BED7-7715AF69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heuristic graph search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28F402A-1F19-40FF-9F41-8D3444BF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C793B85-7890-4D5F-89B6-36F7A7F3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BAD98-7F82-4FA1-B485-E16C1DA1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f(n) = g(n) + h(n)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7FB0A1-6CEE-4A0F-868B-28DA2FB0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SEARCH SCORE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9030E1-B67A-4EEB-9144-ED847ED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20024F-2995-45BE-9C35-8EA0C39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57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Known weighted cost from the start.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65661F-F095-4714-8BD2-0B6965A1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h(n)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EF30F9-6EAA-4249-8779-945DCF84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861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Straight-line Euclidean estimate to the goal.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905F80-8071-4CF9-BCC7-1C584810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Parent map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19B5B9-62D3-4230-B845-C186AD4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52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Records each best predecessor to rebuild the route.</a:t>
            </a:r>
          </a:p>
        </p:txBody>
      </p:sp>
      <p:sp>
        <p:nvSpPr>
          <p:cNvPr id="13" name="safety-box">
            <a:extLst xmlns:a="http://schemas.openxmlformats.org/drawingml/2006/main">
              <a:ext uri="{FF2B5EF4-FFF2-40B4-BE49-F238E27FC236}">
                <a16:creationId xmlns:a16="http://schemas.microsoft.com/office/drawing/2014/main" id="{A81F605B-CB4A-4156-8322-98F43B0E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90675"/>
            <a:ext cx="417195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FA0A33C-3BAC-4ADC-A279-9EB0B311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HEURISTIC SAFETY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41946C-70C3-41FC-B535-E722482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14575"/>
            <a:ext cx="3638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map loader rejects any edge shorter than the straight-line distance between its endpoints.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A3821B-A84D-478C-8795-0517872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3638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With non-negative costs, Euclidean h(n) stays admissible and consistent for this graph.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A01D9D-B940-4826-A487-4F448000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48175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A* returns an optimal weighted route on the validated graph.</a:t>
            </a:r>
          </a:p>
        </p:txBody>
      </p:sp>
    </p:spTree>
    <p:extLst>
      <p:ext uri="{BB962C8B-B14F-4D97-AF65-F5344CB8AC3E}">
        <p14:creationId xmlns:p14="http://schemas.microsoft.com/office/powerpoint/2010/main" val="640284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488A4EE-54B4-472C-9F7A-54FA5A8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5D1D98D-39E4-4BAA-9BD8-4CB32F10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Algorithms implemented and compared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C64560E-C99A-4F38-B5F6-CE289956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76A087A-B253-43EB-A99F-B53DA5C4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07</a:t>
            </a:r>
          </a:p>
        </p:txBody>
      </p:sp>
      <p:sp>
        <p:nvSpPr>
          <p:cNvPr id="5" name="algorithm-accent-0">
            <a:extLst xmlns:a="http://schemas.openxmlformats.org/drawingml/2006/main">
              <a:ext uri="{FF2B5EF4-FFF2-40B4-BE49-F238E27FC236}">
                <a16:creationId xmlns:a16="http://schemas.microsoft.com/office/drawing/2014/main" id="{A8CF3243-C1EC-4FDC-A3F0-F333DD9D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C276617-5B74-4F66-8BDF-13C9810B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859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95776F2-18EE-4FD7-9601-A09F1753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g(n) + h(n)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12BBC0-75F5-4321-953D-F19977BF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accumulated route cost plus straight-line look-ahead to prioritize promising nodes.</a:t>
            </a:r>
          </a:p>
        </p:txBody>
      </p:sp>
      <p:sp>
        <p:nvSpPr>
          <p:cNvPr id="9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1180DE43-34CB-4943-B03E-341F19D7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2667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0" name="algorithm-accent-1">
            <a:extLst xmlns:a="http://schemas.openxmlformats.org/drawingml/2006/main">
              <a:ext uri="{FF2B5EF4-FFF2-40B4-BE49-F238E27FC236}">
                <a16:creationId xmlns:a16="http://schemas.microsoft.com/office/drawing/2014/main" id="{20127AE0-5824-48DB-87A4-E03A597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E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DF9C03-5AC5-4550-BEF4-041BE41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Dijkstra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CAD51D-1917-4737-8E95-A3DD44E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8EEE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EEE3"/>
                </a:solidFill>
                <a:latin typeface="Arial"/>
                <a:ea typeface="Arial"/>
                <a:cs typeface="Arial"/>
              </a:rPr>
              <a:t>g(n)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3C26C6A-0BA9-4EEB-874B-3969346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241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Uses the same weighted graph with h(n) = 0. Optimal-cost reference for the experiment.</a:t>
            </a:r>
          </a:p>
        </p:txBody>
      </p:sp>
      <p:sp>
        <p:nvSpPr>
          <p:cNvPr id="14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2325E9B4-D8C6-40D5-BEA8-A7291D3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" y="39243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5" name="algorithm-accent-2">
            <a:extLst xmlns:a="http://schemas.openxmlformats.org/drawingml/2006/main">
              <a:ext uri="{FF2B5EF4-FFF2-40B4-BE49-F238E27FC236}">
                <a16:creationId xmlns:a16="http://schemas.microsoft.com/office/drawing/2014/main" id="{69A55266-85DE-446F-B4D3-C44ECCEF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166C88-0E4F-4AC3-9E6C-7FC6DED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BFS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1E3117-A96C-47BC-B7C6-B5EBA05F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edge count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B895896-65AF-4B1D-817B-5469EBFC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814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Finds the route with fewest graph segments. It ignores edge lengths during search.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D7E42D5-A930-4A59-95FA-041D3F94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BFS minimizes hops, not walking distance. On this map, its default route is longer than the A* and Dijkstra route.</a:t>
            </a:r>
          </a:p>
        </p:txBody>
      </p:sp>
    </p:spTree>
    <p:extLst>
      <p:ext uri="{BB962C8B-B14F-4D97-AF65-F5344CB8AC3E}">
        <p14:creationId xmlns:p14="http://schemas.microsoft.com/office/powerpoint/2010/main" val="259699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E1F952-92E2-4223-BCAD-0D1C051F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BE22A9-500B-4033-B3B2-F740BD1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Interactive web application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14CF58-EAD4-4389-8410-B365125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D1F479-E605-46F1-B32F-EBF5F59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08</a:t>
            </a:r>
          </a:p>
        </p:txBody>
      </p:sp>
      <p:sp>
        <p:nvSpPr>
          <p:cNvPr id="5" name="screenshot-border-normal">
            <a:extLst xmlns:a="http://schemas.openxmlformats.org/drawingml/2006/main">
              <a:ext uri="{FF2B5EF4-FFF2-40B4-BE49-F238E27FC236}">
                <a16:creationId xmlns:a16="http://schemas.microsoft.com/office/drawing/2014/main" id="{72BB1F22-0606-4BD1-9890-A5DE348B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57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737DE-3E04-4BB4-919F-36C0D06968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11ffe129b46d1"/>
          <a:stretch xmlns:a="http://schemas.openxmlformats.org/drawingml/2006/main"/>
        </p:blipFill>
        <p:spPr>
          <a:xfrm xmlns:a="http://schemas.openxmlformats.org/drawingml/2006/main">
            <a:off x="807597" y="1514475"/>
            <a:ext cx="632865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3A5F9F-96F6-4515-A2A3-FE332D49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ROUTE CONTROLS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349971-BB5A-4763-A8BC-D9A12B7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71675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and swap places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0B8D45-EAE9-4FD3-A6C1-93A87C0A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Select a start and destination from 35 named campus places, then calculate a route.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52740A-65A8-43D4-AC60-1521E39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ALGORITHM CARDS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1CE33E9-8097-492E-B43B-57D04070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05225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· Dijkstra · BFS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97AE05-3A2A-4E45-8B1E-FDCAADC8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Compare cost and expanded nodes. Select a card to redraw its route on the map.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5CD3FE-9F00-4EB5-8989-D1875956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Normal scenario screenshot  ·  physical distance 1.50 km  ·  estimated time 17.9 min</a:t>
            </a:r>
          </a:p>
        </p:txBody>
      </p:sp>
    </p:spTree>
    <p:extLst>
      <p:ext uri="{BB962C8B-B14F-4D97-AF65-F5344CB8AC3E}">
        <p14:creationId xmlns:p14="http://schemas.microsoft.com/office/powerpoint/2010/main" val="809382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0B76B71-2060-4EF8-96D4-37CF3D11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6DC80AA-6A83-44DC-B252-4CB79C7A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User-selected crowd cost scenario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1DB041C-2C04-4FB4-B4C0-BF583BA9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051649-4611-43B1-8802-D1EF56D4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09</a:t>
            </a:r>
          </a:p>
        </p:txBody>
      </p:sp>
      <p:sp>
        <p:nvSpPr>
          <p:cNvPr id="5" name="screenshot-border-crowd">
            <a:extLst xmlns:a="http://schemas.openxmlformats.org/drawingml/2006/main">
              <a:ext uri="{FF2B5EF4-FFF2-40B4-BE49-F238E27FC236}">
                <a16:creationId xmlns:a16="http://schemas.microsoft.com/office/drawing/2014/main" id="{3AF180CF-468F-4AE1-8554-AB810B68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572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11EA4-F32F-4CE1-99C1-21824D0911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f630965bd4922"/>
          <a:stretch xmlns:a="http://schemas.openxmlformats.org/drawingml/2006/main"/>
        </p:blipFill>
        <p:spPr>
          <a:xfrm xmlns:a="http://schemas.openxmlformats.org/drawingml/2006/main">
            <a:off x="1520791" y="1514475"/>
            <a:ext cx="4902268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4E3949-13F6-4B4D-A233-B48930D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28775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HIGH CROWD SETTING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BDE7A6-1729-48E8-8ABF-44B6273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97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1.50×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D1D063-08AF-4609-B9C5-E345768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applied to modeled path cost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B2247F-709D-47ED-9E4C-0C2168E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67075"/>
            <a:ext cx="352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Physical route: 1,501.9 m</a:t>
            </a:r>
          </a:p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Modeled A* cost: 2,238.2 m-equivalent</a:t>
            </a:r>
          </a:p>
          <a:p xmlns:a="http://schemas.openxmlformats.org/drawingml/2006/main">
            <a:pPr algn="l">
              <a:defRPr sz="16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Estimated time: 26.6 min</a:t>
            </a:r>
          </a:p>
        </p:txBody>
      </p:sp>
      <p:sp>
        <p:nvSpPr>
          <p:cNvPr id="11" name="scenario-note">
            <a:extLst xmlns:a="http://schemas.openxmlformats.org/drawingml/2006/main">
              <a:ext uri="{FF2B5EF4-FFF2-40B4-BE49-F238E27FC236}">
                <a16:creationId xmlns:a16="http://schemas.microsoft.com/office/drawing/2014/main" id="{CFE8123D-DEA7-4365-B004-D44B145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91050"/>
            <a:ext cx="3543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746954D-5FB2-451E-AFE9-4CD9FDD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72025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31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This is a user-selected scenario multiplier, not live crowd sensing. Modeled cost can change while mapped physical distance stays the same.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9E1C8B-E690-447B-9B5C-137DB4CB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Screenshot: high crowd scenario  ·  cost multiplier 1.50×</a:t>
            </a:r>
          </a:p>
        </p:txBody>
      </p:sp>
    </p:spTree>
    <p:extLst>
      <p:ext uri="{BB962C8B-B14F-4D97-AF65-F5344CB8AC3E}">
        <p14:creationId xmlns:p14="http://schemas.microsoft.com/office/powerpoint/2010/main" val="979754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4BBA30-849D-481B-B74F-785EA2AE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8C248CB-FD57-44F8-B313-586E4866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Experimental results: Main Gate to A Block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6BD2D82-BB4B-475B-A369-89DE0761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558C2F3-2B6B-4C17-94B1-AC4E8BB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0625BE-CE70-453A-972E-6EFD79F2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Default scenario on the included campus_map.json. Search times are single-run measurements.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3C77D-2CC2-44EE-B1B3-EE3961C49DAE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2533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63341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9D7C4"/>
                          </a:solidFill>
                          <a:latin typeface="Arial"/>
                          <a:ea typeface="Arial"/>
                          <a:cs typeface="Arial"/>
                        </a:rPr>
                        <a:t>Algorithm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4754"/>
                      </a:solidFill>
                      <a:prstDash val="solid"/>
                    </a:lnL>
                    <a:lnR w="9525">
                      <a:solidFill>
                        <a:srgbClr val="314754"/>
                      </a:solidFill>
                      <a:prstDash val="solid"/>
                    </a:lnR>
                    <a:lnT w="9525">
                      <a:solidFill>
                        <a:srgbClr val="314754"/>
                      </a:solidFill>
                      <a:prstDash val="solid"/>
                    </a:lnT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A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9D7C4"/>
                          </a:solidFill>
                          <a:latin typeface="Arial"/>
                          <a:ea typeface="Arial"/>
                          <a:cs typeface="Arial"/>
                        </a:rPr>
                        <a:t>Physical distance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T w="9525">
                      <a:solidFill>
                        <a:srgbClr val="314754"/>
                      </a:solidFill>
                      <a:prstDash val="solid"/>
                    </a:lnT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A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9D7C4"/>
                          </a:solidFill>
                          <a:latin typeface="Arial"/>
                          <a:ea typeface="Arial"/>
                          <a:cs typeface="Arial"/>
                        </a:rPr>
                        <a:t>Nodes expanded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T w="9525">
                      <a:solidFill>
                        <a:srgbClr val="314754"/>
                      </a:solidFill>
                      <a:prstDash val="solid"/>
                    </a:lnT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A2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49D7C4"/>
                          </a:solidFill>
                          <a:latin typeface="Arial"/>
                          <a:ea typeface="Arial"/>
                          <a:cs typeface="Arial"/>
                        </a:rPr>
                        <a:t>Search time*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T w="9525">
                      <a:solidFill>
                        <a:srgbClr val="314754"/>
                      </a:solidFill>
                      <a:prstDash val="solid"/>
                    </a:lnT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A2B38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A*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4754"/>
                      </a:solidFill>
                      <a:prstDash val="solid"/>
                    </a:lnL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73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1,501.9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73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413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73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1.636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  <a:solidFill>
                      <a:srgbClr val="173D3B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Dijkstra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4754"/>
                      </a:solidFill>
                      <a:prstDash val="solid"/>
                    </a:lnL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1,501.9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1,004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1.904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BFS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4754"/>
                      </a:solidFill>
                      <a:prstDash val="solid"/>
                    </a:lnL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1,570.5 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958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F4F1E8"/>
                          </a:solidFill>
                          <a:latin typeface="Arial"/>
                          <a:ea typeface="Arial"/>
                          <a:cs typeface="Arial"/>
                        </a:rPr>
                        <a:t>0.784 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4754"/>
                      </a:solidFill>
                      <a:prstDash val="solid"/>
                    </a:lnR>
                    <a:lnB w="9525">
                      <a:solidFill>
                        <a:srgbClr val="31475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A19BB1-A26F-4102-8389-48F680B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WHAT THE COMPARISON SHOWS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475B5B-2B2B-47E2-9CAF-5218AA3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matches Dijkstra’s minimum distance and expands 59% fewer nodes (413 vs 1,004).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B4C65CB-8524-4C3F-A4E7-91863E9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25"/>
          </a:bodyPr>
          <a:lstStyle xmlns:a="http://schemas.openxmlformats.org/drawingml/2006/main">
            <a:def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BFS returns a route 68.6 m longer because it minimizes segments rather than weighted distance.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AAF08C-7602-48D8-B4D5-39234F4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* Search time varies with machine load. Route cost and expansions are more useful comparison measures.</a:t>
            </a:r>
          </a:p>
        </p:txBody>
      </p:sp>
    </p:spTree>
    <p:extLst>
      <p:ext uri="{BB962C8B-B14F-4D97-AF65-F5344CB8AC3E}">
        <p14:creationId xmlns:p14="http://schemas.microsoft.com/office/powerpoint/2010/main" val="659461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CC8FC6-2A57-4A8E-8126-14737C9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F2489D8-EE4A-4B29-81B3-6CDB03D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Validation, assumptions and limitations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8574445-3105-48F3-9DB0-ACE4E600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ADD16B-A1C9-46D7-8878-8728F7A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9FFCB8-4FC8-4BBB-BD08-83CB9400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AUTOMATED TEST COVERAGE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819DAC-5E31-48D8-AF0D-FE3C5EF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Seven included tests cover A* vs Dijkstra, BFS hop behavior, start = goal, unreachable routes, unknown places, unique hostel labels, and heuristic safety.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DDFAD8-062D-4A99-B1C5-5434D7DE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INPUT VALIDATION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383251-9D28-44CA-ACCB-1BF640F1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Graph loading checks duplicate IDs, finite coordinates, valid edge endpoints, positive distances and crowd factors ≥ 1.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DA47BB-C566-4923-A506-27937E51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14475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MAP AND TIME ASSUMPTIONS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995582-2C2F-477C-895F-B651853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OpenStreetMap is community-maintained. Landmarks may not have mapped entrances, so the app estimates access offsets to nearby paths.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98FCA1D-0280-419A-AB7E-DDD07580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Edges are treated as two-way. Mapped steps and access roads are included. Walking time assumes a constant 1.4 m/s.</a:t>
            </a:r>
          </a:p>
        </p:txBody>
      </p:sp>
      <p:sp>
        <p:nvSpPr>
          <p:cNvPr id="12" name="not-modeled">
            <a:extLst xmlns:a="http://schemas.openxmlformats.org/drawingml/2006/main">
              <a:ext uri="{FF2B5EF4-FFF2-40B4-BE49-F238E27FC236}">
                <a16:creationId xmlns:a16="http://schemas.microsoft.com/office/drawing/2014/main" id="{7BF1107B-F793-4CEC-B581-5C3609B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B38"/>
          </a:solidFill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8DD1D0-F9EC-4B0C-B4BC-5BAE0E1D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619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NOT MODELED IN CURRENT DATA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8D6404-9F8B-46CD-8A09-AD6FD4FD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Live crowd sensing, closures, step-free access, terrain difficulty and personalized walking speed. The high-crowd setting is a scenario input.</a:t>
            </a:r>
          </a:p>
        </p:txBody>
      </p:sp>
    </p:spTree>
    <p:extLst>
      <p:ext uri="{BB962C8B-B14F-4D97-AF65-F5344CB8AC3E}">
        <p14:creationId xmlns:p14="http://schemas.microsoft.com/office/powerpoint/2010/main" val="937869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CC2CBBE-3BD7-4916-B470-A3E75C58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VIT VELLORE  /  ARTIFICIAL INTELLIGENCE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F302D29-284F-4452-81D6-C6F41D0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Conclusion and individual contributions</a:t>
            </a:r>
          </a:p>
        </p:txBody>
      </p:sp>
      <p:sp>
        <p:nvSpPr>
          <p:cNvPr id="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4040972-56B3-4F17-A03E-FDBB79A6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B0ECD11-5D50-4042-A5EA-791BE4D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BE"/>
                </a:solidFill>
                <a:latin typeface="Arial"/>
                <a:ea typeface="Arial"/>
                <a:cs typeface="Arial"/>
              </a:rPr>
              <a:t>CAMPUS NAVIGATION ASSISTANT  /  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090D29A-C3F7-45EF-AC21-2D138274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E384AD-7EF4-4C50-BD47-5C78A17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8"/>
          </a:bodyPr>
          <a:lstStyle xmlns:a="http://schemas.openxmlformats.org/drawingml/2006/main">
            <a:def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A* found the same minimum-distance route as Dijkstra while expanding fewer nodes.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306E21-721C-4105-8341-038F3620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B8B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8BE"/>
                </a:solidFill>
                <a:latin typeface="Arial"/>
                <a:ea typeface="Arial"/>
                <a:cs typeface="Arial"/>
              </a:rPr>
              <a:t>The project connects a validated heuristic search core to a real campus walking graph, a working CLI and an interactive browser demonstration.</a:t>
            </a:r>
          </a:p>
        </p:txBody>
      </p:sp>
      <p:sp>
        <p:nvSpPr>
          <p:cNvPr id="8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A171B070-216D-463D-89AA-7E286B49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105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8B320D0-A982-4A4B-9682-35B6C6B1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D41C3F3-8883-41DC-95D4-69A74A1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Rohit Arya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330A79-D179-4C40-8A68-6CB3F745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Campus graph, weighted edges and Dijkstra/BFS baselines.</a:t>
            </a:r>
          </a:p>
        </p:txBody>
      </p:sp>
      <p:sp>
        <p:nvSpPr>
          <p:cNvPr id="12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4AF1B131-F225-47DB-8DB7-B167CC2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171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49CFF9-389B-4C6D-A4CD-4620547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Nayan Gattani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C9DC251-798D-4403-A620-BF50C1D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A* search, Euclidean heuristic and validation logic.</a:t>
            </a:r>
          </a:p>
        </p:txBody>
      </p:sp>
      <p:sp>
        <p:nvSpPr>
          <p:cNvPr id="15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85CD3B1F-165A-413A-AECF-06FFA44E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676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3825F07-CE09-463F-A553-86F4DE3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Aditya Kumar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D8D108-C0A2-4003-B2A1-B2C6A754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Local web service, route API and browser result flow.</a:t>
            </a:r>
          </a:p>
        </p:txBody>
      </p:sp>
      <p:sp>
        <p:nvSpPr>
          <p:cNvPr id="18" name="editable-diagram-line">
            <a:extLst xmlns:a="http://schemas.openxmlformats.org/drawingml/2006/main">
              <a:ext uri="{FF2B5EF4-FFF2-40B4-BE49-F238E27FC236}">
                <a16:creationId xmlns:a16="http://schemas.microsoft.com/office/drawing/2014/main" id="{81EF3F7A-677F-4C56-91CB-038FF198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518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75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1FE8772-EC13-4931-BCEC-AAC0AC4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49D7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9D7C4"/>
                </a:solidFill>
                <a:latin typeface="Arial"/>
                <a:ea typeface="Arial"/>
                <a:cs typeface="Arial"/>
              </a:rPr>
              <a:t>Ashish Kumar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80824F0-FE46-4B78-8D0D-65F3AACB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Testing, result comparison, documentation and demo preparation.</a:t>
            </a:r>
          </a:p>
        </p:txBody>
      </p:sp>
    </p:spTree>
    <p:extLst>
      <p:ext uri="{BB962C8B-B14F-4D97-AF65-F5344CB8AC3E}">
        <p14:creationId xmlns:p14="http://schemas.microsoft.com/office/powerpoint/2010/main" val="1777509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2026-10-29T12:31:01.4490000Z</dcterms:created>
  <dcterms:modified xsi:type="dcterms:W3CDTF">2026-10-29T12:31:01.4500000Z</dcterms:modified>
</coreProperties>
</file>