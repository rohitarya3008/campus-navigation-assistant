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6a1f44a984360" /><Relationship Type="http://schemas.openxmlformats.org/officeDocument/2006/relationships/extended-properties" Target="/docProps/app.xml" Id="Rc6ea6a3eab224da2" /><Relationship Type="http://schemas.openxmlformats.org/officeDocument/2006/relationships/officeDocument" Target="/ppt/presentation.xml" Id="Rfad05f8f45a3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f2c036cfa4a58"/>
  </p:sldMasterIdLst>
  <p:notesMasterIdLst>
    <p:notesMasterId xmlns:r="http://schemas.openxmlformats.org/officeDocument/2006/relationships" r:id="Rf63f2bb8cece4e82"/>
  </p:notesMasterIdLst>
  <p:sldIdLst>
    <p:sldId xmlns:r="http://schemas.openxmlformats.org/officeDocument/2006/relationships" id="256" r:id="R3a4d6425cc8546fa"/>
    <p:sldId xmlns:r="http://schemas.openxmlformats.org/officeDocument/2006/relationships" id="257" r:id="R4f448398a3794d29"/>
    <p:sldId xmlns:r="http://schemas.openxmlformats.org/officeDocument/2006/relationships" id="258" r:id="R93fee37894474568"/>
    <p:sldId xmlns:r="http://schemas.openxmlformats.org/officeDocument/2006/relationships" id="259" r:id="R0606c117e5ec4069"/>
    <p:sldId xmlns:r="http://schemas.openxmlformats.org/officeDocument/2006/relationships" id="260" r:id="R69ca52b4a72545a2"/>
    <p:sldId xmlns:r="http://schemas.openxmlformats.org/officeDocument/2006/relationships" id="261" r:id="Ref938796daa34fab"/>
    <p:sldId xmlns:r="http://schemas.openxmlformats.org/officeDocument/2006/relationships" id="262" r:id="R1358c7d3cd984efe"/>
    <p:sldId xmlns:r="http://schemas.openxmlformats.org/officeDocument/2006/relationships" id="263" r:id="Rd75c7bc2cdc14d5f"/>
    <p:sldId xmlns:r="http://schemas.openxmlformats.org/officeDocument/2006/relationships" id="264" r:id="Re8a14ebd5d5641cc"/>
    <p:sldId xmlns:r="http://schemas.openxmlformats.org/officeDocument/2006/relationships" id="265" r:id="Rbd1a84599b484334"/>
    <p:sldId xmlns:r="http://schemas.openxmlformats.org/officeDocument/2006/relationships" id="266" r:id="Rb51bccc725df42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4598a89e324bdf" /><Relationship Type="http://schemas.openxmlformats.org/officeDocument/2006/relationships/slideMaster" Target="/ppt/slideMasters/slideMaster1.xml" Id="Ra70f2c036cfa4a58" /><Relationship Type="http://schemas.openxmlformats.org/officeDocument/2006/relationships/notesMaster" Target="/ppt/notesMasters/notesMaster1.xml" Id="Rf63f2bb8cece4e82" /><Relationship Type="http://schemas.openxmlformats.org/officeDocument/2006/relationships/presProps" Target="/ppt/presProps.xml" Id="R62c8a7af228d41c5" /><Relationship Type="http://schemas.openxmlformats.org/officeDocument/2006/relationships/tableStyles" Target="/ppt/tableStyles.xml" Id="Rc8638b9b07e24ed9" /><Relationship Type="http://schemas.openxmlformats.org/officeDocument/2006/relationships/slide" Target="/ppt/slides/slide1.xml" Id="R3a4d6425cc8546fa" /><Relationship Type="http://schemas.openxmlformats.org/officeDocument/2006/relationships/slide" Target="/ppt/slides/slide2.xml" Id="R4f448398a3794d29" /><Relationship Type="http://schemas.openxmlformats.org/officeDocument/2006/relationships/slide" Target="/ppt/slides/slide3.xml" Id="R93fee37894474568" /><Relationship Type="http://schemas.openxmlformats.org/officeDocument/2006/relationships/slide" Target="/ppt/slides/slide4.xml" Id="R0606c117e5ec4069" /><Relationship Type="http://schemas.openxmlformats.org/officeDocument/2006/relationships/slide" Target="/ppt/slides/slide5.xml" Id="R69ca52b4a72545a2" /><Relationship Type="http://schemas.openxmlformats.org/officeDocument/2006/relationships/slide" Target="/ppt/slides/slide6.xml" Id="Ref938796daa34fab" /><Relationship Type="http://schemas.openxmlformats.org/officeDocument/2006/relationships/slide" Target="/ppt/slides/slide7.xml" Id="R1358c7d3cd984efe" /><Relationship Type="http://schemas.openxmlformats.org/officeDocument/2006/relationships/slide" Target="/ppt/slides/slide8.xml" Id="Rd75c7bc2cdc14d5f" /><Relationship Type="http://schemas.openxmlformats.org/officeDocument/2006/relationships/slide" Target="/ppt/slides/slide9.xml" Id="Re8a14ebd5d5641cc" /><Relationship Type="http://schemas.openxmlformats.org/officeDocument/2006/relationships/slide" Target="/ppt/slides/slide10.xml" Id="Rbd1a84599b484334" /><Relationship Type="http://schemas.openxmlformats.org/officeDocument/2006/relationships/slide" Target="/ppt/slides/slide11.xml" Id="Rb51bccc725df42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19845be255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1cc1123f34558" /><Relationship Type="http://schemas.openxmlformats.org/officeDocument/2006/relationships/notesMaster" Target="/ppt/notesMasters/notesMaster1.xml" Id="R78c3cdb6ee744a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03ab788cb4dde" /><Relationship Type="http://schemas.openxmlformats.org/officeDocument/2006/relationships/notesMaster" Target="/ppt/notesMasters/notesMaster1.xml" Id="R5ee4e9a6cbaa47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3fb7444d041f7" /><Relationship Type="http://schemas.openxmlformats.org/officeDocument/2006/relationships/notesMaster" Target="/ppt/notesMasters/notesMaster1.xml" Id="Re3c86933549549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9cd3157a24096" /><Relationship Type="http://schemas.openxmlformats.org/officeDocument/2006/relationships/notesMaster" Target="/ppt/notesMasters/notesMaster1.xml" Id="Reb8d6caa13234b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e7239137946d4" /><Relationship Type="http://schemas.openxmlformats.org/officeDocument/2006/relationships/notesMaster" Target="/ppt/notesMasters/notesMaster1.xml" Id="R2ebbb92f9b8643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cdafa7ab14930" /><Relationship Type="http://schemas.openxmlformats.org/officeDocument/2006/relationships/notesMaster" Target="/ppt/notesMasters/notesMaster1.xml" Id="R6e488ddc14424b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7a2e6c6aa54de3" /><Relationship Type="http://schemas.openxmlformats.org/officeDocument/2006/relationships/notesMaster" Target="/ppt/notesMasters/notesMaster1.xml" Id="R0ceed11b2ced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677f4733c4eb5" /><Relationship Type="http://schemas.openxmlformats.org/officeDocument/2006/relationships/notesMaster" Target="/ppt/notesMasters/notesMaster1.xml" Id="Rea0c903c4ca349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07f52c351e48ef" /><Relationship Type="http://schemas.openxmlformats.org/officeDocument/2006/relationships/notesMaster" Target="/ppt/notesMasters/notesMaster1.xml" Id="R090efbb7cc1c44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f4d5f60fab4f9f" /><Relationship Type="http://schemas.openxmlformats.org/officeDocument/2006/relationships/notesMaster" Target="/ppt/notesMasters/notesMaster1.xml" Id="Ra137df166c4c45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8531a1a2a94118" /><Relationship Type="http://schemas.openxmlformats.org/officeDocument/2006/relationships/notesMaster" Target="/ppt/notesMasters/notesMaster1.xml" Id="R209445ebfc874c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(2).pdf. The cover uses the proposal title and team names; the implementation framing comes from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web_app.py; campus_nav.py; index.html;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campus_map.json; build_osm_map.py; README.md. Counts were read from the included JSON map and route CLI output. The README’s approximate count is slightly different because OSM extracts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build_osm_map.py; campus_map.json; campus_nav.py. The diagram is illustrative. Building entrances and connectors are approximate, not surveyed.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index.html; web_app.py;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campus_map.json. Values captured by running the documented default command during presentation preparation. Times are a single run and should not be treated as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campus_nav.py; build_osm_map.py; test_campus_nav.py; campus_map.json. The test count describes test methods present in the project. This presentation preparation did not execute the full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c23a806454e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6225c65594e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e1900a31440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9fe64c88841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bf8dfe4ea47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182918e9c4c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66BCB2-6B7F-457F-8D40-FC08D6B4D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5C7008-5C73-423B-BFD3-EDED65B5BB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B2577D-5708-434A-AF3E-B160994F7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AEE92C-EF33-4AB1-9329-6CB61067F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54A868-F48A-4CAD-AA5A-D8C0E535B3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4470D5-A07E-4D37-BACC-D803D629E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3BF1BC-CDDD-4944-B3A5-AAF9A3DD08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1D808D-66DE-4B74-ADBD-FAF50EC4B3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8D169C-5653-4D24-932C-7771E4FC8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C5C54D-C3BC-4C64-B952-BF8EBA8E7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24a9faec643ed" /><Relationship Type="http://schemas.openxmlformats.org/officeDocument/2006/relationships/slideLayout" Target="/ppt/slideLayouts/slideLayout1.xml" Id="R553ae90c98fb4749" /><Relationship Type="http://schemas.openxmlformats.org/officeDocument/2006/relationships/slideLayout" Target="/ppt/slideLayouts/slideLayout2.xml" Id="Ra898459daf2347ee" /><Relationship Type="http://schemas.openxmlformats.org/officeDocument/2006/relationships/slideLayout" Target="/ppt/slideLayouts/slideLayout3.xml" Id="R6086fd3cfa894cad" /><Relationship Type="http://schemas.openxmlformats.org/officeDocument/2006/relationships/slideLayout" Target="/ppt/slideLayouts/slideLayout4.xml" Id="Rb0bba910ad7647b4" /><Relationship Type="http://schemas.openxmlformats.org/officeDocument/2006/relationships/slideLayout" Target="/ppt/slideLayouts/slideLayout5.xml" Id="R7a18974ba8664db3" /><Relationship Type="http://schemas.openxmlformats.org/officeDocument/2006/relationships/slideLayout" Target="/ppt/slideLayouts/slideLayout6.xml" Id="Rb951ee384de743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ae90c98fb4749"/>
    <p:sldLayoutId xmlns:r="http://schemas.openxmlformats.org/officeDocument/2006/relationships" id="2147483650" r:id="Ra898459daf2347ee"/>
    <p:sldLayoutId xmlns:r="http://schemas.openxmlformats.org/officeDocument/2006/relationships" id="2147483651" r:id="R6086fd3cfa894cad"/>
    <p:sldLayoutId xmlns:r="http://schemas.openxmlformats.org/officeDocument/2006/relationships" id="2147483652" r:id="Rb0bba910ad7647b4"/>
    <p:sldLayoutId xmlns:r="http://schemas.openxmlformats.org/officeDocument/2006/relationships" id="2147483653" r:id="R7a18974ba8664db3"/>
    <p:sldLayoutId xmlns:r="http://schemas.openxmlformats.org/officeDocument/2006/relationships" id="2147483654" r:id="Rb951ee384de743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a4c9ef3024aef" /><Relationship Type="http://schemas.openxmlformats.org/officeDocument/2006/relationships/notesSlide" Target="/ppt/notesSlides/notesSlide1.xml" Id="R3448028a10b9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cd1a8e9494889" /><Relationship Type="http://schemas.openxmlformats.org/officeDocument/2006/relationships/notesSlide" Target="/ppt/notesSlides/notesSlide2.xml" Id="R4f80df4fc3fe4b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01bf7b15f4fe1" /><Relationship Type="http://schemas.openxmlformats.org/officeDocument/2006/relationships/notesSlide" Target="/ppt/notesSlides/notesSlide3.xml" Id="R5a97a85c65e249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5cd703ca84932" /><Relationship Type="http://schemas.openxmlformats.org/officeDocument/2006/relationships/notesSlide" Target="/ppt/notesSlides/notesSlide4.xml" Id="R518f28b5c7af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0c89949a24c4f" /><Relationship Type="http://schemas.openxmlformats.org/officeDocument/2006/relationships/notesSlide" Target="/ppt/notesSlides/notesSlide5.xml" Id="R058e703b064244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b37756eca47cd" /><Relationship Type="http://schemas.openxmlformats.org/officeDocument/2006/relationships/notesSlide" Target="/ppt/notesSlides/notesSlide6.xml" Id="Rff381147a6ee4f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b0e7f9fa44346" /><Relationship Type="http://schemas.openxmlformats.org/officeDocument/2006/relationships/notesSlide" Target="/ppt/notesSlides/notesSlide7.xml" Id="Reb38b49d3bf34d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2b5610e914afc" /><Relationship Type="http://schemas.openxmlformats.org/officeDocument/2006/relationships/notesSlide" Target="/ppt/notesSlides/notesSlide8.xml" Id="Rdc0bb76cf4ef48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4ee624fec4fa1" /><Relationship Type="http://schemas.openxmlformats.org/officeDocument/2006/relationships/notesSlide" Target="/ppt/notesSlides/notesSlide9.xml" Id="R503707d7eb1c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cf375abd14452" /><Relationship Type="http://schemas.openxmlformats.org/officeDocument/2006/relationships/notesSlide" Target="/ppt/notesSlides/notesSlide10.xml" Id="R48e3ed38b4ba41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f68b4b0164af7" /><Relationship Type="http://schemas.openxmlformats.org/officeDocument/2006/relationships/notesSlide" Target="/ppt/notesSlides/notesSlide11.xml" Id="Rfce41635166c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550A1A0-18FF-4D74-9747-47CB1BA6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12BC965-54EF-4C84-927A-69B3851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733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PROJECT PRESENTATION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0F90D72-A570-4576-895D-9DA76259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06B956-656C-428F-A8A8-DBB4929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working pedestrian route planner for VIT Vellore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D2A6774-0C14-40EA-9043-95A27B0E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BA16DC-9BE2-47B6-8A20-3DCBFE3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2C42A8-FEFB-4963-A39D-03EEF797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 ·   Nayan Gattani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E0A76F-A3EA-4AFD-B7C0-3ACAA728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   ·   Ashish Kumar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BD89F9-1C29-4C09-A74E-C9531A5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Review 2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661521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2DB8D8E-7711-4B16-945C-56DE24B4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2E682D-474B-46A6-9C20-8A4F0616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What the project now includes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817B2DD-DC22-4A96-9B01-870DBA1A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1B3D87-D2F3-4DB3-8D55-48F6C02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04A228-2322-4508-AE2C-473F801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 local Python search engine, a real campus walking graph and a browser map work together.</a:t>
            </a:r>
          </a:p>
        </p:txBody>
      </p:sp>
      <p:sp>
        <p:nvSpPr>
          <p:cNvPr id="6" name="arch-0">
            <a:extLst xmlns:a="http://schemas.openxmlformats.org/drawingml/2006/main">
              <a:ext uri="{FF2B5EF4-FFF2-40B4-BE49-F238E27FC236}">
                <a16:creationId xmlns:a16="http://schemas.microsoft.com/office/drawing/2014/main" id="{B0092975-0EBA-44C6-83BE-3BFD752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arch-accent-0">
            <a:extLst xmlns:a="http://schemas.openxmlformats.org/drawingml/2006/main">
              <a:ext uri="{FF2B5EF4-FFF2-40B4-BE49-F238E27FC236}">
                <a16:creationId xmlns:a16="http://schemas.microsoft.com/office/drawing/2014/main" id="{DA05083E-D65C-4655-9041-4CE27226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F105C9-8DE7-44B3-9246-7D5966B4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 interface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44DDD6-3EAC-4F11-8BC2-F01F6C24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HTML, CSS, JavaScript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Leaflet map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Place selectors + comparison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DF40806-A008-4502-A71A-58B195E4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35052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1" name="arch-1">
            <a:extLst xmlns:a="http://schemas.openxmlformats.org/drawingml/2006/main">
              <a:ext uri="{FF2B5EF4-FFF2-40B4-BE49-F238E27FC236}">
                <a16:creationId xmlns:a16="http://schemas.microsoft.com/office/drawing/2014/main" id="{D02E9C72-C470-420B-9E46-027A13D9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2381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arch-accent-1">
            <a:extLst xmlns:a="http://schemas.openxmlformats.org/drawingml/2006/main">
              <a:ext uri="{FF2B5EF4-FFF2-40B4-BE49-F238E27FC236}">
                <a16:creationId xmlns:a16="http://schemas.microsoft.com/office/drawing/2014/main" id="{75054FDE-A1F9-418F-B538-0EA86685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5BC691-7DAD-453A-8411-725D15C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7652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web service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2CB73CC-5CDA-486D-A60B-5360576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71825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standard library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/api/map and /api/route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Runs on localhost:8000</a:t>
            </a:r>
          </a:p>
        </p:txBody>
      </p:sp>
      <p:sp>
        <p:nvSpPr>
          <p:cNvPr id="15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378A537-22CD-40AC-8A6B-72A34AD9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35052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6" name="arch-2">
            <a:extLst xmlns:a="http://schemas.openxmlformats.org/drawingml/2006/main">
              <a:ext uri="{FF2B5EF4-FFF2-40B4-BE49-F238E27FC236}">
                <a16:creationId xmlns:a16="http://schemas.microsoft.com/office/drawing/2014/main" id="{E1B39D53-9808-4411-B126-F4BBB3A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2381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arch-accent-2">
            <a:extLst xmlns:a="http://schemas.openxmlformats.org/drawingml/2006/main">
              <a:ext uri="{FF2B5EF4-FFF2-40B4-BE49-F238E27FC236}">
                <a16:creationId xmlns:a16="http://schemas.microsoft.com/office/drawing/2014/main" id="{26115D31-B4C5-45DC-9F8E-7D8EF6BE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A05F326-12CA-446F-B236-EEBE3D94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76525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Search core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3FB226-5A95-49BD-A524-610B7A50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71825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Breadth-first search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Shared weighted graph</a:t>
            </a:r>
          </a:p>
        </p:txBody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CEE82ABD-EBF8-4380-9DF4-FFF40E1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35052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21" name="arch-3">
            <a:extLst xmlns:a="http://schemas.openxmlformats.org/drawingml/2006/main">
              <a:ext uri="{FF2B5EF4-FFF2-40B4-BE49-F238E27FC236}">
                <a16:creationId xmlns:a16="http://schemas.microsoft.com/office/drawing/2014/main" id="{A930D19D-622F-4554-9F87-45516B05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1276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2" name="arch-accent-3">
            <a:extLst xmlns:a="http://schemas.openxmlformats.org/drawingml/2006/main">
              <a:ext uri="{FF2B5EF4-FFF2-40B4-BE49-F238E27FC236}">
                <a16:creationId xmlns:a16="http://schemas.microsoft.com/office/drawing/2014/main" id="{C1E9751C-3CC3-4256-8A8D-EC56B10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9E09CFF-99CF-403C-9A01-41A2173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76525"/>
            <a:ext cx="942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Map data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43F8CF9-3FB6-4C3D-9825-D92A6F45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71825"/>
            <a:ext cx="942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JSON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852938B-CDEE-4620-A71F-4FF1622F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browser requests route results from the same Python functions used by the command-line demo.</a:t>
            </a:r>
          </a:p>
        </p:txBody>
      </p:sp>
    </p:spTree>
    <p:extLst>
      <p:ext uri="{BB962C8B-B14F-4D97-AF65-F5344CB8AC3E}">
        <p14:creationId xmlns:p14="http://schemas.microsoft.com/office/powerpoint/2010/main" val="1051564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21958A8-7CD1-4047-A896-9EB025EF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2CBA49A-82D8-4E41-BA61-C3F31672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VIT Vellore walking network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AB956B1-6E86-469B-B0F7-EF9A2FCA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9B31FC-E89B-44BD-9707-01701B0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9B99B8-4611-4B59-AA58-8C76AAF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CURRENT INCLUDED MAP BUNDLE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5E42AA-650E-433C-AA6D-9FA683C7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1,965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3BD766-1EE6-4F84-857B-850678B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B400B2-F428-4790-B25D-9D99D1C1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2,131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DEAC89-6A25-4149-BD7E-A61D9FB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edges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E41141-E923-45D3-8452-4522562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7C95E63-E7D0-49DD-9117-6FC1C4CD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places</a:t>
            </a:r>
          </a:p>
        </p:txBody>
      </p:sp>
      <p:sp>
        <p:nvSpPr>
          <p:cNvPr id="12" name="data-divider">
            <a:extLst xmlns:a="http://schemas.openxmlformats.org/drawingml/2006/main">
              <a:ext uri="{FF2B5EF4-FFF2-40B4-BE49-F238E27FC236}">
                <a16:creationId xmlns:a16="http://schemas.microsoft.com/office/drawing/2014/main" id="{68CF8AEF-DF84-4437-B04A-A5823844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0760D5-7C98-4ED9-BEC5-D18A2995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PLACE CATEGORIES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8DB577-7E3C-4508-B16B-40D8A361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E88F06-ACCC-42D5-B784-0EE55C8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places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FDB81B-594B-42B7-8AD4-D8541E35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49B7972-C33C-4CD8-A3DC-50FDDB3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Hostels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7A63C26-4663-40AA-93B7-2426FD1D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10EF1F-798D-4C3E-A862-24828CE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A–H blocks, MGB, EV Periyar Library, Anna Auditorium, Food Court, 3A Gate, Main Gate and mapped hostels.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366899B-3001-46F4-84F0-9FED27B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OpenStreetMap contributors · extract retrieved 21 Oct 2026 · ODbL</a:t>
            </a:r>
          </a:p>
        </p:txBody>
      </p:sp>
    </p:spTree>
    <p:extLst>
      <p:ext uri="{BB962C8B-B14F-4D97-AF65-F5344CB8AC3E}">
        <p14:creationId xmlns:p14="http://schemas.microsoft.com/office/powerpoint/2010/main" val="90913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BA51C00-5651-4E43-AFC5-2A5C76C3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37234C0-0D5B-4CAA-B09E-6CA7F07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mapped places become route endpoints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C6EC8D1-C18A-485F-A4AE-770095AF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84A189-20FA-4D32-A784-159B9996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7EF044-AE41-4E7E-8A2B-C3F07E86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paths form a connected graph. Named campus features snap to the nearest mapped walkway node.</a:t>
            </a:r>
          </a:p>
        </p:txBody>
      </p:sp>
      <p:sp>
        <p:nvSpPr>
          <p:cNvPr id="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769121C-F131-4A49-9698-40A9B78F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7300" y="2762250"/>
            <a:ext cx="201930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8F159917-1AF7-4872-B830-64F581D4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6600" y="2762250"/>
            <a:ext cx="19812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B9FB30A1-AA97-4D18-8F65-DDF22FB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57800" y="2667000"/>
            <a:ext cx="201930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1CEF590A-E21C-45EB-9718-5B3CD784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2667000"/>
            <a:ext cx="35337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A866CBC-F5B7-4CC0-91CF-425E755F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7800" y="3648075"/>
            <a:ext cx="38862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92CB364F-5764-400D-9EBA-93C443DC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44000" y="2743200"/>
            <a:ext cx="166687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F2219EA4-87C1-4901-8672-417484C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76600" y="2667000"/>
            <a:ext cx="40005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map-node-gate">
            <a:extLst xmlns:a="http://schemas.openxmlformats.org/drawingml/2006/main">
              <a:ext uri="{FF2B5EF4-FFF2-40B4-BE49-F238E27FC236}">
                <a16:creationId xmlns:a16="http://schemas.microsoft.com/office/drawing/2014/main" id="{D2F51D15-5332-4D6A-846D-F90BF3D3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4" name="map-node-junction">
            <a:extLst xmlns:a="http://schemas.openxmlformats.org/drawingml/2006/main">
              <a:ext uri="{FF2B5EF4-FFF2-40B4-BE49-F238E27FC236}">
                <a16:creationId xmlns:a16="http://schemas.microsoft.com/office/drawing/2014/main" id="{C9AEC560-E513-4B05-8F67-87A0FF38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00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5" name="map-node-library">
            <a:extLst xmlns:a="http://schemas.openxmlformats.org/drawingml/2006/main">
              <a:ext uri="{FF2B5EF4-FFF2-40B4-BE49-F238E27FC236}">
                <a16:creationId xmlns:a16="http://schemas.microsoft.com/office/drawing/2014/main" id="{177962DA-A3D3-44BD-817E-686B3DB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6" name="map-node-block">
            <a:extLst xmlns:a="http://schemas.openxmlformats.org/drawingml/2006/main">
              <a:ext uri="{FF2B5EF4-FFF2-40B4-BE49-F238E27FC236}">
                <a16:creationId xmlns:a16="http://schemas.microsoft.com/office/drawing/2014/main" id="{A1AF77C5-D4F3-44F6-B1C2-357F468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7" name="map-node-food">
            <a:extLst xmlns:a="http://schemas.openxmlformats.org/drawingml/2006/main">
              <a:ext uri="{FF2B5EF4-FFF2-40B4-BE49-F238E27FC236}">
                <a16:creationId xmlns:a16="http://schemas.microsoft.com/office/drawing/2014/main" id="{2BCC2703-D2C5-4218-9EE0-0EF10DB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67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8" name="map-node-goal">
            <a:extLst xmlns:a="http://schemas.openxmlformats.org/drawingml/2006/main">
              <a:ext uri="{FF2B5EF4-FFF2-40B4-BE49-F238E27FC236}">
                <a16:creationId xmlns:a16="http://schemas.microsoft.com/office/drawing/2014/main" id="{261F817B-0DA5-47C7-8475-862AF37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81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9" name="feature-dot">
            <a:extLst xmlns:a="http://schemas.openxmlformats.org/drawingml/2006/main">
              <a:ext uri="{FF2B5EF4-FFF2-40B4-BE49-F238E27FC236}">
                <a16:creationId xmlns:a16="http://schemas.microsoft.com/office/drawing/2014/main" id="{3725F03A-4D53-4999-9CA5-A10E1CF2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E351786-C8E6-4CD3-9516-1FF93B80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7275" y="3676650"/>
            <a:ext cx="2000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689A03-AD6D-444A-BC25-4DE25CFC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434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</a:t>
            </a:r>
          </a:p>
        </p:txBody>
      </p:sp>
      <p:sp>
        <p:nvSpPr>
          <p:cNvPr id="22" name="walkway-dot">
            <a:extLst xmlns:a="http://schemas.openxmlformats.org/drawingml/2006/main">
              <a:ext uri="{FF2B5EF4-FFF2-40B4-BE49-F238E27FC236}">
                <a16:creationId xmlns:a16="http://schemas.microsoft.com/office/drawing/2014/main" id="{5FD48D38-CAA3-4733-9546-9BDE2073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9525">
            <a:solidFill>
              <a:srgbClr val="49D7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25C9CF4-B537-4300-9844-8748C4AF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C103A7E-944E-4A3E-962B-2F1804EA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Route totals include the straight-line endpoint snap offsets as approximate access connectors.</a:t>
            </a:r>
          </a:p>
        </p:txBody>
      </p:sp>
    </p:spTree>
    <p:extLst>
      <p:ext uri="{BB962C8B-B14F-4D97-AF65-F5344CB8AC3E}">
        <p14:creationId xmlns:p14="http://schemas.microsoft.com/office/powerpoint/2010/main" val="2085998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3F5E1C-8BDA-4646-BDA5-5A99C272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9881291-31A8-4BC3-9899-3007430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search core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76EDE30-F687-43CF-8CBE-879D857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72849C-2125-463B-AEF9-F2918052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280EC6F-96E8-45E5-B812-C80C5A9F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86B43A-2A2A-439C-88B0-9C91E0F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B08549-4712-4581-9805-48BF772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Known weighted route cost from the starting point.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146536-58B5-4E3D-B1B6-19B5097E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7B7007-EEAA-48FB-B575-B024A06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Straight-line Euclidean estimate to the destination.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3A3996-161C-4373-8279-85F7C38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Parent map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222F3B-811D-4877-A24E-F579F835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Stores the best predecessor so the selected path can be reconstructed.</a:t>
            </a:r>
          </a:p>
        </p:txBody>
      </p:sp>
      <p:sp>
        <p:nvSpPr>
          <p:cNvPr id="12" name="heuristic-note">
            <a:extLst xmlns:a="http://schemas.openxmlformats.org/drawingml/2006/main">
              <a:ext uri="{FF2B5EF4-FFF2-40B4-BE49-F238E27FC236}">
                <a16:creationId xmlns:a16="http://schemas.microsoft.com/office/drawing/2014/main" id="{F901C1A6-5317-41A4-A09C-165CA252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41719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C38054-7C4E-4ED9-B2C6-ED2384B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HEURISTIC SAFETY CHECK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FE8B986-5B45-4FC1-B930-25773AE7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Every loaded edge must be at least as long as the straight-line distance between its endpoints.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C5D1D6E-05C5-42F2-867A-75FE6A9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3852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With non-negative distances, this keeps the Euclidean heuristic admissible and consistent for the loaded graph.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DF7EA9-B3C7-4E27-BA4F-0B6D963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Invalid edges are rejected while the map loads.</a:t>
            </a:r>
          </a:p>
        </p:txBody>
      </p:sp>
    </p:spTree>
    <p:extLst>
      <p:ext uri="{BB962C8B-B14F-4D97-AF65-F5344CB8AC3E}">
        <p14:creationId xmlns:p14="http://schemas.microsoft.com/office/powerpoint/2010/main" val="200707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76B048-EF70-4D19-9868-0C280E54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8383013-5E5C-4A4A-AF20-4F6D95D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Three search methods, three different behaviors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3F23705-22AF-4B86-9872-FB881F73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D0D132-B8D4-404D-9073-77703C83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06</a:t>
            </a:r>
          </a:p>
        </p:txBody>
      </p:sp>
      <p:sp>
        <p:nvSpPr>
          <p:cNvPr id="5" name="algo-marker-0">
            <a:extLst xmlns:a="http://schemas.openxmlformats.org/drawingml/2006/main">
              <a:ext uri="{FF2B5EF4-FFF2-40B4-BE49-F238E27FC236}">
                <a16:creationId xmlns:a16="http://schemas.microsoft.com/office/drawing/2014/main" id="{CD4965DC-5453-4804-B9B2-D6790A9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6DBB09-28A7-40FC-8553-AEB99675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F8B0F79-994A-4F20-B7B4-684567E0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47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g(n) + h(n)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9C705C-40FB-4F00-859E-CB9C5850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383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minimum-cost route while using straight-line look-ahead.</a:t>
            </a:r>
          </a:p>
        </p:txBody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C7DB1A7E-E423-4CBB-B744-76C753C3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571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algo-marker-1">
            <a:extLst xmlns:a="http://schemas.openxmlformats.org/drawingml/2006/main">
              <a:ext uri="{FF2B5EF4-FFF2-40B4-BE49-F238E27FC236}">
                <a16:creationId xmlns:a16="http://schemas.microsoft.com/office/drawing/2014/main" id="{04C404A4-120C-4FE9-B336-5A70D12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96A0E0-2AAD-44C2-93FC-0B7D1629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DF9FE9-6AF3-4D18-9E29-2157C14D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BBC57C-134B-4FDC-A9D6-42FDC8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Minimum-cost reference on the same weighted graph.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D9176DF3-D58B-4869-BC9E-1D39BC9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771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algo-marker-2">
            <a:extLst xmlns:a="http://schemas.openxmlformats.org/drawingml/2006/main">
              <a:ext uri="{FF2B5EF4-FFF2-40B4-BE49-F238E27FC236}">
                <a16:creationId xmlns:a16="http://schemas.microsoft.com/office/drawing/2014/main" id="{CF732D32-15CF-439C-9643-D04C739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5307EAC-DE57-4548-A30A-9C9140F4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5F51DE3-D4E3-4FBD-B605-C38CE08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edge count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125E39F-419F-4A5F-8C02-E3A81FAC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route with the fewest graph segments. Segment distances do not affect its search.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0D9477-020D-4167-B895-E7ACEE7C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Dijkstra is A* with h(n) = 0. BFS may return a longer physical route when edge lengths vary.</a:t>
            </a:r>
          </a:p>
        </p:txBody>
      </p:sp>
    </p:spTree>
    <p:extLst>
      <p:ext uri="{BB962C8B-B14F-4D97-AF65-F5344CB8AC3E}">
        <p14:creationId xmlns:p14="http://schemas.microsoft.com/office/powerpoint/2010/main" val="445444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0DBB390-19FD-48E4-9F80-CC50DCB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589BF4-D391-4235-A1DE-369526B9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Interactive web app features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D609976-D5EB-4041-AB98-09FBE73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715988-3B00-4D28-9543-49A0E291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0BFE84-2ECC-4299-AC4A-CFD6FF83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ROUTE CONTROLS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CD9805-7E60-4E6C-9ADE-A0C1C5A7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start and destination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BC43F4-BFBC-4B09-8D04-E0385FF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Swap the two selections and calculate a new walking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A1F3D1-1031-4A3B-BB2C-DF3F4D60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 COMPARISON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351207-9AFF-411A-8F40-D4042ED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· Dijkstra · BFS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4884F8-28D2-4D62-B2F3-8EE73CA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Each option reports route cost and expanded nodes. Selecting an option redraws its path.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A812BB-EDAB-4116-BA50-CEECA176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954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MAP AND ROUTE DETAILS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F0C0228-F53F-4172-831A-01A86B9A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954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Leaflet map of VIT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99FB4E-E255-4F2B-AED1-27542CD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the walking network, selected path, start and destination markers, plus approximate building-access connectors.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5B76153-65AB-43B4-A31E-4D77F87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DB99187-203C-4E6A-9009-A297E940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Distance and time estimate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B911B5-7D24-4129-8449-797A5BB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the selected route metrics and the endpoint snap distances so users can see estimated access offsets.</a:t>
            </a:r>
          </a:p>
        </p:txBody>
      </p:sp>
      <p:sp>
        <p:nvSpPr>
          <p:cNvPr id="17" name="netbox">
            <a:extLst xmlns:a="http://schemas.openxmlformats.org/drawingml/2006/main">
              <a:ext uri="{FF2B5EF4-FFF2-40B4-BE49-F238E27FC236}">
                <a16:creationId xmlns:a16="http://schemas.microsoft.com/office/drawing/2014/main" id="{EC6A13FB-56D9-47BF-98C1-7A4A68E7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33A3C67-BD49-4378-88A9-169B472F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Browser: index.html + Leaflet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81245D8-B6BF-446C-8804-EE1820A0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Python API: /api/map  /api/route</a:t>
            </a:r>
          </a:p>
        </p:txBody>
      </p:sp>
    </p:spTree>
    <p:extLst>
      <p:ext uri="{BB962C8B-B14F-4D97-AF65-F5344CB8AC3E}">
        <p14:creationId xmlns:p14="http://schemas.microsoft.com/office/powerpoint/2010/main" val="966200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010463-A2D5-453E-9F72-4C5B17A6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FC401F-A7DE-466F-A1AE-F8E2DE2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Command-line demonstration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3DC5002-EEDE-448C-ACCD-B1AAA673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774879-3551-48A3-A717-92F926FC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7E9AB7-B3F5-491E-84B9-F7B35E2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DEFAULT DEMO</a:t>
            </a:r>
          </a:p>
        </p:txBody>
      </p:sp>
      <p:sp>
        <p:nvSpPr>
          <p:cNvPr id="6" name="cli-frame">
            <a:extLst xmlns:a="http://schemas.openxmlformats.org/drawingml/2006/main">
              <a:ext uri="{FF2B5EF4-FFF2-40B4-BE49-F238E27FC236}">
                <a16:creationId xmlns:a16="http://schemas.microsoft.com/office/drawing/2014/main" id="{F7BD650D-9AAC-49D9-88AA-C6459DC4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09C683-9A87-4387-B71F-D2510DB7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A6EA0A-7931-40E9-B48F-359332AD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CHANGE LOCATIONS</a:t>
            </a:r>
          </a:p>
        </p:txBody>
      </p:sp>
      <p:sp>
        <p:nvSpPr>
          <p:cNvPr id="9" name="cli-frame-2">
            <a:extLst xmlns:a="http://schemas.openxmlformats.org/drawingml/2006/main">
              <a:ext uri="{FF2B5EF4-FFF2-40B4-BE49-F238E27FC236}">
                <a16:creationId xmlns:a16="http://schemas.microsoft.com/office/drawing/2014/main" id="{210573B7-8952-4302-976F-C5DDE09E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7A5936-AB20-4C25-940B-02EA335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python campus_nav.py --start main_gate_uni_entrance --goal ev_periyar_library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797C69-EE7A-4661-91A8-9E964D42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CLI prints each algorithm’s route, physical distance, search cost, estimated walking time, expanded nodes and measured search time. Raw walkway-node IDs also work; --data accepts another JSON graph.</a:t>
            </a:r>
          </a:p>
        </p:txBody>
      </p:sp>
    </p:spTree>
    <p:extLst>
      <p:ext uri="{BB962C8B-B14F-4D97-AF65-F5344CB8AC3E}">
        <p14:creationId xmlns:p14="http://schemas.microsoft.com/office/powerpoint/2010/main" val="426835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E49DC2D-F421-40F4-BC43-A118A87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1F0970-6B70-4000-BDEB-24B49126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Default route results: Main Gate to A Block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6507C02-3A7F-4153-8E8D-8DEC04A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012166-6802-492E-A5F8-1EE0CE2D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344BBB-4670-493D-A0B5-507B199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 from the included campus_map.json on this machine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B5C32C-825D-4BD8-BEF5-5A2023D1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C4DEF64-7FE2-4AFA-A430-A73D85CB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28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135C50-FFA3-4852-A27B-80928EC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NODES EXPANDED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BD166F-1DB5-46F1-A14A-CADF789E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288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TIME*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078B363-B0BD-4DF2-A364-4A384DE8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295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01864D1-D337-43EA-8EC9-347824C2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754101-F27A-4C94-946E-7620CE31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143711-7200-4CB9-B0EB-DC0D053F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413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6F8AE7D-F8A6-4D15-9CF4-1680B70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1.523 ms</a:t>
            </a:r>
          </a:p>
        </p:txBody>
      </p:sp>
      <p:sp>
        <p:nvSpPr>
          <p:cNvPr id="15" name="distance-bar-0">
            <a:extLst xmlns:a="http://schemas.openxmlformats.org/drawingml/2006/main">
              <a:ext uri="{FF2B5EF4-FFF2-40B4-BE49-F238E27FC236}">
                <a16:creationId xmlns:a16="http://schemas.microsoft.com/office/drawing/2014/main" id="{BA86752D-7934-42B2-93EC-67A57C39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8DD397B9-2609-4D67-B73C-1F7FA149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124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46016B-A3D6-4B13-90B6-2892D872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5FD616C-1D9C-4ED3-90FA-8CD07F36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30CBB0-9914-4B77-8D98-14ED0F9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1004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1FC9770-70BA-414F-9264-3105688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1.330 ms</a:t>
            </a:r>
          </a:p>
        </p:txBody>
      </p:sp>
      <p:sp>
        <p:nvSpPr>
          <p:cNvPr id="21" name="distance-bar-1">
            <a:extLst xmlns:a="http://schemas.openxmlformats.org/drawingml/2006/main">
              <a:ext uri="{FF2B5EF4-FFF2-40B4-BE49-F238E27FC236}">
                <a16:creationId xmlns:a16="http://schemas.microsoft.com/office/drawing/2014/main" id="{B280402D-CF28-4BF6-AD99-C3C1558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67125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10C48A94-80FB-4E51-A3BE-B2A8811D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952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214467E-B84D-406A-9C01-4F74B22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035963B-86C3-4929-842A-E531DFB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1,570.5 m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7ED3E10-0C97-4B98-8150-A7C4BC2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958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BD7BA00-92B9-46E4-8515-0DBBE7D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0.931 ms</a:t>
            </a:r>
          </a:p>
        </p:txBody>
      </p:sp>
      <p:sp>
        <p:nvSpPr>
          <p:cNvPr id="27" name="distance-bar-2">
            <a:extLst xmlns:a="http://schemas.openxmlformats.org/drawingml/2006/main">
              <a:ext uri="{FF2B5EF4-FFF2-40B4-BE49-F238E27FC236}">
                <a16:creationId xmlns:a16="http://schemas.microsoft.com/office/drawing/2014/main" id="{35E09BE3-2F28-4B8C-A8C1-815D41E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95800"/>
            <a:ext cx="317879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9C98B85-0E01-4D47-8A02-B55040B3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 returned the same lowest-cost distance. BFS chose fewer segments but traveled 68.6 m farther on this run.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866B662-F70B-49A4-A13D-ACBF43FF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*Single-run timing varies with machine load. Compare node expansions and route cost for a steadier view.</a:t>
            </a:r>
          </a:p>
        </p:txBody>
      </p:sp>
    </p:spTree>
    <p:extLst>
      <p:ext uri="{BB962C8B-B14F-4D97-AF65-F5344CB8AC3E}">
        <p14:creationId xmlns:p14="http://schemas.microsoft.com/office/powerpoint/2010/main" val="472858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945907F-3A50-42A2-9FD2-2C465795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AB62DB-722F-4BFA-8E51-D7A0EBB3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Validation, assumptions and known limits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A8EB3A3-7726-474D-A624-A319B7BF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1B39A1-CA48-4B3C-A1FE-F3A9BDB0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C577E6-BCB1-4230-88A8-99B36B2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CODE AND TEST COVERAGE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1BC28B-571E-4E94-B177-B10E58F4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seven included test cases cover A* versus Dijkstra, BFS hop behavior, start = goal, unreachable routes, unknown locations, unique hostel names and heuristic safety.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4DE7F4-C7A1-4CC1-91D7-78A5C092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map loader also checks duplicate IDs, finite coordinates, valid endpoints, positive distances and crowd factors of at least 1.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2E9918-E0DB-4892-90A1-1431695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85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MAP AND TIME MEAN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5DC589-006C-44C2-9A23-DCBD79D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is community-maintained, not an official VIT navigation dataset. Named places may not have mapped entrances, so the app snaps them to nearby paths.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8D0D4C-2134-46EB-9049-E7E2CB5A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Edges are treated as two-way. The graph includes mapped steps and access roads. Walking time assumes a constant 1.4 m/s.</a:t>
            </a:r>
          </a:p>
        </p:txBody>
      </p:sp>
      <p:sp>
        <p:nvSpPr>
          <p:cNvPr id="11" name="limit-note">
            <a:extLst xmlns:a="http://schemas.openxmlformats.org/drawingml/2006/main">
              <a:ext uri="{FF2B5EF4-FFF2-40B4-BE49-F238E27FC236}">
                <a16:creationId xmlns:a16="http://schemas.microsoft.com/office/drawing/2014/main" id="{3A20A5D0-A9F7-4728-A2F2-44A10F9D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22A738-FFCF-47C0-A122-CAC037F9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NOT MODELED IN THE CURRENT DATA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3FB019-6BE6-4A6D-BF73-77D02118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Live crowd levels, closures, step-free accessibility and personalized walking speed. The code can parse a crowd factor, but the supplied OSM data has no live crowd multiplier.</a:t>
            </a:r>
          </a:p>
        </p:txBody>
      </p:sp>
    </p:spTree>
    <p:extLst>
      <p:ext uri="{BB962C8B-B14F-4D97-AF65-F5344CB8AC3E}">
        <p14:creationId xmlns:p14="http://schemas.microsoft.com/office/powerpoint/2010/main" val="1219220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51F632B-B049-4681-A6E3-4F082CE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B4175D-39D3-4600-B09C-A478B071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team and review handoff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6590D76-47EA-41DB-935E-E8C1EA1F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0DA76B9-123B-4536-9C7D-2EAEB460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8CA17E-895E-41C3-A1D7-40529954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3D6920-6FC7-4DC8-B226-ED1532E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8CDE65-6845-47A2-AF39-5898B15F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24BCE0819</a:t>
            </a:r>
          </a:p>
        </p:txBody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C1318173-AC29-4004-88CE-8AE46FD7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33362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CFB53B-CFDA-4C9D-A4A8-1194B5D7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854C6B-28CF-453C-BA31-49DFC5A4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24BDS0117</a:t>
            </a:r>
          </a:p>
        </p:txBody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44BE0D38-D0FE-490A-A2C7-25D8440C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9527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2F4A89-F69D-4F0C-9D95-DF4B4210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4E0FFC-EB1F-4A7D-AE57-D7950AF9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24BCE0205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635DF1F9-DBDC-4A32-9596-36164F9C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571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E16B2A-CF47-41BE-89B0-8ED8A32C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73CF05-1B36-473D-B780-2B57823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004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24BKT0059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57267B-9AD3-4501-998E-2773CC2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WEB APP</a:t>
            </a:r>
          </a:p>
        </p:txBody>
      </p:sp>
      <p:sp>
        <p:nvSpPr>
          <p:cNvPr id="18" name="runweb">
            <a:extLst xmlns:a="http://schemas.openxmlformats.org/drawingml/2006/main">
              <a:ext uri="{FF2B5EF4-FFF2-40B4-BE49-F238E27FC236}">
                <a16:creationId xmlns:a16="http://schemas.microsoft.com/office/drawing/2014/main" id="{BD606027-231A-4987-8521-76A39433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C3DC0D-2259-4988-91A9-9B51FC12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web_app.py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46F8AB7-B56A-4CF1-A8D5-68FCA4FF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 http://127.0.0.1:8000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C9E98DD-2AFA-4014-9826-FCC933B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CLI</a:t>
            </a:r>
          </a:p>
        </p:txBody>
      </p:sp>
      <p:sp>
        <p:nvSpPr>
          <p:cNvPr id="22" name="runcli">
            <a:extLst xmlns:a="http://schemas.openxmlformats.org/drawingml/2006/main">
              <a:ext uri="{FF2B5EF4-FFF2-40B4-BE49-F238E27FC236}">
                <a16:creationId xmlns:a16="http://schemas.microsoft.com/office/drawing/2014/main" id="{92B860DF-745F-4326-8FCA-5EEFEC3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90975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2A7F8F4-7DEC-4A13-A43D-2529F03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C4C3874-473D-4D72-98D3-4C6262CE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911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3.10 or newer. Leaflet and map tiles need internet in the browser.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CA23112-6C0B-4397-A16E-DA232EB2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Map and tile attribution: OpenStreetMap contributors · Open Database License (ODbL)</a:t>
            </a:r>
          </a:p>
        </p:txBody>
      </p:sp>
    </p:spTree>
    <p:extLst>
      <p:ext uri="{BB962C8B-B14F-4D97-AF65-F5344CB8AC3E}">
        <p14:creationId xmlns:p14="http://schemas.microsoft.com/office/powerpoint/2010/main" val="2121155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2026-10-25T09:09:30.6650000Z</dcterms:created>
  <dcterms:modified xsi:type="dcterms:W3CDTF">2026-10-25T09:09:30.6650000Z</dcterms:modified>
</coreProperties>
</file>