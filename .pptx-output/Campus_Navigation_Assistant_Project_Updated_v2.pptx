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a77d94bfe41f6" /><Relationship Type="http://schemas.openxmlformats.org/officeDocument/2006/relationships/extended-properties" Target="/docProps/app.xml" Id="Rb767a1f193444e18" /><Relationship Type="http://schemas.openxmlformats.org/officeDocument/2006/relationships/officeDocument" Target="/ppt/presentation.xml" Id="Rb7c61a5e4ce5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395c00db049b4"/>
  </p:sldMasterIdLst>
  <p:notesMasterIdLst>
    <p:notesMasterId xmlns:r="http://schemas.openxmlformats.org/officeDocument/2006/relationships" r:id="R3ac02d67da2742d2"/>
  </p:notesMasterIdLst>
  <p:sldIdLst>
    <p:sldId xmlns:r="http://schemas.openxmlformats.org/officeDocument/2006/relationships" id="256" r:id="R2028aa1bd7194987"/>
    <p:sldId xmlns:r="http://schemas.openxmlformats.org/officeDocument/2006/relationships" id="257" r:id="R21141eda73044394"/>
    <p:sldId xmlns:r="http://schemas.openxmlformats.org/officeDocument/2006/relationships" id="258" r:id="Rd24399ff32cf4c9f"/>
    <p:sldId xmlns:r="http://schemas.openxmlformats.org/officeDocument/2006/relationships" id="259" r:id="R694554ddacdf47a0"/>
    <p:sldId xmlns:r="http://schemas.openxmlformats.org/officeDocument/2006/relationships" id="260" r:id="R1be3cb995c1d49db"/>
    <p:sldId xmlns:r="http://schemas.openxmlformats.org/officeDocument/2006/relationships" id="261" r:id="Rd7bac80c4e334761"/>
    <p:sldId xmlns:r="http://schemas.openxmlformats.org/officeDocument/2006/relationships" id="262" r:id="R928f2e908fa347ec"/>
    <p:sldId xmlns:r="http://schemas.openxmlformats.org/officeDocument/2006/relationships" id="263" r:id="Rb31d9ab611d24791"/>
    <p:sldId xmlns:r="http://schemas.openxmlformats.org/officeDocument/2006/relationships" id="264" r:id="Ra740141782494371"/>
    <p:sldId xmlns:r="http://schemas.openxmlformats.org/officeDocument/2006/relationships" id="265" r:id="R26d67a94b2fc4e7c"/>
    <p:sldId xmlns:r="http://schemas.openxmlformats.org/officeDocument/2006/relationships" id="266" r:id="R6dc3f32ad615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e6d9201204aa5" /><Relationship Type="http://schemas.openxmlformats.org/officeDocument/2006/relationships/slideMaster" Target="/ppt/slideMasters/slideMaster1.xml" Id="R9a8395c00db049b4" /><Relationship Type="http://schemas.openxmlformats.org/officeDocument/2006/relationships/notesMaster" Target="/ppt/notesMasters/notesMaster1.xml" Id="R3ac02d67da2742d2" /><Relationship Type="http://schemas.openxmlformats.org/officeDocument/2006/relationships/presProps" Target="/ppt/presProps.xml" Id="R63a804977f2141a8" /><Relationship Type="http://schemas.openxmlformats.org/officeDocument/2006/relationships/tableStyles" Target="/ppt/tableStyles.xml" Id="R543385648d214a49" /><Relationship Type="http://schemas.openxmlformats.org/officeDocument/2006/relationships/slide" Target="/ppt/slides/slide1.xml" Id="R2028aa1bd7194987" /><Relationship Type="http://schemas.openxmlformats.org/officeDocument/2006/relationships/slide" Target="/ppt/slides/slide2.xml" Id="R21141eda73044394" /><Relationship Type="http://schemas.openxmlformats.org/officeDocument/2006/relationships/slide" Target="/ppt/slides/slide3.xml" Id="Rd24399ff32cf4c9f" /><Relationship Type="http://schemas.openxmlformats.org/officeDocument/2006/relationships/slide" Target="/ppt/slides/slide4.xml" Id="R694554ddacdf47a0" /><Relationship Type="http://schemas.openxmlformats.org/officeDocument/2006/relationships/slide" Target="/ppt/slides/slide5.xml" Id="R1be3cb995c1d49db" /><Relationship Type="http://schemas.openxmlformats.org/officeDocument/2006/relationships/slide" Target="/ppt/slides/slide6.xml" Id="Rd7bac80c4e334761" /><Relationship Type="http://schemas.openxmlformats.org/officeDocument/2006/relationships/slide" Target="/ppt/slides/slide7.xml" Id="R928f2e908fa347ec" /><Relationship Type="http://schemas.openxmlformats.org/officeDocument/2006/relationships/slide" Target="/ppt/slides/slide8.xml" Id="Rb31d9ab611d24791" /><Relationship Type="http://schemas.openxmlformats.org/officeDocument/2006/relationships/slide" Target="/ppt/slides/slide9.xml" Id="Ra740141782494371" /><Relationship Type="http://schemas.openxmlformats.org/officeDocument/2006/relationships/slide" Target="/ppt/slides/slide10.xml" Id="R26d67a94b2fc4e7c" /><Relationship Type="http://schemas.openxmlformats.org/officeDocument/2006/relationships/slide" Target="/ppt/slides/slide11.xml" Id="R6dc3f32ad615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8dd8f5750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c42fdd9874c65" /><Relationship Type="http://schemas.openxmlformats.org/officeDocument/2006/relationships/notesMaster" Target="/ppt/notesMasters/notesMaster1.xml" Id="R5761ee2d607f4f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01271458945b5" /><Relationship Type="http://schemas.openxmlformats.org/officeDocument/2006/relationships/notesMaster" Target="/ppt/notesMasters/notesMaster1.xml" Id="R542da59b6b154e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5e851184d450a" /><Relationship Type="http://schemas.openxmlformats.org/officeDocument/2006/relationships/notesMaster" Target="/ppt/notesMasters/notesMaster1.xml" Id="R020e4de564234d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b06029ddf64d81" /><Relationship Type="http://schemas.openxmlformats.org/officeDocument/2006/relationships/notesMaster" Target="/ppt/notesMasters/notesMaster1.xml" Id="R25282af0f8d1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6fba7a48654bab" /><Relationship Type="http://schemas.openxmlformats.org/officeDocument/2006/relationships/notesMaster" Target="/ppt/notesMasters/notesMaster1.xml" Id="R81f2e5bde10b47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bc2d42f44f4ae6" /><Relationship Type="http://schemas.openxmlformats.org/officeDocument/2006/relationships/notesMaster" Target="/ppt/notesMasters/notesMaster1.xml" Id="R1db463546897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0c8eeec7d6404a" /><Relationship Type="http://schemas.openxmlformats.org/officeDocument/2006/relationships/notesMaster" Target="/ppt/notesMasters/notesMaster1.xml" Id="R4541ee9c12bd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50c0e7b9714a06" /><Relationship Type="http://schemas.openxmlformats.org/officeDocument/2006/relationships/notesMaster" Target="/ppt/notesMasters/notesMaster1.xml" Id="R878a155aa9ac42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145316c5d44043" /><Relationship Type="http://schemas.openxmlformats.org/officeDocument/2006/relationships/notesMaster" Target="/ppt/notesMasters/notesMaster1.xml" Id="R85d2ac9a913a41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fd1909e510432d" /><Relationship Type="http://schemas.openxmlformats.org/officeDocument/2006/relationships/notesMaster" Target="/ppt/notesMasters/notesMaster1.xml" Id="R37f9d3e9682241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56bdbe98a04a8d" /><Relationship Type="http://schemas.openxmlformats.org/officeDocument/2006/relationships/notesMaster" Target="/ppt/notesMasters/notesMaster1.xml" Id="Re72da28f61534c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(2).pdf. The cover uses the proposal title and team names; the implementation framing comes from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web_app.py; campus_nav.py; index.html;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campus_map.json; build_osm_map.py; README.md. Counts were read from the included JSON map and route CLI output. The README’s approximate count is slightly different because OSM extracts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build_osm_map.py; campus_map.json; campus_nav.py. The diagram is illustrative. Building entrances and connectors are approximate, not surveyed.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index.html; web_app.py;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campus_map.json. Values captured by running the documented default command during presentation preparation. Times are a single run and should not be treated as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campus_nav.py; build_osm_map.py; test_campus_nav.py; campus_map.json. The test count describes test methods present in the project. This presentation preparation did not execute the full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ba4e29c3d45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1629caa9f4f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9e13297544f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d2f85a2a345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655b5174a4f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419a97675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D9E84-C4DD-47C4-92C6-A0F6D1456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C1935C-DC42-4133-A07E-00DC8F387C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90973E-51C1-45F7-85FB-2077532B0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71636F-747A-4EB2-83BA-29ABFE8D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8F8331-48FA-498C-941F-7D8C675881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25FD33-94DF-4931-AC60-42A2C3EB4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6AA6FA-D754-473D-8966-1376B9D22F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B90A13-734C-4307-B13E-4AF9F4F31A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241B29-61C7-40DF-AC3C-2562B5AB1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A2128C-0B45-4DC8-9787-429AB4A0CF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348112163a4446" /><Relationship Type="http://schemas.openxmlformats.org/officeDocument/2006/relationships/slideLayout" Target="/ppt/slideLayouts/slideLayout1.xml" Id="R68c4c33e86794438" /><Relationship Type="http://schemas.openxmlformats.org/officeDocument/2006/relationships/slideLayout" Target="/ppt/slideLayouts/slideLayout2.xml" Id="R73d637e3eb8d4e74" /><Relationship Type="http://schemas.openxmlformats.org/officeDocument/2006/relationships/slideLayout" Target="/ppt/slideLayouts/slideLayout3.xml" Id="Rb502c1d3297a4a4c" /><Relationship Type="http://schemas.openxmlformats.org/officeDocument/2006/relationships/slideLayout" Target="/ppt/slideLayouts/slideLayout4.xml" Id="R84d2e3be9d7a408a" /><Relationship Type="http://schemas.openxmlformats.org/officeDocument/2006/relationships/slideLayout" Target="/ppt/slideLayouts/slideLayout5.xml" Id="R113a5f1ab21a4d33" /><Relationship Type="http://schemas.openxmlformats.org/officeDocument/2006/relationships/slideLayout" Target="/ppt/slideLayouts/slideLayout6.xml" Id="R8677ba4f2161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4c33e86794438"/>
    <p:sldLayoutId xmlns:r="http://schemas.openxmlformats.org/officeDocument/2006/relationships" id="2147483650" r:id="R73d637e3eb8d4e74"/>
    <p:sldLayoutId xmlns:r="http://schemas.openxmlformats.org/officeDocument/2006/relationships" id="2147483651" r:id="Rb502c1d3297a4a4c"/>
    <p:sldLayoutId xmlns:r="http://schemas.openxmlformats.org/officeDocument/2006/relationships" id="2147483652" r:id="R84d2e3be9d7a408a"/>
    <p:sldLayoutId xmlns:r="http://schemas.openxmlformats.org/officeDocument/2006/relationships" id="2147483653" r:id="R113a5f1ab21a4d33"/>
    <p:sldLayoutId xmlns:r="http://schemas.openxmlformats.org/officeDocument/2006/relationships" id="2147483654" r:id="R8677ba4f2161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bfe7179b94e5e" /><Relationship Type="http://schemas.openxmlformats.org/officeDocument/2006/relationships/notesSlide" Target="/ppt/notesSlides/notesSlide1.xml" Id="R3c8cc6cfca4641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17566c6d84477" /><Relationship Type="http://schemas.openxmlformats.org/officeDocument/2006/relationships/notesSlide" Target="/ppt/notesSlides/notesSlide2.xml" Id="R95d9e07630e14f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14e31125c4967" /><Relationship Type="http://schemas.openxmlformats.org/officeDocument/2006/relationships/notesSlide" Target="/ppt/notesSlides/notesSlide3.xml" Id="R7959391ebe814d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0302feb764f6c" /><Relationship Type="http://schemas.openxmlformats.org/officeDocument/2006/relationships/notesSlide" Target="/ppt/notesSlides/notesSlide4.xml" Id="Rdcaa9e435dae46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40a2f4f1046e7" /><Relationship Type="http://schemas.openxmlformats.org/officeDocument/2006/relationships/notesSlide" Target="/ppt/notesSlides/notesSlide5.xml" Id="Rc213a5c011e1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787082b014953" /><Relationship Type="http://schemas.openxmlformats.org/officeDocument/2006/relationships/notesSlide" Target="/ppt/notesSlides/notesSlide6.xml" Id="Rbfc4ded3d2d244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a1d55a13f4eba" /><Relationship Type="http://schemas.openxmlformats.org/officeDocument/2006/relationships/notesSlide" Target="/ppt/notesSlides/notesSlide7.xml" Id="Rb5aaa0f2d60d41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7cffa516748fd" /><Relationship Type="http://schemas.openxmlformats.org/officeDocument/2006/relationships/notesSlide" Target="/ppt/notesSlides/notesSlide8.xml" Id="Rb4dc11d8e2ba44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157b8ea0d45ae" /><Relationship Type="http://schemas.openxmlformats.org/officeDocument/2006/relationships/notesSlide" Target="/ppt/notesSlides/notesSlide9.xml" Id="Rf4fd29c12ac14b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6d4e05f4d49a5" /><Relationship Type="http://schemas.openxmlformats.org/officeDocument/2006/relationships/notesSlide" Target="/ppt/notesSlides/notesSlide10.xml" Id="R919f60053abe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bfb7607d846f0" /><Relationship Type="http://schemas.openxmlformats.org/officeDocument/2006/relationships/notesSlide" Target="/ppt/notesSlides/notesSlide11.xml" Id="R88c0e21987bf4b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10E9908-081A-4CAA-A9CC-A70B7C4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0AB1C0-56FB-42DE-8F6D-B1187EA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733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PROJECT PRESENTATION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601A05A-D422-4ABA-8077-076A297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E516275-2136-41F0-B21E-26CC090C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working pedestrian route planner for VIT Vellore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B8BBA615-7AD3-4707-A6E2-AD1BE18D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404559-0321-4084-8A55-1A4160C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762402-D800-4686-ABE1-315FF9C9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 ·   Nayan Gattani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73ED95-C9F1-4393-B99D-FBC8F00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   ·   Ashish Kumar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95E20D-5D80-45A8-B4A3-FBD36DF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Review 2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98716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430F124-A3BC-4765-8FC5-77B2758A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008848C-16DA-4AA9-BCAD-FEC6DAF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What the project now includes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7A56710-600A-4E38-ABC5-4C730111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9EB5CC-43FF-43BF-A397-BEBFDB15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E8CD05-4511-4521-87D2-06976220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 local Python search engine, a real campus walking graph and a browser map work together.</a:t>
            </a:r>
          </a:p>
        </p:txBody>
      </p:sp>
      <p:sp>
        <p:nvSpPr>
          <p:cNvPr id="6" name="arch-0">
            <a:extLst xmlns:a="http://schemas.openxmlformats.org/drawingml/2006/main">
              <a:ext uri="{FF2B5EF4-FFF2-40B4-BE49-F238E27FC236}">
                <a16:creationId xmlns:a16="http://schemas.microsoft.com/office/drawing/2014/main" id="{1A53FA42-C616-4222-B2FC-0B3A56F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arch-accent-0">
            <a:extLst xmlns:a="http://schemas.openxmlformats.org/drawingml/2006/main">
              <a:ext uri="{FF2B5EF4-FFF2-40B4-BE49-F238E27FC236}">
                <a16:creationId xmlns:a16="http://schemas.microsoft.com/office/drawing/2014/main" id="{7718BB83-AC4F-4937-B8C8-75118EF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256D55-D6B5-4E8E-8D91-243100B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 interface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104CD4-A065-4FBC-BF0E-589EED58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HTML, CSS, JavaScript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Leaflet map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Place selectors + comparison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6813C395-053B-4CF4-ABF2-E0260D0D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242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1" name="arch-1">
            <a:extLst xmlns:a="http://schemas.openxmlformats.org/drawingml/2006/main">
              <a:ext uri="{FF2B5EF4-FFF2-40B4-BE49-F238E27FC236}">
                <a16:creationId xmlns:a16="http://schemas.microsoft.com/office/drawing/2014/main" id="{C76D632D-F1D4-4A91-85C8-0D4D6725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arch-accent-1">
            <a:extLst xmlns:a="http://schemas.openxmlformats.org/drawingml/2006/main">
              <a:ext uri="{FF2B5EF4-FFF2-40B4-BE49-F238E27FC236}">
                <a16:creationId xmlns:a16="http://schemas.microsoft.com/office/drawing/2014/main" id="{7897D30D-A236-458F-BD3E-2D1657F1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03582E-8A57-4982-8FA2-774FE8AB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web service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6EA599F-EB2D-46D3-B02D-B35ABF92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standard library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/api/map and /api/route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Runs on localhost:8000</a:t>
            </a:r>
          </a:p>
        </p:txBody>
      </p:sp>
      <p:sp>
        <p:nvSpPr>
          <p:cNvPr id="15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6EFCE96D-C3DE-460F-9408-EBE498CF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674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6" name="arch-2">
            <a:extLst xmlns:a="http://schemas.openxmlformats.org/drawingml/2006/main">
              <a:ext uri="{FF2B5EF4-FFF2-40B4-BE49-F238E27FC236}">
                <a16:creationId xmlns:a16="http://schemas.microsoft.com/office/drawing/2014/main" id="{B96F6310-691A-49A6-B71A-7FD06FF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arch-accent-2">
            <a:extLst xmlns:a="http://schemas.openxmlformats.org/drawingml/2006/main">
              <a:ext uri="{FF2B5EF4-FFF2-40B4-BE49-F238E27FC236}">
                <a16:creationId xmlns:a16="http://schemas.microsoft.com/office/drawing/2014/main" id="{75C34A86-387F-4826-895A-E7ED851D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6954BDE-BA91-433E-85AC-970BFAFF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Search core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4A03DDF-5A96-40D5-98C6-5708FB0C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Breadth-first search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Shared weighted graph</a:t>
            </a:r>
          </a:p>
        </p:txBody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0306D37-A7AF-4B96-8D87-D776E42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21" name="arch-3">
            <a:extLst xmlns:a="http://schemas.openxmlformats.org/drawingml/2006/main">
              <a:ext uri="{FF2B5EF4-FFF2-40B4-BE49-F238E27FC236}">
                <a16:creationId xmlns:a16="http://schemas.microsoft.com/office/drawing/2014/main" id="{D7351EE2-08BE-4DF6-B660-0A669A3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2" name="arch-accent-3">
            <a:extLst xmlns:a="http://schemas.openxmlformats.org/drawingml/2006/main">
              <a:ext uri="{FF2B5EF4-FFF2-40B4-BE49-F238E27FC236}">
                <a16:creationId xmlns:a16="http://schemas.microsoft.com/office/drawing/2014/main" id="{CD86405B-518A-4545-98F3-187F1B22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342215B-69BE-4EE6-843E-56996D16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Map data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5536E5C-4DEF-4212-A0C5-7A18F290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JSON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2AE5525-187B-4ABD-9657-4E8313D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browser requests route results from the same Python functions used by the command-line demo.</a:t>
            </a:r>
          </a:p>
        </p:txBody>
      </p:sp>
    </p:spTree>
    <p:extLst>
      <p:ext uri="{BB962C8B-B14F-4D97-AF65-F5344CB8AC3E}">
        <p14:creationId xmlns:p14="http://schemas.microsoft.com/office/powerpoint/2010/main" val="359907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559426A-38F3-4A7E-9C4E-B481FBCE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DC86C7C-F4FF-477F-8F89-31572181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VIT Vellore walking network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8048B79-C094-490B-8B98-E1C00A5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4C72AB-8AE3-496A-950C-CB276251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1CE9A6-4A08-45DA-8F09-F99CCEB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CURRENT INCLUDED MAP BUNDLE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032F7B-F1C2-4F02-9FE4-AB037C6A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1,965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D1E34D3-AA9A-4CFB-A2AB-16D9260A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43737A-AD73-42F7-9E91-A43FA545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2,131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BC44B5-605D-45CD-8E39-02AE31E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edges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008CDB-CD1B-49E4-9910-64440DAC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BB9743A-B5F4-4C4A-A55F-F083C4E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places</a:t>
            </a:r>
          </a:p>
        </p:txBody>
      </p:sp>
      <p:sp>
        <p:nvSpPr>
          <p:cNvPr id="12" name="data-divider">
            <a:extLst xmlns:a="http://schemas.openxmlformats.org/drawingml/2006/main">
              <a:ext uri="{FF2B5EF4-FFF2-40B4-BE49-F238E27FC236}">
                <a16:creationId xmlns:a16="http://schemas.microsoft.com/office/drawing/2014/main" id="{DE14E7D9-AA1E-43A9-BA43-F69A1E62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1AFEAFF-DAB2-47F1-ABAE-6C7186C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PLACE CATEGORIES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150844A-D027-4548-90AE-9029594B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1DC476-5BC6-4EEC-9268-55C7818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places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2052938-1ABB-4194-AC43-F6272AB6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3444C8-3024-4454-B27A-85B37708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Hostels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A4CFE66-11DF-462C-8D97-7665D23F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9008AF-BFA3-40E2-8A5C-BF5FAE3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A–H blocks, MGB, EV Periyar Library, Anna Auditorium, Food Court, 3A Gate, Main Gate and mapped hostels.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7C696F-2DF5-44BE-AE11-95110A7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OpenStreetMap contributors · extract retrieved 21 Oct 2026 · ODbL</a:t>
            </a:r>
          </a:p>
        </p:txBody>
      </p:sp>
    </p:spTree>
    <p:extLst>
      <p:ext uri="{BB962C8B-B14F-4D97-AF65-F5344CB8AC3E}">
        <p14:creationId xmlns:p14="http://schemas.microsoft.com/office/powerpoint/2010/main" val="141357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FFF7EB-E770-4B1D-BEF3-F9755854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29DD707-DC6A-4735-8FDE-DA7D47D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mapped places become route endpoints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B06A24A-333F-4FC7-9EBB-0BAD7D35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4B7927-21E3-436F-B445-A046ABB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1CBA9B-AF07-47DE-971C-F39024E6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paths form a connected graph. Named campus features snap to the nearest mapped walkway node.</a:t>
            </a:r>
          </a:p>
        </p:txBody>
      </p:sp>
      <p:sp>
        <p:nvSpPr>
          <p:cNvPr id="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15010406-5E95-4082-9E07-3E23C24A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7300" y="2762250"/>
            <a:ext cx="201930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AF60DB39-9EB0-4AE1-8227-439B6EF6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6600" y="2762250"/>
            <a:ext cx="19812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0736E60-AD7F-4656-8468-D6AC40DB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57800" y="2667000"/>
            <a:ext cx="201930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D30E6AF0-3B9D-4F02-8B0E-0D2B91B1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2667000"/>
            <a:ext cx="35337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DBECBF2B-26D0-414C-9065-1F5D8522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7800" y="3648075"/>
            <a:ext cx="38862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65E8D329-AF85-4E0A-8639-8DA66F9C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44000" y="2743200"/>
            <a:ext cx="166687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A1E1B5F-8CE7-4313-84F6-EC07664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76600" y="2667000"/>
            <a:ext cx="40005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map-node-gate">
            <a:extLst xmlns:a="http://schemas.openxmlformats.org/drawingml/2006/main">
              <a:ext uri="{FF2B5EF4-FFF2-40B4-BE49-F238E27FC236}">
                <a16:creationId xmlns:a16="http://schemas.microsoft.com/office/drawing/2014/main" id="{673D825F-2E4B-4D41-82B5-E30360B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4" name="map-node-junction">
            <a:extLst xmlns:a="http://schemas.openxmlformats.org/drawingml/2006/main">
              <a:ext uri="{FF2B5EF4-FFF2-40B4-BE49-F238E27FC236}">
                <a16:creationId xmlns:a16="http://schemas.microsoft.com/office/drawing/2014/main" id="{9EDC964F-E7B9-4868-97A0-E4B3438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00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5" name="map-node-library">
            <a:extLst xmlns:a="http://schemas.openxmlformats.org/drawingml/2006/main">
              <a:ext uri="{FF2B5EF4-FFF2-40B4-BE49-F238E27FC236}">
                <a16:creationId xmlns:a16="http://schemas.microsoft.com/office/drawing/2014/main" id="{4FC0C7F5-9902-4781-80E9-F081FCAD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6" name="map-node-block">
            <a:extLst xmlns:a="http://schemas.openxmlformats.org/drawingml/2006/main">
              <a:ext uri="{FF2B5EF4-FFF2-40B4-BE49-F238E27FC236}">
                <a16:creationId xmlns:a16="http://schemas.microsoft.com/office/drawing/2014/main" id="{06EA954C-D9BF-4ECE-850C-5D534E74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7" name="map-node-food">
            <a:extLst xmlns:a="http://schemas.openxmlformats.org/drawingml/2006/main">
              <a:ext uri="{FF2B5EF4-FFF2-40B4-BE49-F238E27FC236}">
                <a16:creationId xmlns:a16="http://schemas.microsoft.com/office/drawing/2014/main" id="{A5997830-84BB-4322-A83C-F1ECE7A5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67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8" name="map-node-goal">
            <a:extLst xmlns:a="http://schemas.openxmlformats.org/drawingml/2006/main">
              <a:ext uri="{FF2B5EF4-FFF2-40B4-BE49-F238E27FC236}">
                <a16:creationId xmlns:a16="http://schemas.microsoft.com/office/drawing/2014/main" id="{C00037D2-7C64-4514-A929-921D0B6E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81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9" name="feature-dot">
            <a:extLst xmlns:a="http://schemas.openxmlformats.org/drawingml/2006/main">
              <a:ext uri="{FF2B5EF4-FFF2-40B4-BE49-F238E27FC236}">
                <a16:creationId xmlns:a16="http://schemas.microsoft.com/office/drawing/2014/main" id="{60E5C3E9-037F-420A-AE22-D903078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246A196E-DDA0-4352-BC55-BEB52586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7275" y="3676650"/>
            <a:ext cx="2000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138496A-2EE5-4BD7-89DD-553D096F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434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</a:t>
            </a:r>
          </a:p>
        </p:txBody>
      </p:sp>
      <p:sp>
        <p:nvSpPr>
          <p:cNvPr id="22" name="walkway-dot">
            <a:extLst xmlns:a="http://schemas.openxmlformats.org/drawingml/2006/main">
              <a:ext uri="{FF2B5EF4-FFF2-40B4-BE49-F238E27FC236}">
                <a16:creationId xmlns:a16="http://schemas.microsoft.com/office/drawing/2014/main" id="{D2999170-93BC-4F27-BE22-EFE3AFE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9525">
            <a:solidFill>
              <a:srgbClr val="49D7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1E9736B-22D1-48DB-84C1-F245033B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E52F1AB-59E6-4882-BD5C-24EFB96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Route totals include the straight-line endpoint snap offsets as approximate access connectors.</a:t>
            </a:r>
          </a:p>
        </p:txBody>
      </p:sp>
    </p:spTree>
    <p:extLst>
      <p:ext uri="{BB962C8B-B14F-4D97-AF65-F5344CB8AC3E}">
        <p14:creationId xmlns:p14="http://schemas.microsoft.com/office/powerpoint/2010/main" val="1312766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7296C55-8630-4398-B49F-E446B1F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F3478D-7DB2-43F9-A6E1-067F446B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search core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03178F5-3DA7-408A-A5AC-0378BEB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B66BA9-F4C3-4E16-BE6E-575B7B58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14A3F0-A12F-4A8A-95E5-D2C8DDDC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EC7E65-A444-453F-9DDC-C47D48EE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4CE4C1-AB7D-44CD-B56C-210AA60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Known weighted route cost from the starting point.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7F0344-F492-4966-AD28-EFD8BFB8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AFF816-A1AE-40C5-9F1B-74404FAD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Straight-line Euclidean estimate to the destination.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3D5019-9132-4CBA-8672-394EC9B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Parent map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BA2240-8EA9-4D5D-959D-48BC473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Records each node’s predecessor to rebuild the final route.</a:t>
            </a:r>
          </a:p>
        </p:txBody>
      </p:sp>
      <p:sp>
        <p:nvSpPr>
          <p:cNvPr id="12" name="heuristic-note">
            <a:extLst xmlns:a="http://schemas.openxmlformats.org/drawingml/2006/main">
              <a:ext uri="{FF2B5EF4-FFF2-40B4-BE49-F238E27FC236}">
                <a16:creationId xmlns:a16="http://schemas.microsoft.com/office/drawing/2014/main" id="{8DE60182-C75C-4593-9523-CC86502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41719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AD7751F-9D4E-443E-B6E0-8AC23888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HEURISTIC SAFETY CHECK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A8988A-AF8E-4A68-B9EF-E3DF078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Every loaded edge must be at least as long as the straight-line distance between its endpoints.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7D62AA-5D0E-454A-961A-203A8C7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3852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With non-negative distances, this keeps the Euclidean heuristic admissible and consistent for the loaded graph.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768BDB-975E-4076-B6DC-0CD722FC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Invalid edges are rejected while the map loads.</a:t>
            </a:r>
          </a:p>
        </p:txBody>
      </p:sp>
    </p:spTree>
    <p:extLst>
      <p:ext uri="{BB962C8B-B14F-4D97-AF65-F5344CB8AC3E}">
        <p14:creationId xmlns:p14="http://schemas.microsoft.com/office/powerpoint/2010/main" val="337237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BF525E8-DBEB-41FF-B09D-A9A8F97A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2207593-9CE4-4508-A00C-B9F5AC8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Three search methods, three different behaviors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DF5BA1A-AB1D-4BFF-A00C-293132F1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A4B3190-6B54-427B-9F62-CD98BC4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06</a:t>
            </a:r>
          </a:p>
        </p:txBody>
      </p:sp>
      <p:sp>
        <p:nvSpPr>
          <p:cNvPr id="5" name="algo-marker-0">
            <a:extLst xmlns:a="http://schemas.openxmlformats.org/drawingml/2006/main">
              <a:ext uri="{FF2B5EF4-FFF2-40B4-BE49-F238E27FC236}">
                <a16:creationId xmlns:a16="http://schemas.microsoft.com/office/drawing/2014/main" id="{A3AA6C58-7094-4B2F-8E3D-079E4C8E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931385-276E-4866-9122-917B57C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3BAAA6-1E7C-49E0-82D0-35DA10B1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47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g(n) + h(n)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F7AC21-D15E-4141-AF4A-BB537870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383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minimum-cost route while using straight-line look-ahead.</a:t>
            </a:r>
          </a:p>
        </p:txBody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09D6E8D9-EE5A-4463-A7C0-5DB71CF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571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algo-marker-1">
            <a:extLst xmlns:a="http://schemas.openxmlformats.org/drawingml/2006/main">
              <a:ext uri="{FF2B5EF4-FFF2-40B4-BE49-F238E27FC236}">
                <a16:creationId xmlns:a16="http://schemas.microsoft.com/office/drawing/2014/main" id="{38300B45-B7E0-4281-A02E-FAE4DE4C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DACA452-005E-4C1F-84E2-ED3CD26F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87F1B8-B60A-4004-9187-56441423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EE8F5D-FBD4-4344-B4CF-339554B2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Minimum-cost reference on the same weighted graph.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5772F6D-E753-4C54-BBAE-1FD012B0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771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algo-marker-2">
            <a:extLst xmlns:a="http://schemas.openxmlformats.org/drawingml/2006/main">
              <a:ext uri="{FF2B5EF4-FFF2-40B4-BE49-F238E27FC236}">
                <a16:creationId xmlns:a16="http://schemas.microsoft.com/office/drawing/2014/main" id="{BA65D122-4A66-4C46-93D5-3ADD37DD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DB43A2-3549-449E-9456-04EBD740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E6BDD8-0D31-448C-85A0-69469DFB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edge count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679632-9236-48E0-B82A-FCFCE2AD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route with the fewest graph segments. Segment distances do not affect its search.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9E8EDB4-0D47-4282-9B07-BB3DFC6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Dijkstra is A* with h(n) = 0. BFS may return a longer physical route when edge lengths vary.</a:t>
            </a:r>
          </a:p>
        </p:txBody>
      </p:sp>
    </p:spTree>
    <p:extLst>
      <p:ext uri="{BB962C8B-B14F-4D97-AF65-F5344CB8AC3E}">
        <p14:creationId xmlns:p14="http://schemas.microsoft.com/office/powerpoint/2010/main" val="716661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72E8A21-70C4-4B0D-805C-3B2C623A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F05735-9048-4372-8A35-306A1E21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Interactive web app features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6B45853-50EB-4B39-B7E2-92FD6B5E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A5213E-2234-4E8C-B36C-73EA2CBD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FBCFEB-FDED-406F-9E09-2CC718B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ROUTE CONTROLS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41BD82-31F1-43C1-B573-7903AF1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start and destination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D56CF3-1A07-4C02-8E5F-09A761D9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Swap the two selections and calculate a new walking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B53DA6-0AF5-4970-9603-D4A8EF7F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 COMPARISON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EA656E-F698-496A-9633-91AC60A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· Dijkstra · BFS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F21FD2-8663-4B1B-8AC0-B2C3A06F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Each option reports route cost and expanded nodes. Selecting an option redraws its path.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B8C908-A4A2-4595-A5D1-6AA11F93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954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MAP AND ROUTE DETAILS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D10429-7A5D-432A-8191-69D4CECE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954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Leaflet map of VIT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043CC3-AB19-4422-8A95-9938CCE7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the walking network, selected path, start and destination markers, plus approximate building-access connectors.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2C1E19-DD99-437C-8A2E-F3704458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2DD3CB-0AC1-4CC4-9A97-48DF33AC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Distance and time estimate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F43645-6C3A-4878-82D5-938DB11E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the selected route metrics and the endpoint snap distances so users can see estimated access offsets.</a:t>
            </a:r>
          </a:p>
        </p:txBody>
      </p:sp>
      <p:sp>
        <p:nvSpPr>
          <p:cNvPr id="17" name="netbox">
            <a:extLst xmlns:a="http://schemas.openxmlformats.org/drawingml/2006/main">
              <a:ext uri="{FF2B5EF4-FFF2-40B4-BE49-F238E27FC236}">
                <a16:creationId xmlns:a16="http://schemas.microsoft.com/office/drawing/2014/main" id="{B6A9BC1C-EEFE-4D6C-9397-463722EB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CA0CF4-1C5B-4D6C-9AA1-ABD9B88A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Browser: index.html + Leaflet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93D61D6-8F85-42DB-995B-518B12B0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Python API: /api/map  /api/route</a:t>
            </a:r>
          </a:p>
        </p:txBody>
      </p:sp>
    </p:spTree>
    <p:extLst>
      <p:ext uri="{BB962C8B-B14F-4D97-AF65-F5344CB8AC3E}">
        <p14:creationId xmlns:p14="http://schemas.microsoft.com/office/powerpoint/2010/main" val="423968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27F581-96B6-4551-8353-B03F580E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2585875-992C-44F8-A37F-94BED771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Command-line demonstration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C856AD1-E06F-425A-A56A-264F3B33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0DBB0E-BC27-4171-98F1-4AB2C2D8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843851-CCE0-4F88-BD76-07731058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DEFAULT DEMO</a:t>
            </a:r>
          </a:p>
        </p:txBody>
      </p:sp>
      <p:sp>
        <p:nvSpPr>
          <p:cNvPr id="6" name="cli-frame">
            <a:extLst xmlns:a="http://schemas.openxmlformats.org/drawingml/2006/main">
              <a:ext uri="{FF2B5EF4-FFF2-40B4-BE49-F238E27FC236}">
                <a16:creationId xmlns:a16="http://schemas.microsoft.com/office/drawing/2014/main" id="{4A2E7D5C-CA60-4EDF-80EE-0E7FF4D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CA5F856-0375-4D0D-A8A4-9F8E3D7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D06C13-AACD-4002-A0B0-6F16F90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CHANGE LOCATIONS</a:t>
            </a:r>
          </a:p>
        </p:txBody>
      </p:sp>
      <p:sp>
        <p:nvSpPr>
          <p:cNvPr id="9" name="cli-frame-2">
            <a:extLst xmlns:a="http://schemas.openxmlformats.org/drawingml/2006/main">
              <a:ext uri="{FF2B5EF4-FFF2-40B4-BE49-F238E27FC236}">
                <a16:creationId xmlns:a16="http://schemas.microsoft.com/office/drawing/2014/main" id="{5AFA8B61-317B-4612-A062-331D79C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ADEA5A-798E-43A7-852C-7B91009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python campus_nav.py --start main_gate_uni_entrance --goal ev_periyar_library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34667E-EA62-4260-89CE-B724C162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CLI prints each algorithm’s route, physical distance, search cost, estimated walking time, expanded nodes and measured search time. Raw walkway-node IDs also work; --data accepts another JSON graph.</a:t>
            </a:r>
          </a:p>
        </p:txBody>
      </p:sp>
    </p:spTree>
    <p:extLst>
      <p:ext uri="{BB962C8B-B14F-4D97-AF65-F5344CB8AC3E}">
        <p14:creationId xmlns:p14="http://schemas.microsoft.com/office/powerpoint/2010/main" val="239691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7380675-5275-4463-9E40-D76EE747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E3D11D0-6164-4854-955B-234A35BD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Default route results: Main Gate to A Block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F8CC68C-EA93-4533-919D-41D3C75A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3A4D0A-3439-473C-9D5A-1062258D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C1C18E-D846-448B-967E-809BD5C8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 from the included campus_map.json on this machine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671EB9-7E52-49F3-AD17-0E2B5D3A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FED9308-5390-41B8-A535-67CAD71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28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07E5D4-5A49-49E1-A69D-A5AB7A7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NODES EXPANDED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A6935A-45C6-4880-A0EC-1D5A5EE9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288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TIME*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46D09D44-C54E-4581-A528-9BA876DD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295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45164C4-A442-495B-9279-4D47291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4595C1-96BE-4085-B62C-CA0CBEDF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0D410F-7EA8-404A-8B83-2E9A6F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413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A333B19-0D81-4E76-A3CF-C1523D1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1.523 ms</a:t>
            </a:r>
          </a:p>
        </p:txBody>
      </p:sp>
      <p:sp>
        <p:nvSpPr>
          <p:cNvPr id="15" name="distance-bar-0">
            <a:extLst xmlns:a="http://schemas.openxmlformats.org/drawingml/2006/main">
              <a:ext uri="{FF2B5EF4-FFF2-40B4-BE49-F238E27FC236}">
                <a16:creationId xmlns:a16="http://schemas.microsoft.com/office/drawing/2014/main" id="{9A344AA6-4A90-4C6A-A75F-3CAA1D21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25A02980-2306-4C46-BD50-0235A151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124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D878044-3993-4513-ADDA-C6E82078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2E45C5-49DD-46D9-8617-EE54877E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8FEB3DF-EEEE-43A2-ACD9-FBB2EAC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1004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C6B3E81-9E8F-4850-9A4E-9E5182A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1.330 ms</a:t>
            </a:r>
          </a:p>
        </p:txBody>
      </p:sp>
      <p:sp>
        <p:nvSpPr>
          <p:cNvPr id="21" name="distance-bar-1">
            <a:extLst xmlns:a="http://schemas.openxmlformats.org/drawingml/2006/main">
              <a:ext uri="{FF2B5EF4-FFF2-40B4-BE49-F238E27FC236}">
                <a16:creationId xmlns:a16="http://schemas.microsoft.com/office/drawing/2014/main" id="{601FFB4D-9619-4812-843A-3F551107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67125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2C7951D-DA60-4DC6-9525-2B2DEF21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952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A787660-E07F-49F7-AF8F-0A15D35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765DF79-EEA2-4B6E-867D-7C6778B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1,570.5 m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B05B787-44F6-4875-97E7-4CF465BC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958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B25990F-1FA2-46D9-844D-E240594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0.931 ms</a:t>
            </a:r>
          </a:p>
        </p:txBody>
      </p:sp>
      <p:sp>
        <p:nvSpPr>
          <p:cNvPr id="27" name="distance-bar-2">
            <a:extLst xmlns:a="http://schemas.openxmlformats.org/drawingml/2006/main">
              <a:ext uri="{FF2B5EF4-FFF2-40B4-BE49-F238E27FC236}">
                <a16:creationId xmlns:a16="http://schemas.microsoft.com/office/drawing/2014/main" id="{EC4622D8-C52B-4834-BB15-C18BFEA3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95800"/>
            <a:ext cx="317879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DE293A3-AF2E-4747-B10B-D6319F49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 returned the same lowest-cost distance. BFS chose fewer segments but traveled 68.6 m farther on this run.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5D2443D-DCA9-422B-A69D-7E5F78A6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*Single-run timing varies with machine load. Compare node expansions and route cost for a steadier view.</a:t>
            </a:r>
          </a:p>
        </p:txBody>
      </p:sp>
    </p:spTree>
    <p:extLst>
      <p:ext uri="{BB962C8B-B14F-4D97-AF65-F5344CB8AC3E}">
        <p14:creationId xmlns:p14="http://schemas.microsoft.com/office/powerpoint/2010/main" val="635381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AEB7525-0E48-4202-BAD6-B2EF8DD5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024BA4-1593-4796-BFE2-2D8090B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Validation, assumptions and known limits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8F00A47-6A1E-499B-A12C-240E24F1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9E4607-FA4B-490D-A59E-FEB1187F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7A0E30-2D58-41FC-A018-ADFFC33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CODE AND TEST COVERAGE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74BE89-CF8C-4053-8FB5-2A023712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seven included test cases cover A* versus Dijkstra, BFS hop behavior, start = goal, unreachable routes, unknown locations, unique hostel names and heuristic safety.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14FD19-BE28-4BE3-AE60-2AFFE650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map loader also checks duplicate IDs, finite coordinates, valid endpoints, positive distances and crowd factors of at least 1.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418782-9ED1-4D99-B66D-453E316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85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MAP AND TIME MEAN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D4531E-28F4-4AFC-AA04-3E916EE2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is community-maintained, not an official VIT navigation dataset. Named places may not have mapped entrances, so the app snaps them to nearby paths.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6E85D5-73B4-4D1F-9564-5BA9001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Edges are treated as two-way. The graph includes mapped steps and access roads. Walking time assumes a constant 1.4 m/s.</a:t>
            </a:r>
          </a:p>
        </p:txBody>
      </p:sp>
      <p:sp>
        <p:nvSpPr>
          <p:cNvPr id="11" name="limit-note">
            <a:extLst xmlns:a="http://schemas.openxmlformats.org/drawingml/2006/main">
              <a:ext uri="{FF2B5EF4-FFF2-40B4-BE49-F238E27FC236}">
                <a16:creationId xmlns:a16="http://schemas.microsoft.com/office/drawing/2014/main" id="{D21345D0-A00B-452A-ABD8-7F027C4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AB7F4D-B38D-4836-8D45-2B1F67D6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NOT MODELED IN THE CURRENT DATA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9C2B8F-239B-44E6-8052-B0CA8A37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Live crowd levels, closures, step-free accessibility and personalized walking speed. The code can parse a crowd factor, but the supplied OSM data has no live crowd multiplier.</a:t>
            </a:r>
          </a:p>
        </p:txBody>
      </p:sp>
    </p:spTree>
    <p:extLst>
      <p:ext uri="{BB962C8B-B14F-4D97-AF65-F5344CB8AC3E}">
        <p14:creationId xmlns:p14="http://schemas.microsoft.com/office/powerpoint/2010/main" val="21011721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6D86A5F-0876-406A-BD5D-69B39C4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F61473D-0C87-41D6-8220-92775E56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team and review handoff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BBE9A29-790C-4F78-A9BE-58FC88C7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304366-49EA-412F-81FC-3FD1A63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CAD20E-EF3D-4E95-BC20-1BF762FF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6CD656-3FE5-493B-9CB1-19378AD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20A3A4-8952-40D5-937D-CCFE1BCB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24BCE0819</a:t>
            </a:r>
          </a:p>
        </p:txBody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F57FB1D8-5E79-42D3-A3FF-DCD0176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33362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7DE2C3-9CF7-4B99-827C-BC7231F5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56530F-1346-4B68-8EAD-863430C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24BDS0117</a:t>
            </a:r>
          </a:p>
        </p:txBody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C225DBBA-EF72-49F1-AD16-058133BB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9527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C0F356-406E-4D7E-BFCD-24AB3FB6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D33864-FA41-4529-94F4-D31CF9B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24BCE0205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5306FE93-874A-4A4C-A0EF-717EE2C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571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4E0336-5716-4DAD-B28B-0348612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964B50-3415-4A23-BC74-B7DC26AA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004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24BKT0059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112837-321B-454B-BA65-5813BC4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WEB APP</a:t>
            </a:r>
          </a:p>
        </p:txBody>
      </p:sp>
      <p:sp>
        <p:nvSpPr>
          <p:cNvPr id="18" name="runweb">
            <a:extLst xmlns:a="http://schemas.openxmlformats.org/drawingml/2006/main">
              <a:ext uri="{FF2B5EF4-FFF2-40B4-BE49-F238E27FC236}">
                <a16:creationId xmlns:a16="http://schemas.microsoft.com/office/drawing/2014/main" id="{336DBB13-9DD8-4C85-8975-E422AC2C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BE2299-73CB-4DAB-A7DE-E320120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web_app.py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72B9476-BB76-4D4D-8F21-372D76AC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 http://127.0.0.1:8000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54B4885-EEB9-4FC1-9760-2081963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CLI</a:t>
            </a:r>
          </a:p>
        </p:txBody>
      </p:sp>
      <p:sp>
        <p:nvSpPr>
          <p:cNvPr id="22" name="runcli">
            <a:extLst xmlns:a="http://schemas.openxmlformats.org/drawingml/2006/main">
              <a:ext uri="{FF2B5EF4-FFF2-40B4-BE49-F238E27FC236}">
                <a16:creationId xmlns:a16="http://schemas.microsoft.com/office/drawing/2014/main" id="{998FEBC2-5ADD-4047-97D5-9131C375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90975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40C4472-1014-42AF-973B-993610D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C6D4416-17EB-4312-9383-DF020EC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911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3.10 or newer. Leaflet and map tiles need internet in the browser.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BA0B3D9-4B67-41A6-ABC4-F8A12A9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Map and tile attribution: OpenStreetMap contributors · Open Database License (ODbL)</a:t>
            </a:r>
          </a:p>
        </p:txBody>
      </p:sp>
    </p:spTree>
    <p:extLst>
      <p:ext uri="{BB962C8B-B14F-4D97-AF65-F5344CB8AC3E}">
        <p14:creationId xmlns:p14="http://schemas.microsoft.com/office/powerpoint/2010/main" val="1909549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2026-10-25T09:10:04.2970000Z</dcterms:created>
  <dcterms:modified xsi:type="dcterms:W3CDTF">2026-10-25T09:10:04.2970000Z</dcterms:modified>
</coreProperties>
</file>