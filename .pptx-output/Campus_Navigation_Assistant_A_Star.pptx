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7af045c8d940c9" /><Relationship Type="http://schemas.openxmlformats.org/officeDocument/2006/relationships/extended-properties" Target="/docProps/app.xml" Id="Rc1846bb6751a4601" /><Relationship Type="http://schemas.openxmlformats.org/officeDocument/2006/relationships/officeDocument" Target="/ppt/presentation.xml" Id="R0db258413ae348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a36a12fd0b4f6c"/>
  </p:sldMasterIdLst>
  <p:notesMasterIdLst>
    <p:notesMasterId xmlns:r="http://schemas.openxmlformats.org/officeDocument/2006/relationships" r:id="R9bdaddb7cdf2474e"/>
  </p:notesMasterIdLst>
  <p:sldIdLst>
    <p:sldId xmlns:r="http://schemas.openxmlformats.org/officeDocument/2006/relationships" id="256" r:id="R0f038f5a3eb2491c"/>
    <p:sldId xmlns:r="http://schemas.openxmlformats.org/officeDocument/2006/relationships" id="257" r:id="R459a8d4effb8483b"/>
    <p:sldId xmlns:r="http://schemas.openxmlformats.org/officeDocument/2006/relationships" id="258" r:id="R862643391a80497e"/>
    <p:sldId xmlns:r="http://schemas.openxmlformats.org/officeDocument/2006/relationships" id="259" r:id="Rde960ce5d1134585"/>
    <p:sldId xmlns:r="http://schemas.openxmlformats.org/officeDocument/2006/relationships" id="260" r:id="R145c7278693b46a8"/>
    <p:sldId xmlns:r="http://schemas.openxmlformats.org/officeDocument/2006/relationships" id="261" r:id="R36d72bb38de44ad4"/>
    <p:sldId xmlns:r="http://schemas.openxmlformats.org/officeDocument/2006/relationships" id="262" r:id="Re305ff37d916459a"/>
    <p:sldId xmlns:r="http://schemas.openxmlformats.org/officeDocument/2006/relationships" id="263" r:id="R128101a5eeb24c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5b4199820a4beb" /><Relationship Type="http://schemas.openxmlformats.org/officeDocument/2006/relationships/slideMaster" Target="/ppt/slideMasters/slideMaster1.xml" Id="Re7a36a12fd0b4f6c" /><Relationship Type="http://schemas.openxmlformats.org/officeDocument/2006/relationships/notesMaster" Target="/ppt/notesMasters/notesMaster1.xml" Id="R9bdaddb7cdf2474e" /><Relationship Type="http://schemas.openxmlformats.org/officeDocument/2006/relationships/presProps" Target="/ppt/presProps.xml" Id="Rdc80eff613ab42bd" /><Relationship Type="http://schemas.openxmlformats.org/officeDocument/2006/relationships/tableStyles" Target="/ppt/tableStyles.xml" Id="R1d27d4b4a9514f42" /><Relationship Type="http://schemas.openxmlformats.org/officeDocument/2006/relationships/slide" Target="/ppt/slides/slide1.xml" Id="R0f038f5a3eb2491c" /><Relationship Type="http://schemas.openxmlformats.org/officeDocument/2006/relationships/slide" Target="/ppt/slides/slide2.xml" Id="R459a8d4effb8483b" /><Relationship Type="http://schemas.openxmlformats.org/officeDocument/2006/relationships/slide" Target="/ppt/slides/slide3.xml" Id="R862643391a80497e" /><Relationship Type="http://schemas.openxmlformats.org/officeDocument/2006/relationships/slide" Target="/ppt/slides/slide4.xml" Id="Rde960ce5d1134585" /><Relationship Type="http://schemas.openxmlformats.org/officeDocument/2006/relationships/slide" Target="/ppt/slides/slide5.xml" Id="R145c7278693b46a8" /><Relationship Type="http://schemas.openxmlformats.org/officeDocument/2006/relationships/slide" Target="/ppt/slides/slide6.xml" Id="R36d72bb38de44ad4" /><Relationship Type="http://schemas.openxmlformats.org/officeDocument/2006/relationships/slide" Target="/ppt/slides/slide7.xml" Id="Re305ff37d916459a" /><Relationship Type="http://schemas.openxmlformats.org/officeDocument/2006/relationships/slide" Target="/ppt/slides/slide8.xml" Id="R128101a5eeb24c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ae932ac80549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6f4785161f452c" /><Relationship Type="http://schemas.openxmlformats.org/officeDocument/2006/relationships/notesMaster" Target="/ppt/notesMasters/notesMaster1.xml" Id="Rc31d28ec1a0d4a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7179bac76544b2" /><Relationship Type="http://schemas.openxmlformats.org/officeDocument/2006/relationships/notesMaster" Target="/ppt/notesMasters/notesMaster1.xml" Id="R16656f0ef3124a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2edd122fc44661" /><Relationship Type="http://schemas.openxmlformats.org/officeDocument/2006/relationships/notesMaster" Target="/ppt/notesMasters/notesMaster1.xml" Id="R4518350db1594e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1e697dca604c32" /><Relationship Type="http://schemas.openxmlformats.org/officeDocument/2006/relationships/notesMaster" Target="/ppt/notesMasters/notesMaster1.xml" Id="R8d816545b2e448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a7490b65434356" /><Relationship Type="http://schemas.openxmlformats.org/officeDocument/2006/relationships/notesMaster" Target="/ppt/notesMasters/notesMaster1.xml" Id="R303771a220de44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16f56509184f16" /><Relationship Type="http://schemas.openxmlformats.org/officeDocument/2006/relationships/notesMaster" Target="/ppt/notesMasters/notesMaster1.xml" Id="R67d4ceec0c7a40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c8eb3f5ff94bd1" /><Relationship Type="http://schemas.openxmlformats.org/officeDocument/2006/relationships/notesMaster" Target="/ppt/notesMasters/notesMaster1.xml" Id="R703016b7cb2f40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d5ad49b4de4aef" /><Relationship Type="http://schemas.openxmlformats.org/officeDocument/2006/relationships/notesMaster" Target="/ppt/notesMasters/notesMaster1.xml" Id="Rd49b701eec854a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Campus_Navigation_Proposal (2).pdf. Project title, course context, team names and review label are drawn from the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Campus_Navigation_Proposal (2).pdf. The proposal identifies inefficient campus navigation during short transitions and optional dynamic crowd factors.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Campus_Navigation_Proposal (2).pdf. The node layout and edge weights here are a conceptual illustration, not measured campus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Campus_Navigation_Proposal (2).pdf. A* score definition, Uniform Cost Search and Greedy Best-First Search relationship, and admissible Euclidean heuristic are described in the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Campus_Navigation_Proposal (2).pdf. The workflow summarizes the proposal’s inputs, A* technique, optional weights and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Campus_Navigation_Proposal (2).pdf. Crowd factors are optional proposal inputs. The data source and time-estimation formula are not specified.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Campus_Navigation_Proposal (2).pdf. The proposal names Dijkstra/UCS and BFS and specifies nodes expanded, computation time and total path cost. BFS measures edge count unless adapted to weighted costs.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Campus_Navigation_Proposal (2).pdf. Names, IDs and project title reproduced from the attached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3477f53e9d4c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b56f71d7874da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b552f73153439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a61ebbe24b429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e751232fbe46c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599f0865204c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87F2A8-039F-4AB7-89DA-280B9524EA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60AA666-96D5-4361-A478-69799B501D4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D4C5743-2950-41BC-946F-A0AEEB682F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095774-8D2B-4599-B3FD-60B5F3AFD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924CDB5-2284-43BF-B56B-137E531B8F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8986177-D061-4C44-B070-2310BA47EA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135CF4-A372-4129-974D-E376045285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F662498-79D4-4155-8C11-09816C1270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11FAAF-3924-4FC7-AF47-C20AABFE70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5131BE-FD38-4F73-BFED-87B15DC8FE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e5720b249f412a" /><Relationship Type="http://schemas.openxmlformats.org/officeDocument/2006/relationships/slideLayout" Target="/ppt/slideLayouts/slideLayout1.xml" Id="R7d0fcfce188245da" /><Relationship Type="http://schemas.openxmlformats.org/officeDocument/2006/relationships/slideLayout" Target="/ppt/slideLayouts/slideLayout2.xml" Id="R9ad228988f5746d4" /><Relationship Type="http://schemas.openxmlformats.org/officeDocument/2006/relationships/slideLayout" Target="/ppt/slideLayouts/slideLayout3.xml" Id="Rbbc2cfa765f346c5" /><Relationship Type="http://schemas.openxmlformats.org/officeDocument/2006/relationships/slideLayout" Target="/ppt/slideLayouts/slideLayout4.xml" Id="R239fa3a3650c4f85" /><Relationship Type="http://schemas.openxmlformats.org/officeDocument/2006/relationships/slideLayout" Target="/ppt/slideLayouts/slideLayout5.xml" Id="Rf87d498e4bdc4402" /><Relationship Type="http://schemas.openxmlformats.org/officeDocument/2006/relationships/slideLayout" Target="/ppt/slideLayouts/slideLayout6.xml" Id="R5c707b846e2343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0fcfce188245da"/>
    <p:sldLayoutId xmlns:r="http://schemas.openxmlformats.org/officeDocument/2006/relationships" id="2147483650" r:id="R9ad228988f5746d4"/>
    <p:sldLayoutId xmlns:r="http://schemas.openxmlformats.org/officeDocument/2006/relationships" id="2147483651" r:id="Rbbc2cfa765f346c5"/>
    <p:sldLayoutId xmlns:r="http://schemas.openxmlformats.org/officeDocument/2006/relationships" id="2147483652" r:id="R239fa3a3650c4f85"/>
    <p:sldLayoutId xmlns:r="http://schemas.openxmlformats.org/officeDocument/2006/relationships" id="2147483653" r:id="Rf87d498e4bdc4402"/>
    <p:sldLayoutId xmlns:r="http://schemas.openxmlformats.org/officeDocument/2006/relationships" id="2147483654" r:id="R5c707b846e2343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e908a27c63455c" /><Relationship Type="http://schemas.openxmlformats.org/officeDocument/2006/relationships/notesSlide" Target="/ppt/notesSlides/notesSlide1.xml" Id="Rf85011d003a642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9e631ab4754228" /><Relationship Type="http://schemas.openxmlformats.org/officeDocument/2006/relationships/notesSlide" Target="/ppt/notesSlides/notesSlide2.xml" Id="R09d18ac8468a49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26f4d844044fd3" /><Relationship Type="http://schemas.openxmlformats.org/officeDocument/2006/relationships/notesSlide" Target="/ppt/notesSlides/notesSlide3.xml" Id="R5fe84ab9ccb940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5849be9e754ced" /><Relationship Type="http://schemas.openxmlformats.org/officeDocument/2006/relationships/notesSlide" Target="/ppt/notesSlides/notesSlide4.xml" Id="Rf09bc44c517648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84acb8d3f94a2a" /><Relationship Type="http://schemas.openxmlformats.org/officeDocument/2006/relationships/notesSlide" Target="/ppt/notesSlides/notesSlide5.xml" Id="R57a8c5dc64484f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7ff3dd7dbf4bd1" /><Relationship Type="http://schemas.openxmlformats.org/officeDocument/2006/relationships/notesSlide" Target="/ppt/notesSlides/notesSlide6.xml" Id="R1e67daabe2e243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46193f65374970" /><Relationship Type="http://schemas.openxmlformats.org/officeDocument/2006/relationships/notesSlide" Target="/ppt/notesSlides/notesSlide7.xml" Id="Re7602d907ce54b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5c4b8f5a1241ab" /><Relationship Type="http://schemas.openxmlformats.org/officeDocument/2006/relationships/notesSlide" Target="/ppt/notesSlides/notesSlide8.xml" Id="Rb16775245e4d4f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accent">
            <a:extLst xmlns:a="http://schemas.openxmlformats.org/drawingml/2006/main">
              <a:ext uri="{FF2B5EF4-FFF2-40B4-BE49-F238E27FC236}">
                <a16:creationId xmlns:a16="http://schemas.microsoft.com/office/drawing/2014/main" id="{28871E82-576B-4D07-97E7-24CE4596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5B0DAA0-6102-492D-A144-9BA47794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ARTIFICIAL INTELLIGENCE  /  PROJECT PRESENTATION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79AA4E7-AF4C-4F0A-8062-9273299E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7334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Campus Navigation</a:t>
            </a:r>
          </a:p>
          <a:p xmlns:a="http://schemas.openxmlformats.org/drawingml/2006/main">
            <a: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Assistant using A*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49DEB09-3DFD-45EB-BD9E-18332E7C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An intelligent pedestrian route planner for university campuses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1C67B688-FA86-4510-870F-A6B578D9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5AA8C80-ADD7-4BA7-999D-7836C43D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TEAM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4D2AB55-CD85-47A1-99D4-87E81D35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Rohit Arya  ·  Nayan Gattani  ·  Aditya Kumar  ·  Ashish Kumar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3398796-2DA6-422F-BECB-E58110EA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Review 1</a:t>
            </a:r>
          </a:p>
        </p:txBody>
      </p:sp>
      <p:sp>
        <p:nvSpPr>
          <p:cNvPr id="9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2481247D-EABB-4D5B-95FE-736893A5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048750" y="4305300"/>
            <a:ext cx="81915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9D7C4"/>
            </a:solidFill>
            <a:prstDash val="solid"/>
          </a:ln>
        </p:spPr>
      </p:sp>
      <p:sp>
        <p:nvSpPr>
          <p:cNvPr id="10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42F411E3-610E-423D-A222-D5DCF645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67900" y="4305300"/>
            <a:ext cx="59055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9D7C4"/>
            </a:solidFill>
            <a:prstDash val="solid"/>
          </a:ln>
        </p:spPr>
      </p:sp>
      <p:sp>
        <p:nvSpPr>
          <p:cNvPr id="11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C47AFDCC-007B-48C0-89D3-28919A08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458450" y="3857625"/>
            <a:ext cx="628650" cy="1019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9D7C4"/>
            </a:solidFill>
            <a:prstDash val="solid"/>
          </a:ln>
        </p:spPr>
      </p:sp>
      <p:sp>
        <p:nvSpPr>
          <p:cNvPr id="12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933F0229-5F22-4131-85AD-B57584FC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63200" y="3143250"/>
            <a:ext cx="723900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9D7C4"/>
            </a:solidFill>
            <a:prstDash val="solid"/>
          </a:ln>
        </p:spPr>
      </p:sp>
      <p:sp>
        <p:nvSpPr>
          <p:cNvPr id="13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F753907B-36DB-49C2-8287-837FD46F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363200" y="2505075"/>
            <a:ext cx="99060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4754"/>
            </a:solidFill>
            <a:prstDash val="solid"/>
          </a:ln>
        </p:spPr>
      </p:sp>
      <p:sp>
        <p:nvSpPr>
          <p:cNvPr id="14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7B3C52EC-A9A2-4033-A678-C05637A2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410825" y="1790700"/>
            <a:ext cx="942975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4754"/>
            </a:solidFill>
            <a:prstDash val="solid"/>
          </a:ln>
        </p:spPr>
      </p:sp>
      <p:sp>
        <p:nvSpPr>
          <p:cNvPr id="15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E6847E2D-D0FD-4ACB-A47D-98DF57F7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401175" y="1790700"/>
            <a:ext cx="100965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4754"/>
            </a:solidFill>
            <a:prstDash val="solid"/>
          </a:ln>
        </p:spPr>
      </p:sp>
      <p:sp>
        <p:nvSpPr>
          <p:cNvPr id="16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09D22B29-B535-4365-98BA-3FEA922B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591550" y="2428875"/>
            <a:ext cx="809625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4754"/>
            </a:solidFill>
            <a:prstDash val="solid"/>
          </a:ln>
        </p:spPr>
      </p:sp>
      <p:sp>
        <p:nvSpPr>
          <p:cNvPr id="17" name="waypoint-0">
            <a:extLst xmlns:a="http://schemas.openxmlformats.org/drawingml/2006/main">
              <a:ext uri="{FF2B5EF4-FFF2-40B4-BE49-F238E27FC236}">
                <a16:creationId xmlns:a16="http://schemas.microsoft.com/office/drawing/2014/main" id="{ECBCBF28-35D1-49CD-8AB9-31FE9064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810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969"/>
          </a:solidFill>
          <a:ln xmlns:a="http://schemas.openxmlformats.org/drawingml/2006/main" w="19050">
            <a:solidFill>
              <a:srgbClr val="F3C969"/>
            </a:solidFill>
            <a:prstDash val="solid"/>
          </a:ln>
        </p:spPr>
      </p:sp>
      <p:sp>
        <p:nvSpPr>
          <p:cNvPr id="18" name="waypoint-1">
            <a:extLst xmlns:a="http://schemas.openxmlformats.org/drawingml/2006/main">
              <a:ext uri="{FF2B5EF4-FFF2-40B4-BE49-F238E27FC236}">
                <a16:creationId xmlns:a16="http://schemas.microsoft.com/office/drawing/2014/main" id="{B5764B85-9ABB-4CA8-9395-F88608A3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219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8"/>
          </a:solidFill>
          <a:ln xmlns:a="http://schemas.openxmlformats.org/drawingml/2006/main" w="19050">
            <a:solidFill>
              <a:srgbClr val="49D7C4"/>
            </a:solidFill>
            <a:prstDash val="solid"/>
          </a:ln>
        </p:spPr>
      </p:sp>
      <p:sp>
        <p:nvSpPr>
          <p:cNvPr id="19" name="waypoint-2">
            <a:extLst xmlns:a="http://schemas.openxmlformats.org/drawingml/2006/main">
              <a:ext uri="{FF2B5EF4-FFF2-40B4-BE49-F238E27FC236}">
                <a16:creationId xmlns:a16="http://schemas.microsoft.com/office/drawing/2014/main" id="{4CA1B344-170C-4B58-BAD7-2C694D7C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791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8"/>
          </a:solidFill>
          <a:ln xmlns:a="http://schemas.openxmlformats.org/drawingml/2006/main" w="19050">
            <a:solidFill>
              <a:srgbClr val="49D7C4"/>
            </a:solidFill>
            <a:prstDash val="solid"/>
          </a:ln>
        </p:spPr>
      </p:sp>
      <p:sp>
        <p:nvSpPr>
          <p:cNvPr id="20" name="waypoint-3">
            <a:extLst xmlns:a="http://schemas.openxmlformats.org/drawingml/2006/main">
              <a:ext uri="{FF2B5EF4-FFF2-40B4-BE49-F238E27FC236}">
                <a16:creationId xmlns:a16="http://schemas.microsoft.com/office/drawing/2014/main" id="{8C753FC5-3CAA-4E66-AFED-8CAA1244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771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8"/>
          </a:solidFill>
          <a:ln xmlns:a="http://schemas.openxmlformats.org/drawingml/2006/main" w="19050">
            <a:solidFill>
              <a:srgbClr val="49D7C4"/>
            </a:solidFill>
            <a:prstDash val="solid"/>
          </a:ln>
        </p:spPr>
      </p:sp>
      <p:sp>
        <p:nvSpPr>
          <p:cNvPr id="21" name="waypoint-4">
            <a:extLst xmlns:a="http://schemas.openxmlformats.org/drawingml/2006/main">
              <a:ext uri="{FF2B5EF4-FFF2-40B4-BE49-F238E27FC236}">
                <a16:creationId xmlns:a16="http://schemas.microsoft.com/office/drawing/2014/main" id="{3F083929-3F60-447B-B110-AF6ECC74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969"/>
          </a:solidFill>
          <a:ln xmlns:a="http://schemas.openxmlformats.org/drawingml/2006/main" w="19050">
            <a:solidFill>
              <a:srgbClr val="F3C969"/>
            </a:solidFill>
            <a:prstDash val="solid"/>
          </a:ln>
        </p:spPr>
      </p:sp>
      <p:sp>
        <p:nvSpPr>
          <p:cNvPr id="22" name="waypoint-5">
            <a:extLst xmlns:a="http://schemas.openxmlformats.org/drawingml/2006/main">
              <a:ext uri="{FF2B5EF4-FFF2-40B4-BE49-F238E27FC236}">
                <a16:creationId xmlns:a16="http://schemas.microsoft.com/office/drawing/2014/main" id="{B19C01D5-2E3B-452C-BBEB-85DA5760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2419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8"/>
          </a:solidFill>
          <a:ln xmlns:a="http://schemas.openxmlformats.org/drawingml/2006/main" w="19050">
            <a:solidFill>
              <a:srgbClr val="49D7C4"/>
            </a:solidFill>
            <a:prstDash val="solid"/>
          </a:ln>
        </p:spPr>
      </p:sp>
      <p:sp>
        <p:nvSpPr>
          <p:cNvPr id="23" name="waypoint-6">
            <a:extLst xmlns:a="http://schemas.openxmlformats.org/drawingml/2006/main">
              <a:ext uri="{FF2B5EF4-FFF2-40B4-BE49-F238E27FC236}">
                <a16:creationId xmlns:a16="http://schemas.microsoft.com/office/drawing/2014/main" id="{2CD6F1BC-9E0D-465E-A436-41414C1D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704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8"/>
          </a:solidFill>
          <a:ln xmlns:a="http://schemas.openxmlformats.org/drawingml/2006/main" w="19050">
            <a:solidFill>
              <a:srgbClr val="49D7C4"/>
            </a:solidFill>
            <a:prstDash val="solid"/>
          </a:ln>
        </p:spPr>
      </p:sp>
      <p:sp>
        <p:nvSpPr>
          <p:cNvPr id="24" name="waypoint-7">
            <a:extLst xmlns:a="http://schemas.openxmlformats.org/drawingml/2006/main">
              <a:ext uri="{FF2B5EF4-FFF2-40B4-BE49-F238E27FC236}">
                <a16:creationId xmlns:a16="http://schemas.microsoft.com/office/drawing/2014/main" id="{2126AF86-4BF4-4909-AE9A-1797A8D9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43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8"/>
          </a:solidFill>
          <a:ln xmlns:a="http://schemas.openxmlformats.org/drawingml/2006/main" w="19050">
            <a:solidFill>
              <a:srgbClr val="49D7C4"/>
            </a:solidFill>
            <a:prstDash val="solid"/>
          </a:ln>
        </p:spPr>
      </p:sp>
      <p:sp>
        <p:nvSpPr>
          <p:cNvPr id="25" name="waypoint-8">
            <a:extLst xmlns:a="http://schemas.openxmlformats.org/drawingml/2006/main">
              <a:ext uri="{FF2B5EF4-FFF2-40B4-BE49-F238E27FC236}">
                <a16:creationId xmlns:a16="http://schemas.microsoft.com/office/drawing/2014/main" id="{A9870CD2-ED07-499D-8F51-B06755DA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295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8"/>
          </a:solidFill>
          <a:ln xmlns:a="http://schemas.openxmlformats.org/drawingml/2006/main" w="19050">
            <a:solidFill>
              <a:srgbClr val="49D7C4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C5A4EC44-7312-415B-8088-BBA6F7EC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720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C5B09C4-0827-412A-BCD9-52EB0861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DESTINATION</a:t>
            </a:r>
          </a:p>
        </p:txBody>
      </p:sp>
    </p:spTree>
    <p:extLst>
      <p:ext uri="{BB962C8B-B14F-4D97-AF65-F5344CB8AC3E}">
        <p14:creationId xmlns:p14="http://schemas.microsoft.com/office/powerpoint/2010/main" val="1125480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DFB40B6-44A9-49DB-8D40-74AE83CB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73E5EE4-EB5F-47BD-8DBB-E934FF72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The campus route problem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A7BDCB-4707-4D04-8702-BA6FE609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BB6AF90-FF80-4E10-98CA-985DC64D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AI PROJECT  /  A* CAMPUS ROUTING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CDD0B36-C41D-48A7-8A80-DAB5243D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856"/>
          </a:bodyPr>
          <a:lstStyle xmlns:a="http://schemas.openxmlformats.org/drawingml/2006/main">
            <a:def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Students often have only a short window to move between distant buildings.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2265AA7-203D-4107-B2C8-84050F7F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762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A useful route must account for more than straight-line distance. The campus layout, path lengths and changing pedestrian conditions affect travel.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165A29E-12DA-4A64-B18C-F833C55D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304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Long distances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BE87A3E-CE4C-4DC6-B29E-8EC6A74F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Academic blocks may sit far apart across campus.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ABF7B15-06CC-46C3-8D36-158424FC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81400"/>
            <a:ext cx="304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Limited time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32587C0-4A99-42E0-9215-95C48047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0525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Class transitions leave little room for detours.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0421369-1ED2-4469-8590-DBE8F5F7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81400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Changing paths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F1A4D11-907E-4DF6-B264-50FD37E7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052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Crowds and uneven terrain can affect route cost.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97FD8AE-6CA2-459C-BE97-D738FE73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PROJECT GOAL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A3BEE27-013B-4796-81F9-DC3BE3BC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Find an efficient, time-aware walking route between any two campus landmarks.</a:t>
            </a:r>
          </a:p>
        </p:txBody>
      </p:sp>
    </p:spTree>
    <p:extLst>
      <p:ext uri="{BB962C8B-B14F-4D97-AF65-F5344CB8AC3E}">
        <p14:creationId xmlns:p14="http://schemas.microsoft.com/office/powerpoint/2010/main" val="16044860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6381303E-BC93-4008-A323-7EEB93CF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70AA76B-F05D-44F2-9F62-DF362B44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Campus modeled as a weighted graph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E45C0C3-781F-40CB-905D-83924E32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6E43110-B3E9-49FF-9925-02210430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AI PROJECT  /  A* CAMPUS ROUTING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81CB0B2-CEC3-4F8F-B39B-2AB8CB19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Buildings and landmarks become nodes. Walkable paths become weighted edges.</a:t>
            </a:r>
          </a:p>
        </p:txBody>
      </p:sp>
      <p:sp>
        <p:nvSpPr>
          <p:cNvPr id="6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0C66055B-5722-4730-9E3F-3D48E0F6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28750" y="2286000"/>
            <a:ext cx="200025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A42ACD9-AF14-4F32-BBFB-7F18489A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4955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FD1D31EB-0587-4A39-AC66-B4A56C4B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3048000"/>
            <a:ext cx="228600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082511C-20E4-43D1-AA07-1742DDD1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956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8C1B3061-3D06-40EB-B67E-80EBB428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29000" y="2286000"/>
            <a:ext cx="285750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F4A897C-1C99-4E53-8990-3C9BC85F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1146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B2E441F0-6A21-4D5F-A649-1F6D0C59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29000" y="2286000"/>
            <a:ext cx="238125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28CA9D1-0420-4E5B-BA02-1C62FE8D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955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43947447-6BFB-4469-9BC4-96A68130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714750" y="3048000"/>
            <a:ext cx="209550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5F1EBE6-3430-4545-BF89-83BECFC2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956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8D1107E6-CCA1-49DD-AA4A-00687F89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810250" y="2190750"/>
            <a:ext cx="2143125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CBA9238-3646-4DA6-B8D6-2415B738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5613" y="24479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ADC10F63-D954-4393-AD6E-FEE86CF0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10250" y="3048000"/>
            <a:ext cx="228600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AC07B89-9429-44FE-96DC-E7283D9F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909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69118083-964C-4DF9-A9FF-4976FFD6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53375" y="2190750"/>
            <a:ext cx="219075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3DCF35A-3A65-4ED0-BD25-1AED7BB5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431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51B39CCB-FF7C-45F3-858E-11E0513A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96250" y="3238500"/>
            <a:ext cx="2047875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A9C4726-215E-499F-B9AC-29533E14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36861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20202D3C-A719-4361-A5F5-02DA28CA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429000" y="2190750"/>
            <a:ext cx="452437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6F834FB-7EE4-44AB-B98B-D472A8E7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988" y="20669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6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8ECA5619-F1FB-45D0-802E-1775FD7F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14750" y="4286250"/>
            <a:ext cx="43815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EE9AB7BD-ECC2-4FDD-81AF-E828F666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100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" name="node-A">
            <a:extLst xmlns:a="http://schemas.openxmlformats.org/drawingml/2006/main">
              <a:ext uri="{FF2B5EF4-FFF2-40B4-BE49-F238E27FC236}">
                <a16:creationId xmlns:a16="http://schemas.microsoft.com/office/drawing/2014/main" id="{2C11B28A-B1E4-419C-B687-24634CDB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38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969"/>
          </a:solidFill>
          <a:ln xmlns:a="http://schemas.openxmlformats.org/drawingml/2006/main" w="19050">
            <a:solidFill>
              <a:srgbClr val="F3C969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9B0F6F0-C10E-43D2-B253-B6118D0A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527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0" name="node-B">
            <a:extLst xmlns:a="http://schemas.openxmlformats.org/drawingml/2006/main">
              <a:ext uri="{FF2B5EF4-FFF2-40B4-BE49-F238E27FC236}">
                <a16:creationId xmlns:a16="http://schemas.microsoft.com/office/drawing/2014/main" id="{EC004797-088F-4786-B75C-FCFFCB28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76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8"/>
          </a:solidFill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43819BF0-3608-4F8F-8772-D11841AB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907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2" name="node-C">
            <a:extLst xmlns:a="http://schemas.openxmlformats.org/drawingml/2006/main">
              <a:ext uri="{FF2B5EF4-FFF2-40B4-BE49-F238E27FC236}">
                <a16:creationId xmlns:a16="http://schemas.microsoft.com/office/drawing/2014/main" id="{0A519E03-2A2B-48EF-A9BA-517BE0CE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76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8"/>
          </a:solidFill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8E138A66-1224-4D33-9777-BDD6F1FE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910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4" name="node-D">
            <a:extLst xmlns:a="http://schemas.openxmlformats.org/drawingml/2006/main">
              <a:ext uri="{FF2B5EF4-FFF2-40B4-BE49-F238E27FC236}">
                <a16:creationId xmlns:a16="http://schemas.microsoft.com/office/drawing/2014/main" id="{5804B459-0E06-4A7D-9171-A79AAD4B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38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8"/>
          </a:solidFill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96CFCA02-F03F-4189-BB33-C3D64AA3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527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6" name="node-E">
            <a:extLst xmlns:a="http://schemas.openxmlformats.org/drawingml/2006/main">
              <a:ext uri="{FF2B5EF4-FFF2-40B4-BE49-F238E27FC236}">
                <a16:creationId xmlns:a16="http://schemas.microsoft.com/office/drawing/2014/main" id="{F2B3397E-6854-4580-B75F-CD1A14C9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981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8"/>
          </a:solidFill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6A2FAE29-758B-461D-A324-0EF72FCC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0955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38" name="node-F">
            <a:extLst xmlns:a="http://schemas.openxmlformats.org/drawingml/2006/main">
              <a:ext uri="{FF2B5EF4-FFF2-40B4-BE49-F238E27FC236}">
                <a16:creationId xmlns:a16="http://schemas.microsoft.com/office/drawing/2014/main" id="{B94AE7C3-DBE9-4D91-8E77-BB9DBFD2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67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8"/>
          </a:solidFill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1B4457F7-50E8-4BEB-B212-2A9CA78F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815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A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40" name="node-G">
            <a:extLst xmlns:a="http://schemas.openxmlformats.org/drawingml/2006/main">
              <a:ext uri="{FF2B5EF4-FFF2-40B4-BE49-F238E27FC236}">
                <a16:creationId xmlns:a16="http://schemas.microsoft.com/office/drawing/2014/main" id="{63C3C7F2-0A26-4DD3-B6A9-AE6CE51C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028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19050">
            <a:solidFill>
              <a:srgbClr val="49D7C4"/>
            </a:solidFill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95280541-083E-473F-9050-E70A01AB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1432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01D2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A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1C7BFA2E-89BB-4DE9-8D69-5AE6F774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861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ED253473-3D7A-4F2F-8BB0-A7B4CB2C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195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DESTINATION</a:t>
            </a:r>
          </a:p>
        </p:txBody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49CEA5E7-E05E-476A-918B-3EE1680C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Each edge weight represents the cost of walking that path. Optional crowd factors can adjust the cost.</a:t>
            </a:r>
          </a:p>
        </p:txBody>
      </p:sp>
    </p:spTree>
    <p:extLst>
      <p:ext uri="{BB962C8B-B14F-4D97-AF65-F5344CB8AC3E}">
        <p14:creationId xmlns:p14="http://schemas.microsoft.com/office/powerpoint/2010/main" val="10003434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C58A82B-7608-4621-AA08-BE522BAE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3FF25AA-2B90-460A-8E92-4145B379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368"/>
          </a:bodyPr>
          <a:lstStyle xmlns:a="http://schemas.openxmlformats.org/drawingml/2006/main">
            <a:def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A* balances distance already traveled with distance ahead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3CF420A-A978-4984-9145-6AC82064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751E07B-957E-4BE0-B58C-D8A582E5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AI PROJECT  /  A* CAMPUS ROUTING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38ADE7A-8E06-45C6-89C1-2774D229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For each candidate node n, A* evaluates: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3B65D66-BDFE-4F7E-A794-CA26738F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638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f(n) = g(n) + h(n)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D2D5DF6-C48F-443C-88A0-4F6F2608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g(n)  actual route cost from the source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77090F7-62E3-47A0-8491-964E623D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h(n)  estimated remaining cost to the goal</a:t>
            </a:r>
          </a:p>
        </p:txBody>
      </p:sp>
      <p:sp>
        <p:nvSpPr>
          <p:cNvPr id="9" name="separator">
            <a:extLst xmlns:a="http://schemas.openxmlformats.org/drawingml/2006/main">
              <a:ext uri="{FF2B5EF4-FFF2-40B4-BE49-F238E27FC236}">
                <a16:creationId xmlns:a16="http://schemas.microsoft.com/office/drawing/2014/main" id="{4E8B033D-ABF5-4C99-80F8-36F6EB3F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90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EDF9D7E-4384-42CD-AEEC-EED4721D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48125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The proposal uses Euclidean distance as an admissible heuristic. This guides the search toward the destination while preserving an optimal route when the heuristic does not overestimate.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2EAD9EE-22BB-4A10-866F-E73015A3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430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SEARCH PRIORITY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B75C6AE-B4F2-4ED3-A55A-3A738C7C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80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g(n)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1470066-79FB-4C77-A6B3-72D4EAA6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3431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cost so far</a:t>
            </a:r>
          </a:p>
        </p:txBody>
      </p:sp>
      <p:sp>
        <p:nvSpPr>
          <p:cNvPr id="14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11544120-8291-48E9-81EC-36F89A4F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58250" y="2914650"/>
            <a:ext cx="2524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261F682-9F80-428B-8823-5EE7FF4E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76600"/>
            <a:ext cx="80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8EEE3"/>
                </a:solidFill>
                <a:latin typeface="Arial"/>
                <a:ea typeface="Arial"/>
                <a:cs typeface="Arial"/>
              </a:rPr>
              <a:t>h(n)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9127382-591D-4482-BBF1-B64FFFE9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2956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estimated remaining cost</a:t>
            </a:r>
          </a:p>
        </p:txBody>
      </p:sp>
      <p:sp>
        <p:nvSpPr>
          <p:cNvPr id="17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6A207F7E-DCE1-43FD-95D8-6CB1A0D1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58250" y="3867150"/>
            <a:ext cx="2524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9184882-B8FC-45A4-8812-238EB08A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29100"/>
            <a:ext cx="80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f(n)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DBA4AD9-2960-42A9-8641-9ECF7480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2481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combined priority</a:t>
            </a:r>
          </a:p>
        </p:txBody>
      </p:sp>
    </p:spTree>
    <p:extLst>
      <p:ext uri="{BB962C8B-B14F-4D97-AF65-F5344CB8AC3E}">
        <p14:creationId xmlns:p14="http://schemas.microsoft.com/office/powerpoint/2010/main" val="20396892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A13A9275-8F12-4551-92CC-139B4C7B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4FD9F49-84B1-40AA-AA92-B8AF417B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Route planning workflow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51EB54B-2D89-4B46-9F23-658F7C51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CA19342-FCAE-4BCA-81B7-78C8BA42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AI PROJECT  /  A* CAMPUS ROUTING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90A4EB8-680D-47C2-8FB3-FB9A2E63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42372EDE-0C14-4C31-9CA4-E127996A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62075" y="17240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475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DE16044-9C1C-4B22-A9F8-44B058C1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5525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Choose start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FC9D28C-CF29-4B06-8B4D-91F3B670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62100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Select a source building or landmark.</a:t>
            </a:r>
          </a:p>
        </p:txBody>
      </p:sp>
      <p:sp>
        <p:nvSpPr>
          <p:cNvPr id="9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78EB952F-A860-4B1A-B2B4-20E773DB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1550" y="1971675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4754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3C68F8C-667B-44AB-8A8D-541E3EE8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923E6641-BA93-43A0-AD43-C6F8501A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62075" y="25908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4754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1B35405-AC12-49F3-A9F6-C120069E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4193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Choose destination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7184243-6570-4753-A7CC-0EB1C4A9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2887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Select the goal landmark.</a:t>
            </a:r>
          </a:p>
        </p:txBody>
      </p:sp>
      <p:sp>
        <p:nvSpPr>
          <p:cNvPr id="14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1BCC7A90-B0E7-4E99-A28E-220945FE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1550" y="28384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4754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805B54C-1D2F-4EF2-9E4C-F388877D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EF791559-0074-4C2B-AB28-097DDB5E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62075" y="34575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4754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F9187C5-9F39-4DE0-8386-C4ADE9E9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861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Build route costs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59405A7-3A91-4DC7-BAD8-1F1AEB79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95650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Use path weights and optional crowd factors.</a:t>
            </a:r>
          </a:p>
        </p:txBody>
      </p:sp>
      <p:sp>
        <p:nvSpPr>
          <p:cNvPr id="19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BA82F798-4347-4097-AE37-203B1229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1550" y="3705225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4754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506BB39-6C34-461D-88F5-1E812493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F275110D-F236-4F30-9605-88794841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62075" y="43243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4754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788AB6E-5C18-4C35-A3D4-3E1A477E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1529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Run A*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D73AC0B-CFDA-4657-BCA5-F5A709AE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6242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Expand promising nodes using g(n) + h(n).</a:t>
            </a:r>
          </a:p>
        </p:txBody>
      </p:sp>
      <p:sp>
        <p:nvSpPr>
          <p:cNvPr id="24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F78F4174-DB69-4198-8F60-35D8BBA5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1550" y="457200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4754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DBC34BB-DD3E-4B5F-B1DF-FA61E310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745A25A9-8CAB-4121-A40B-232863AB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62075" y="51911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4754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B688F84E-3BC5-4A19-B639-BF2A2455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196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Return route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631577E3-7855-41A3-A113-DFC8294D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29200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Show checkpoints, distance and estimated time.</a:t>
            </a:r>
          </a:p>
        </p:txBody>
      </p:sp>
    </p:spTree>
    <p:extLst>
      <p:ext uri="{BB962C8B-B14F-4D97-AF65-F5344CB8AC3E}">
        <p14:creationId xmlns:p14="http://schemas.microsoft.com/office/powerpoint/2010/main" val="8656877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F32382E-5E94-46E1-A838-EA1DA117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218861E-E0C3-42B6-A819-C8549DC5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Inputs and route results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5EB345F-DC61-4769-916D-32DFF6C3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DDA10AC-3144-465A-82DC-BAB2FD3C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AI PROJECT  /  A* CAMPUS ROUTING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36DC6C6-0AB1-454D-B670-519C7B5F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FE238E1-A632-4278-B2B1-7E2A8302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38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E1AE503-D3E1-4B5F-A465-ED67DEF9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Starting point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D9A5FF5-0825-4D47-9B97-DF2EFB60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Building or campus landmark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02951C6-BB50-4D8C-A7C5-43966F20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Destination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85B4225-9089-4EE9-BAD7-B65C11E6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Building or campus landmark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FBFCCA7-9D29-49A1-8B50-D6E26A96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Optional route context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DEF9CA9-4744-4B45-B27D-30082F38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Pedestrian crowd factors can change path weights.</a:t>
            </a:r>
          </a:p>
        </p:txBody>
      </p:sp>
      <p:sp>
        <p:nvSpPr>
          <p:cNvPr id="13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4A805251-BE19-4EAF-A182-A1C05CDA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24500" y="2238375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9D7C4"/>
            </a:solidFill>
            <a:prstDash val="solid"/>
          </a:ln>
        </p:spPr>
      </p:sp>
      <p:sp>
        <p:nvSpPr>
          <p:cNvPr id="14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64C51709-945F-4025-9438-C94EE735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19800" y="2076450"/>
            <a:ext cx="1714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9D7C4"/>
            </a:solidFill>
            <a:prstDash val="solid"/>
          </a:ln>
        </p:spPr>
      </p:sp>
      <p:sp>
        <p:nvSpPr>
          <p:cNvPr id="15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76C5329C-ECEC-4B58-A7FA-49A18E09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19800" y="2238375"/>
            <a:ext cx="1714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9D7C4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33CF7B6-896F-4671-BA26-0DB69140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955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Recommended path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DA836A0-DD96-4EE8-BDC3-0D070F44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955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Ordered checkpoints and walkways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0F37A14-A309-43B3-957B-4E96ED4B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813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Estimated distance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3B8C6AB-3421-4F2D-8CFF-F0BC022A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814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Total path cost for the selected route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D5B0C74-B04D-4990-BE1E-DE72BE40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672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Estimated time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47ED994-9888-44B3-8FC3-9899D67A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672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Walking-time estimate for the route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8C9A68D-311A-4E95-B1B5-185EEEFE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The proposal specifies distance and time outputs. It does not define a particular live crowd-data source.</a:t>
            </a:r>
          </a:p>
        </p:txBody>
      </p:sp>
    </p:spTree>
    <p:extLst>
      <p:ext uri="{BB962C8B-B14F-4D97-AF65-F5344CB8AC3E}">
        <p14:creationId xmlns:p14="http://schemas.microsoft.com/office/powerpoint/2010/main" val="7658933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6A57F7E-7AEF-4BF6-82DF-95503A58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18B669D-7B1F-4E24-8DB2-4C3DA939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Evaluation against Dijkstra and BFS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ACD74F4-960B-4665-ACCE-6C07DB8C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7F1A37E-510A-4F5C-A4FA-6EC990B7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AI PROJECT  /  A* CAMPUS ROUTING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7977E56-6E15-4BFE-A1C1-A9914843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The experiment compares A* with two search baselines on the same campus graph.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85DC073-38AC-411F-9D9C-DF60CFF9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ALGORITHM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45AE3F1-5529-4EF5-AECA-F7AADA1B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76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SEARCH APPROACH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B71EC7B-003B-4E53-9AF1-50A206AF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76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WHAT THE COMPARISON SHOWS</a:t>
            </a:r>
          </a:p>
        </p:txBody>
      </p:sp>
      <p:sp>
        <p:nvSpPr>
          <p:cNvPr id="9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3F049B7B-C486-4A59-B76E-6BCB141E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2562225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2942E73-C7D8-49BF-AF3D-C1D0AE79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A*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A5F5D9D-B20E-4E92-877E-4B6AE4D0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051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Uses route cost plus heuristic look-ahead.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3F6113B-A475-4301-8821-2FBFBDFF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051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Goal-directed search with route cost.</a:t>
            </a:r>
          </a:p>
        </p:txBody>
      </p:sp>
      <p:sp>
        <p:nvSpPr>
          <p:cNvPr id="13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84F87932-1212-41E5-A5E5-8DFDC9E4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3343275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87D3A38-1C05-464A-A44A-E9E32B1E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Dijkstra / UCS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9F024BB-F6A5-4FFB-B99C-CAC29C2F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86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Uses accumulated path cost.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8B52A45-C50D-44A0-AB94-07F3BD40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86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Uniform-cost shortest-path baseline.</a:t>
            </a:r>
          </a:p>
        </p:txBody>
      </p:sp>
      <p:sp>
        <p:nvSpPr>
          <p:cNvPr id="17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DCE69CF3-6E2B-4D7F-97F9-BA2B6F90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4124325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6FEEEBC-0EAC-4DC1-90D5-E70067F9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BFS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AB27F7F-3F01-4C18-A423-86A61A98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672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Explores by number of edges.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8E2AA8D-16AE-4B06-9A05-577B53BF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672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Baseline for unweighted hop count.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5BFAB64-9C19-419D-A0E0-14E6D9DC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MEASURES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A78B154-F302-4A0E-BB3F-626F8D83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Nodes expanded     Computation time     Total path cost (distance)</a:t>
            </a:r>
          </a:p>
        </p:txBody>
      </p:sp>
    </p:spTree>
    <p:extLst>
      <p:ext uri="{BB962C8B-B14F-4D97-AF65-F5344CB8AC3E}">
        <p14:creationId xmlns:p14="http://schemas.microsoft.com/office/powerpoint/2010/main" val="10196688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DF9F8B3-D984-41D2-8D48-13EA99D8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CAMPUS NAVIGATION ASSISTANT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34D01CA-2CF7-4217-8801-156C417B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Project team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C06C85F-8F79-4D33-AC62-A26AF4EE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6869567-7072-4797-B29B-34B17CC0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AI PROJECT  /  A* CAMPUS ROUTING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24CB689-6A18-4074-832D-7C7F15CE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Campus Navigation Assistant using A*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524B1FC-78F0-4C70-BF1D-8FCB920A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86BC8DC-DA24-4D10-BB22-A83BD069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62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Rohit Arya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3BA6C6E-9FAF-4063-8B81-A5CE3E0E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81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24BCE0819</a:t>
            </a:r>
          </a:p>
        </p:txBody>
      </p:sp>
      <p:sp>
        <p:nvSpPr>
          <p:cNvPr id="9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864896EE-ABCD-4311-8533-8724E101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47800" y="2838450"/>
            <a:ext cx="712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F3EB894-99B9-49AB-BDC1-F2A58FD5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71E0922-451C-41B3-B0BE-1E7E91C3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61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Nayan Gattani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109B5D2-AA3F-4F06-87DA-EA2B3518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05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24BDS0117</a:t>
            </a:r>
          </a:p>
        </p:txBody>
      </p:sp>
      <p:sp>
        <p:nvSpPr>
          <p:cNvPr id="13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2BCA7FE1-9463-46AD-8C96-72C775E2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47800" y="3562350"/>
            <a:ext cx="712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3106C0E-D995-4C23-BBD9-ABEE593F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F9EADE9-F1D3-44D7-9AF9-E87B198D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10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Aditya Kumar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79DB5C7-2520-4643-9D85-80B52549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29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24BCE0205</a:t>
            </a:r>
          </a:p>
        </p:txBody>
      </p:sp>
      <p:sp>
        <p:nvSpPr>
          <p:cNvPr id="17" name="path-segment">
            <a:extLst xmlns:a="http://schemas.openxmlformats.org/drawingml/2006/main">
              <a:ext uri="{FF2B5EF4-FFF2-40B4-BE49-F238E27FC236}">
                <a16:creationId xmlns:a16="http://schemas.microsoft.com/office/drawing/2014/main" id="{CEC22F2E-C1DB-4C52-B1AC-89B3B648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47800" y="4286250"/>
            <a:ext cx="712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190F985-EF19-47AE-88F9-A2BDEF41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BAC82B2-356D-4991-AC02-0264ECED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339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Ashish Kumar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C329502-8EE0-4B7B-A5C4-2118FC28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52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24BKT0059</a:t>
            </a:r>
          </a:p>
        </p:txBody>
      </p:sp>
      <p:sp>
        <p:nvSpPr>
          <p:cNvPr id="21" name="close-rule">
            <a:extLst xmlns:a="http://schemas.openxmlformats.org/drawingml/2006/main">
              <a:ext uri="{FF2B5EF4-FFF2-40B4-BE49-F238E27FC236}">
                <a16:creationId xmlns:a16="http://schemas.microsoft.com/office/drawing/2014/main" id="{C328AC0E-8FC6-46D0-A378-B992A0CE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476A757-D71E-4E3F-A88F-9EEF8F53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Project focus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133EB62-4D50-480E-BFC8-23012C86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977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Use A* to find efficient pedestrian routes between campus landmarks, then evaluate search efficiency and path cost.</a:t>
            </a:r>
          </a:p>
        </p:txBody>
      </p:sp>
    </p:spTree>
    <p:extLst>
      <p:ext uri="{BB962C8B-B14F-4D97-AF65-F5344CB8AC3E}">
        <p14:creationId xmlns:p14="http://schemas.microsoft.com/office/powerpoint/2010/main" val="4505661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2026-10-25T09:03:28.8440000Z</dcterms:created>
  <dcterms:modified xsi:type="dcterms:W3CDTF">2026-10-25T09:03:28.8440000Z</dcterms:modified>
</coreProperties>
</file>