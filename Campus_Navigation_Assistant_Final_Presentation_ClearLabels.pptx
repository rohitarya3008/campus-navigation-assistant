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099229883649ce" /><Relationship Type="http://schemas.openxmlformats.org/officeDocument/2006/relationships/extended-properties" Target="/docProps/app.xml" Id="Rd0e998da05bd49be" /><Relationship Type="http://schemas.openxmlformats.org/officeDocument/2006/relationships/officeDocument" Target="/ppt/presentation.xml" Id="R62e6cc0239544b3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25c035ca0cb4cef"/>
  </p:sldMasterIdLst>
  <p:notesMasterIdLst>
    <p:notesMasterId xmlns:r="http://schemas.openxmlformats.org/officeDocument/2006/relationships" r:id="Rf2886052eacb41e6"/>
  </p:notesMasterIdLst>
  <p:sldIdLst>
    <p:sldId xmlns:r="http://schemas.openxmlformats.org/officeDocument/2006/relationships" id="256" r:id="R6a8f637a2d2148e9"/>
    <p:sldId xmlns:r="http://schemas.openxmlformats.org/officeDocument/2006/relationships" id="257" r:id="Rb76288b9e18b43a8"/>
    <p:sldId xmlns:r="http://schemas.openxmlformats.org/officeDocument/2006/relationships" id="258" r:id="Rd5847454baa74a72"/>
    <p:sldId xmlns:r="http://schemas.openxmlformats.org/officeDocument/2006/relationships" id="259" r:id="R41c46593193543ec"/>
    <p:sldId xmlns:r="http://schemas.openxmlformats.org/officeDocument/2006/relationships" id="260" r:id="R2b87ba9b1f014e02"/>
    <p:sldId xmlns:r="http://schemas.openxmlformats.org/officeDocument/2006/relationships" id="261" r:id="R0a504041577d4c6e"/>
    <p:sldId xmlns:r="http://schemas.openxmlformats.org/officeDocument/2006/relationships" id="262" r:id="Rd4413583426f4280"/>
    <p:sldId xmlns:r="http://schemas.openxmlformats.org/officeDocument/2006/relationships" id="263" r:id="R077ea8e2ebed42f7"/>
    <p:sldId xmlns:r="http://schemas.openxmlformats.org/officeDocument/2006/relationships" id="264" r:id="R0d455ef500e540ba"/>
    <p:sldId xmlns:r="http://schemas.openxmlformats.org/officeDocument/2006/relationships" id="265" r:id="R440f1227062847a2"/>
    <p:sldId xmlns:r="http://schemas.openxmlformats.org/officeDocument/2006/relationships" id="266" r:id="Rf33bfedb462a492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88357fa8f424a41" /><Relationship Type="http://schemas.openxmlformats.org/officeDocument/2006/relationships/slideMaster" Target="/ppt/slideMasters/slideMaster1.xml" Id="R925c035ca0cb4cef" /><Relationship Type="http://schemas.openxmlformats.org/officeDocument/2006/relationships/notesMaster" Target="/ppt/notesMasters/notesMaster1.xml" Id="Rf2886052eacb41e6" /><Relationship Type="http://schemas.openxmlformats.org/officeDocument/2006/relationships/presProps" Target="/ppt/presProps.xml" Id="R7bca7ec25e5244d5" /><Relationship Type="http://schemas.openxmlformats.org/officeDocument/2006/relationships/tableStyles" Target="/ppt/tableStyles.xml" Id="R30f63b0d00ae45f5" /><Relationship Type="http://schemas.openxmlformats.org/officeDocument/2006/relationships/slide" Target="/ppt/slides/slide1.xml" Id="R6a8f637a2d2148e9" /><Relationship Type="http://schemas.openxmlformats.org/officeDocument/2006/relationships/slide" Target="/ppt/slides/slide2.xml" Id="Rb76288b9e18b43a8" /><Relationship Type="http://schemas.openxmlformats.org/officeDocument/2006/relationships/slide" Target="/ppt/slides/slide3.xml" Id="Rd5847454baa74a72" /><Relationship Type="http://schemas.openxmlformats.org/officeDocument/2006/relationships/slide" Target="/ppt/slides/slide4.xml" Id="R41c46593193543ec" /><Relationship Type="http://schemas.openxmlformats.org/officeDocument/2006/relationships/slide" Target="/ppt/slides/slide5.xml" Id="R2b87ba9b1f014e02" /><Relationship Type="http://schemas.openxmlformats.org/officeDocument/2006/relationships/slide" Target="/ppt/slides/slide6.xml" Id="R0a504041577d4c6e" /><Relationship Type="http://schemas.openxmlformats.org/officeDocument/2006/relationships/slide" Target="/ppt/slides/slide7.xml" Id="Rd4413583426f4280" /><Relationship Type="http://schemas.openxmlformats.org/officeDocument/2006/relationships/slide" Target="/ppt/slides/slide8.xml" Id="R077ea8e2ebed42f7" /><Relationship Type="http://schemas.openxmlformats.org/officeDocument/2006/relationships/slide" Target="/ppt/slides/slide9.xml" Id="R0d455ef500e540ba" /><Relationship Type="http://schemas.openxmlformats.org/officeDocument/2006/relationships/slide" Target="/ppt/slides/slide10.xml" Id="R440f1227062847a2" /><Relationship Type="http://schemas.openxmlformats.org/officeDocument/2006/relationships/slide" Target="/ppt/slides/slide11.xml" Id="Rf33bfedb462a492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ccfc123e2804b1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b75ee6ef27a4342" /><Relationship Type="http://schemas.openxmlformats.org/officeDocument/2006/relationships/notesMaster" Target="/ppt/notesMasters/notesMaster1.xml" Id="R2896ec695556452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6534e9ec0c145b5" /><Relationship Type="http://schemas.openxmlformats.org/officeDocument/2006/relationships/notesMaster" Target="/ppt/notesMasters/notesMaster1.xml" Id="R39b849b45f7340f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81d55d25bba4cf0" /><Relationship Type="http://schemas.openxmlformats.org/officeDocument/2006/relationships/notesMaster" Target="/ppt/notesMasters/notesMaster1.xml" Id="R98fe74cfa498426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21b56ef0cdf4c81" /><Relationship Type="http://schemas.openxmlformats.org/officeDocument/2006/relationships/notesMaster" Target="/ppt/notesMasters/notesMaster1.xml" Id="Ra8229c37e5f042c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932c60118ab440b" /><Relationship Type="http://schemas.openxmlformats.org/officeDocument/2006/relationships/notesMaster" Target="/ppt/notesMasters/notesMaster1.xml" Id="R9202a7771baf444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3b44a2f86e344d7" /><Relationship Type="http://schemas.openxmlformats.org/officeDocument/2006/relationships/notesMaster" Target="/ppt/notesMasters/notesMaster1.xml" Id="R3092507052894d7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4ad234b411b468a" /><Relationship Type="http://schemas.openxmlformats.org/officeDocument/2006/relationships/notesMaster" Target="/ppt/notesMasters/notesMaster1.xml" Id="R08861ff6e6c74df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d65a1dc2d5947d1" /><Relationship Type="http://schemas.openxmlformats.org/officeDocument/2006/relationships/notesMaster" Target="/ppt/notesMasters/notesMaster1.xml" Id="R96cdb64c3b78480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afc9acf13b9447f" /><Relationship Type="http://schemas.openxmlformats.org/officeDocument/2006/relationships/notesMaster" Target="/ppt/notesMasters/notesMaster1.xml" Id="Rf39b108a551e48a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9e1f7e2d2bd4e6e" /><Relationship Type="http://schemas.openxmlformats.org/officeDocument/2006/relationships/notesMaster" Target="/ppt/notesMasters/notesMaster1.xml" Id="R9f46ba53e8d349c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f1e9c9ee8444ae0" /><Relationship Type="http://schemas.openxmlformats.org/officeDocument/2006/relationships/notesMaster" Target="/ppt/notesMasters/notesMaster1.xml" Id="R1f05ff747a5f45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README.md; Campus_Navigation_Proposal (2).pdf. The cover uses the proposal title and team names; the implementation framing comes from the project README.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README.md; web_app.py; campus_nav.py; index.html; campus_map.json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campus_map.json; build_osm_map.py; README.md. Counts were read from the included JSON map and route CLI output. The README’s approximate count is slightly different because OSM extracts can change.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build_osm_map.py; campus_map.json; campus_nav.py. The diagram is illustrative. Building entrances and connectors are approximate, not surveyed.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campus_nav.py; README.md; test_campus_nav.py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campus_nav.py; README.md; test_campus_nav.py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index.html; web_app.py;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README.md; campus_nav.py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campus_nav.py; campus_map.json. Values captured by running the documented default command during presentation preparation. Times are a single run and should not be treated as benchmarks.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README.md; campus_nav.py; build_osm_map.py; test_campus_nav.py; campus_map.json. Crowd scenarios are explicit cost multipliers and are recalculated by all three search methods.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README.md; Campus_Navigation_Proposal (2).pdf; campus_map.json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d0901528864b8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48a85fd5394db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6b3880bf2c4ec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0672654cb444c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f6eadce87247b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e1cea04d28413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58ABC5F-9D1F-4851-852E-6F742CB54E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B8A6B05-BFC7-40B0-A21A-FD8A6DA5CF1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A57C867-AC3C-4622-916E-7D4CB7CA3C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8FF6BD5-6C02-47AB-A2AF-C231921215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D576314-486B-4B6B-9F16-104B0684D3F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FB52B6C-FCE2-4658-8B19-A45DA7A20E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C53B7CA-BA5D-42F4-82EE-2B75A974B26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31C108E-751D-4D83-9FE6-CE9504C1BCE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07BC4C6-FF80-41E1-9B43-4A1BC4F17D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C4A97D4-99C7-40ED-9969-E1E1A2C85E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e3688a26d6b42ed" /><Relationship Type="http://schemas.openxmlformats.org/officeDocument/2006/relationships/slideLayout" Target="/ppt/slideLayouts/slideLayout1.xml" Id="R71c3dba39bdc4b3a" /><Relationship Type="http://schemas.openxmlformats.org/officeDocument/2006/relationships/slideLayout" Target="/ppt/slideLayouts/slideLayout2.xml" Id="R1eabfda365694505" /><Relationship Type="http://schemas.openxmlformats.org/officeDocument/2006/relationships/slideLayout" Target="/ppt/slideLayouts/slideLayout3.xml" Id="Re1b7843752334b05" /><Relationship Type="http://schemas.openxmlformats.org/officeDocument/2006/relationships/slideLayout" Target="/ppt/slideLayouts/slideLayout4.xml" Id="R640b3a526b9f49c9" /><Relationship Type="http://schemas.openxmlformats.org/officeDocument/2006/relationships/slideLayout" Target="/ppt/slideLayouts/slideLayout5.xml" Id="Rd8b082cd8dd0411e" /><Relationship Type="http://schemas.openxmlformats.org/officeDocument/2006/relationships/slideLayout" Target="/ppt/slideLayouts/slideLayout6.xml" Id="R141fe9061a79400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c3dba39bdc4b3a"/>
    <p:sldLayoutId xmlns:r="http://schemas.openxmlformats.org/officeDocument/2006/relationships" id="2147483650" r:id="R1eabfda365694505"/>
    <p:sldLayoutId xmlns:r="http://schemas.openxmlformats.org/officeDocument/2006/relationships" id="2147483651" r:id="Re1b7843752334b05"/>
    <p:sldLayoutId xmlns:r="http://schemas.openxmlformats.org/officeDocument/2006/relationships" id="2147483652" r:id="R640b3a526b9f49c9"/>
    <p:sldLayoutId xmlns:r="http://schemas.openxmlformats.org/officeDocument/2006/relationships" id="2147483653" r:id="Rd8b082cd8dd0411e"/>
    <p:sldLayoutId xmlns:r="http://schemas.openxmlformats.org/officeDocument/2006/relationships" id="2147483654" r:id="R141fe9061a79400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b7191c26384fb5" /><Relationship Type="http://schemas.openxmlformats.org/officeDocument/2006/relationships/notesSlide" Target="/ppt/notesSlides/notesSlide1.xml" Id="R6ba0351661f74e8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c0888a89d94406" /><Relationship Type="http://schemas.openxmlformats.org/officeDocument/2006/relationships/notesSlide" Target="/ppt/notesSlides/notesSlide2.xml" Id="R098a89ba5b1c46d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d4f241159a48ff" /><Relationship Type="http://schemas.openxmlformats.org/officeDocument/2006/relationships/notesSlide" Target="/ppt/notesSlides/notesSlide3.xml" Id="R91f1cdcfe087486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efd2e720244f5e" /><Relationship Type="http://schemas.openxmlformats.org/officeDocument/2006/relationships/notesSlide" Target="/ppt/notesSlides/notesSlide4.xml" Id="Re6221a4ef7b9493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7e06e91b704470" /><Relationship Type="http://schemas.openxmlformats.org/officeDocument/2006/relationships/notesSlide" Target="/ppt/notesSlides/notesSlide5.xml" Id="R4d0862e0352c4a6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8a44c37b194c35" /><Relationship Type="http://schemas.openxmlformats.org/officeDocument/2006/relationships/notesSlide" Target="/ppt/notesSlides/notesSlide6.xml" Id="Rc2d753a9b9c5404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cf171a922c48ec" /><Relationship Type="http://schemas.openxmlformats.org/officeDocument/2006/relationships/notesSlide" Target="/ppt/notesSlides/notesSlide7.xml" Id="R1109fd206743432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dac87901e14650" /><Relationship Type="http://schemas.openxmlformats.org/officeDocument/2006/relationships/notesSlide" Target="/ppt/notesSlides/notesSlide8.xml" Id="Refefa67dd058429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b9475445824ab0" /><Relationship Type="http://schemas.openxmlformats.org/officeDocument/2006/relationships/notesSlide" Target="/ppt/notesSlides/notesSlide9.xml" Id="R9e0a1c502aa640c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5a6a2268da4427" /><Relationship Type="http://schemas.openxmlformats.org/officeDocument/2006/relationships/notesSlide" Target="/ppt/notesSlides/notesSlide10.xml" Id="R844b49337eee425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14d26e8900489d" /><Relationship Type="http://schemas.openxmlformats.org/officeDocument/2006/relationships/notesSlide" Target="/ppt/notesSlides/notesSlide11.xml" Id="R37a3ebca6cde4ed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D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74B0D6B4-0ABB-41B0-9B21-688F3F7C1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D7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626ED5F3-64EE-4068-9C75-D810DC456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6750"/>
            <a:ext cx="7334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ARTIFICIAL INTELLIGENCE  /  PROJECT PRESENTATION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D51A1FB6-AB81-42DC-AD28-8B38FE356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71600"/>
            <a:ext cx="7429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2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42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42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42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42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42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42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42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42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42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2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Campus Navigation</a:t>
            </a:r>
          </a:p>
          <a:p xmlns:a="http://schemas.openxmlformats.org/drawingml/2006/main">
            <a:pPr algn="l">
              <a:defRPr sz="42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Assistant using A*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91EC2F6-4C45-4368-BDB3-AD6491461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A working pedestrian route planner for VIT Vellore</a:t>
            </a:r>
          </a:p>
        </p:txBody>
      </p:sp>
      <p:sp>
        <p:nvSpPr>
          <p:cNvPr id="5" name="divider">
            <a:extLst xmlns:a="http://schemas.openxmlformats.org/drawingml/2006/main">
              <a:ext uri="{FF2B5EF4-FFF2-40B4-BE49-F238E27FC236}">
                <a16:creationId xmlns:a16="http://schemas.microsoft.com/office/drawing/2014/main" id="{7943E1EB-2FA7-4B4B-9A8E-9AC67CC8A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D7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B11C9FA-E271-4E86-A0AE-357E7B28B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005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PROJECT TEAM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C82F841-67CF-4F58-A9B1-702E16EFE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1E8"/>
                </a:solidFill>
                <a:latin typeface="Arial"/>
                <a:ea typeface="Arial"/>
                <a:cs typeface="Arial"/>
              </a:rPr>
              <a:t>Rohit Arya   ·   Nayan Gattani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661D864-B28F-4F7C-BEBE-41A606ED6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1E8"/>
                </a:solidFill>
                <a:latin typeface="Arial"/>
                <a:ea typeface="Arial"/>
                <a:cs typeface="Arial"/>
              </a:rPr>
              <a:t>Aditya Kumar   ·   Ashish Kumar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43B1179-2762-4373-A4D7-3C0B42DA9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43600"/>
            <a:ext cx="342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9B8BE"/>
                </a:solidFill>
                <a:latin typeface="Arial"/>
                <a:ea typeface="Arial"/>
                <a:cs typeface="Arial"/>
              </a:rPr>
              <a:t>Review 2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8467770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D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9C11C5D3-FDA2-4A96-84A3-AFD4B880E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CAMPUS NAVIGATION ASSISTANT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FCFE2C90-0A87-4F1F-B665-81DFC793E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What the project now includes</a:t>
            </a:r>
          </a:p>
        </p:txBody>
      </p:sp>
      <p:sp>
        <p:nvSpPr>
          <p:cNvPr id="3" name="footer-line">
            <a:extLst xmlns:a="http://schemas.openxmlformats.org/drawingml/2006/main">
              <a:ext uri="{FF2B5EF4-FFF2-40B4-BE49-F238E27FC236}">
                <a16:creationId xmlns:a16="http://schemas.microsoft.com/office/drawing/2014/main" id="{2796AD5F-E26B-4A17-8B9C-E7EEB4041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7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97F23FA-7544-45AE-ABE1-2C4CC5F90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8BE"/>
                </a:solidFill>
                <a:latin typeface="Arial"/>
                <a:ea typeface="Arial"/>
                <a:cs typeface="Arial"/>
              </a:rPr>
              <a:t>VIT VELLORE  /  PROJECT REVIEW  /  02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DABE990-36DB-49F8-AE75-C35F2864B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A local Python search engine, a real campus walking graph and a browser map work together.</a:t>
            </a:r>
          </a:p>
        </p:txBody>
      </p:sp>
      <p:sp>
        <p:nvSpPr>
          <p:cNvPr id="6" name="arch-0">
            <a:extLst xmlns:a="http://schemas.openxmlformats.org/drawingml/2006/main">
              <a:ext uri="{FF2B5EF4-FFF2-40B4-BE49-F238E27FC236}">
                <a16:creationId xmlns:a16="http://schemas.microsoft.com/office/drawing/2014/main" id="{31BEE5B5-144C-4CAF-9880-2705C8B72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3622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B38"/>
          </a:solidFill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7" name="arch-accent-0">
            <a:extLst xmlns:a="http://schemas.openxmlformats.org/drawingml/2006/main">
              <a:ext uri="{FF2B5EF4-FFF2-40B4-BE49-F238E27FC236}">
                <a16:creationId xmlns:a16="http://schemas.microsoft.com/office/drawing/2014/main" id="{AB30C8AF-2449-4052-AE7C-293A2A225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381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D7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D3A924C-859E-468A-B1AF-80AA30BE6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76525"/>
            <a:ext cx="2028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Browser interface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BAC892B-D2A1-45DF-B3B8-1128D5D2D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71825"/>
            <a:ext cx="20288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HTML, CSS, JavaScript</a:t>
            </a:r>
          </a:p>
          <a:p xmlns:a="http://schemas.openxmlformats.org/drawingml/2006/main">
            <a: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Leaflet map</a:t>
            </a:r>
          </a:p>
          <a:p xmlns:a="http://schemas.openxmlformats.org/drawingml/2006/main">
            <a: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Place selectors + comparison</a:t>
            </a:r>
          </a:p>
        </p:txBody>
      </p:sp>
      <p:sp>
        <p:nvSpPr>
          <p:cNvPr id="10" name="diagram-link">
            <a:extLst xmlns:a="http://schemas.openxmlformats.org/drawingml/2006/main">
              <a:ext uri="{FF2B5EF4-FFF2-40B4-BE49-F238E27FC236}">
                <a16:creationId xmlns:a16="http://schemas.microsoft.com/office/drawing/2014/main" id="{9F3B038F-24D3-4CDD-9B26-E79BD97AC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124200" y="3505200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9D7C4"/>
            </a:solidFill>
            <a:prstDash val="solid"/>
          </a:ln>
        </p:spPr>
      </p:sp>
      <p:sp>
        <p:nvSpPr>
          <p:cNvPr id="11" name="arch-1">
            <a:extLst xmlns:a="http://schemas.openxmlformats.org/drawingml/2006/main">
              <a:ext uri="{FF2B5EF4-FFF2-40B4-BE49-F238E27FC236}">
                <a16:creationId xmlns:a16="http://schemas.microsoft.com/office/drawing/2014/main" id="{4DBA2E75-71B2-4E14-B1F5-89178461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76500"/>
            <a:ext cx="23622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B38"/>
          </a:solidFill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12" name="arch-accent-1">
            <a:extLst xmlns:a="http://schemas.openxmlformats.org/drawingml/2006/main">
              <a:ext uri="{FF2B5EF4-FFF2-40B4-BE49-F238E27FC236}">
                <a16:creationId xmlns:a16="http://schemas.microsoft.com/office/drawing/2014/main" id="{4BB06E44-E980-4CE8-8BE2-DE171D51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76500"/>
            <a:ext cx="381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9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7FAB334-03DF-4E1A-BD1F-0C224ACF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76525"/>
            <a:ext cx="2028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Local web service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15A9ABE1-D78C-43DB-8633-DFA606C30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71825"/>
            <a:ext cx="20288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Python standard library</a:t>
            </a:r>
          </a:p>
          <a:p xmlns:a="http://schemas.openxmlformats.org/drawingml/2006/main">
            <a: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/api/map and /api/route</a:t>
            </a:r>
          </a:p>
          <a:p xmlns:a="http://schemas.openxmlformats.org/drawingml/2006/main">
            <a: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Runs on localhost:8000</a:t>
            </a:r>
          </a:p>
        </p:txBody>
      </p:sp>
      <p:sp>
        <p:nvSpPr>
          <p:cNvPr id="15" name="diagram-link">
            <a:extLst xmlns:a="http://schemas.openxmlformats.org/drawingml/2006/main">
              <a:ext uri="{FF2B5EF4-FFF2-40B4-BE49-F238E27FC236}">
                <a16:creationId xmlns:a16="http://schemas.microsoft.com/office/drawing/2014/main" id="{BB883919-F785-42F0-80B5-AA0EEE6D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867400" y="3505200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9D7C4"/>
            </a:solidFill>
            <a:prstDash val="solid"/>
          </a:ln>
        </p:spPr>
      </p:sp>
      <p:sp>
        <p:nvSpPr>
          <p:cNvPr id="16" name="arch-2">
            <a:extLst xmlns:a="http://schemas.openxmlformats.org/drawingml/2006/main">
              <a:ext uri="{FF2B5EF4-FFF2-40B4-BE49-F238E27FC236}">
                <a16:creationId xmlns:a16="http://schemas.microsoft.com/office/drawing/2014/main" id="{1D9FD409-7069-48DD-8D2B-0BEBFCC65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76500"/>
            <a:ext cx="23622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B38"/>
          </a:solidFill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17" name="arch-accent-2">
            <a:extLst xmlns:a="http://schemas.openxmlformats.org/drawingml/2006/main">
              <a:ext uri="{FF2B5EF4-FFF2-40B4-BE49-F238E27FC236}">
                <a16:creationId xmlns:a16="http://schemas.microsoft.com/office/drawing/2014/main" id="{563AB146-F54B-46D7-BD99-E72201EFB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76500"/>
            <a:ext cx="381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E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0490BC6E-1798-4C08-AA2C-DB0CFB2D7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76525"/>
            <a:ext cx="2028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Search core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3C62FE6F-2420-4BF2-B33A-CFA2FF28D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71825"/>
            <a:ext cx="20288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A* and Dijkstra</a:t>
            </a:r>
          </a:p>
          <a:p xmlns:a="http://schemas.openxmlformats.org/drawingml/2006/main">
            <a: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Breadth-first search</a:t>
            </a:r>
          </a:p>
          <a:p xmlns:a="http://schemas.openxmlformats.org/drawingml/2006/main">
            <a: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Shared weighted graph</a:t>
            </a:r>
          </a:p>
        </p:txBody>
      </p:sp>
      <p:sp>
        <p:nvSpPr>
          <p:cNvPr id="20" name="diagram-link">
            <a:extLst xmlns:a="http://schemas.openxmlformats.org/drawingml/2006/main">
              <a:ext uri="{FF2B5EF4-FFF2-40B4-BE49-F238E27FC236}">
                <a16:creationId xmlns:a16="http://schemas.microsoft.com/office/drawing/2014/main" id="{4E5AB5B7-6284-41F4-8600-B42BB903D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610600" y="3505200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9D7C4"/>
            </a:solidFill>
            <a:prstDash val="solid"/>
          </a:ln>
        </p:spPr>
      </p:sp>
      <p:sp>
        <p:nvSpPr>
          <p:cNvPr id="21" name="arch-3">
            <a:extLst xmlns:a="http://schemas.openxmlformats.org/drawingml/2006/main">
              <a:ext uri="{FF2B5EF4-FFF2-40B4-BE49-F238E27FC236}">
                <a16:creationId xmlns:a16="http://schemas.microsoft.com/office/drawing/2014/main" id="{7347D6E1-8DB0-4818-A635-C18139706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76500"/>
            <a:ext cx="23622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B38"/>
          </a:solidFill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22" name="arch-accent-3">
            <a:extLst xmlns:a="http://schemas.openxmlformats.org/drawingml/2006/main">
              <a:ext uri="{FF2B5EF4-FFF2-40B4-BE49-F238E27FC236}">
                <a16:creationId xmlns:a16="http://schemas.microsoft.com/office/drawing/2014/main" id="{F3C17FC2-C065-4308-9529-EDA3C15C1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76500"/>
            <a:ext cx="381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95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3E6C248A-2EDC-4BB5-AFBF-2D24F395A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76525"/>
            <a:ext cx="2028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Map data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53C7E372-ED8C-44A0-8F8E-349FA05F5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171825"/>
            <a:ext cx="20288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OSM</a:t>
            </a:r>
          </a:p>
          <a:p xmlns:a="http://schemas.openxmlformats.org/drawingml/2006/main">
            <a: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JSON</a:t>
            </a:r>
          </a:p>
          <a:p xmlns:a="http://schemas.openxmlformats.org/drawingml/2006/main">
            <a: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walkways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B2D5F657-4035-40AF-A16B-D52A79F91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The browser requests route results from the same Python functions used by the command-line demo.</a:t>
            </a:r>
          </a:p>
        </p:txBody>
      </p:sp>
    </p:spTree>
    <p:extLst>
      <p:ext uri="{BB962C8B-B14F-4D97-AF65-F5344CB8AC3E}">
        <p14:creationId xmlns:p14="http://schemas.microsoft.com/office/powerpoint/2010/main" val="14019147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D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5F8EC5B8-0B31-47C2-8171-E17547316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CAMPUS NAVIGATION ASSISTANT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44481332-0557-46FD-A507-2F1EA3B74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VIT Vellore walking network</a:t>
            </a:r>
          </a:p>
        </p:txBody>
      </p:sp>
      <p:sp>
        <p:nvSpPr>
          <p:cNvPr id="3" name="footer-line">
            <a:extLst xmlns:a="http://schemas.openxmlformats.org/drawingml/2006/main">
              <a:ext uri="{FF2B5EF4-FFF2-40B4-BE49-F238E27FC236}">
                <a16:creationId xmlns:a16="http://schemas.microsoft.com/office/drawing/2014/main" id="{37329C2F-B488-449B-9E89-638B3AE79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7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F8F2AA5-5192-4C0A-B3E5-F5D50C23B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8BE"/>
                </a:solidFill>
                <a:latin typeface="Arial"/>
                <a:ea typeface="Arial"/>
                <a:cs typeface="Arial"/>
              </a:rPr>
              <a:t>VIT VELLORE  /  PROJECT REVIEW  /  03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21C3C5B-4ADE-463F-91E8-C6022CD37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57325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CURRENT INCLUDED MAP BUNDLE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7886623-9C1A-4601-8E72-582DD4F7F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2857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1,965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42125C2-4F85-461C-B2C6-7B508741E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098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walkway nodes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4EBD970-ECE7-4923-90FF-1C550CAE5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847850"/>
            <a:ext cx="2857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2,131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BCF7270-2EDF-4398-9A3C-AFFCA36E0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6098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walkway edges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0FDB246-7D0D-4876-97DD-41EB209F9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847850"/>
            <a:ext cx="2476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1E8DCC8-8CCA-452B-BCCB-A6C24B460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6098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named places</a:t>
            </a:r>
          </a:p>
        </p:txBody>
      </p:sp>
      <p:sp>
        <p:nvSpPr>
          <p:cNvPr id="12" name="data-divider">
            <a:extLst xmlns:a="http://schemas.openxmlformats.org/drawingml/2006/main">
              <a:ext uri="{FF2B5EF4-FFF2-40B4-BE49-F238E27FC236}">
                <a16:creationId xmlns:a16="http://schemas.microsoft.com/office/drawing/2014/main" id="{117AD11A-80D1-4822-8AE6-EE3DA6DFF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7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F215E50-B4F9-4652-A543-2B034DA1F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PLACE CATEGORIES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94864B8A-9B52-4112-A501-7323FBA3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904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2DBE416E-5F68-45C3-B8EA-44992F2ED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124325"/>
            <a:ext cx="2667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Campus places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5C6B6CBD-278C-4FAB-8032-8EB797374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48125"/>
            <a:ext cx="904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3C969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82D1D18D-2797-4CF9-B602-D9788A140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24325"/>
            <a:ext cx="209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Hostels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72A86B0-C4C6-434B-BDF8-207BE04EF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EXAMPLES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94B12C50-8E06-4B0D-A1E6-92CDBA498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A–H blocks, MGB, EV Periyar Library, Anna Auditorium, Food Court, 3A Gate, Main Gate and mapped hostels.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E4E76414-19D3-4491-966A-0C0E6156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OpenStreetMap contributors · extract retrieved 21 Oct 2026 · ODbL</a:t>
            </a:r>
          </a:p>
        </p:txBody>
      </p:sp>
    </p:spTree>
    <p:extLst>
      <p:ext uri="{BB962C8B-B14F-4D97-AF65-F5344CB8AC3E}">
        <p14:creationId xmlns:p14="http://schemas.microsoft.com/office/powerpoint/2010/main" val="14568879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D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87F20EBE-CEA5-44E7-AF28-FD6273FF5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CAMPUS NAVIGATION ASSISTANT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9ADFAE68-97B8-43B0-A848-F8AC2A48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How mapped places become route endpoints</a:t>
            </a:r>
          </a:p>
        </p:txBody>
      </p:sp>
      <p:sp>
        <p:nvSpPr>
          <p:cNvPr id="3" name="footer-line">
            <a:extLst xmlns:a="http://schemas.openxmlformats.org/drawingml/2006/main">
              <a:ext uri="{FF2B5EF4-FFF2-40B4-BE49-F238E27FC236}">
                <a16:creationId xmlns:a16="http://schemas.microsoft.com/office/drawing/2014/main" id="{82E1A813-8E22-4BC0-B444-ACB25820A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7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08A8E87-4325-4620-9AB4-39BDEF5D5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8BE"/>
                </a:solidFill>
                <a:latin typeface="Arial"/>
                <a:ea typeface="Arial"/>
                <a:cs typeface="Arial"/>
              </a:rPr>
              <a:t>VIT VELLORE  /  PROJECT REVIEW  /  04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E4604B2-EF34-4FFF-8087-BC26CCEDC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OSM paths form a connected graph. Named campus features snap to the nearest mapped walkway node.</a:t>
            </a:r>
          </a:p>
        </p:txBody>
      </p:sp>
      <p:sp>
        <p:nvSpPr>
          <p:cNvPr id="6" name="diagram-link">
            <a:extLst xmlns:a="http://schemas.openxmlformats.org/drawingml/2006/main">
              <a:ext uri="{FF2B5EF4-FFF2-40B4-BE49-F238E27FC236}">
                <a16:creationId xmlns:a16="http://schemas.microsoft.com/office/drawing/2014/main" id="{6A65691D-C4AF-46B9-B417-5EA273A81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257300" y="2762250"/>
            <a:ext cx="2019300" cy="914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4754"/>
            </a:solidFill>
            <a:prstDash val="solid"/>
          </a:ln>
        </p:spPr>
      </p:sp>
      <p:sp>
        <p:nvSpPr>
          <p:cNvPr id="7" name="diagram-link">
            <a:extLst xmlns:a="http://schemas.openxmlformats.org/drawingml/2006/main">
              <a:ext uri="{FF2B5EF4-FFF2-40B4-BE49-F238E27FC236}">
                <a16:creationId xmlns:a16="http://schemas.microsoft.com/office/drawing/2014/main" id="{A5B7AACA-9A3B-4D7F-9B60-9D4CEB4EA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276600" y="2762250"/>
            <a:ext cx="1981200" cy="885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4754"/>
            </a:solidFill>
            <a:prstDash val="solid"/>
          </a:ln>
        </p:spPr>
      </p:sp>
      <p:sp>
        <p:nvSpPr>
          <p:cNvPr id="8" name="diagram-link">
            <a:extLst xmlns:a="http://schemas.openxmlformats.org/drawingml/2006/main">
              <a:ext uri="{FF2B5EF4-FFF2-40B4-BE49-F238E27FC236}">
                <a16:creationId xmlns:a16="http://schemas.microsoft.com/office/drawing/2014/main" id="{B43F57F3-2869-433D-9136-299B35E1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257800" y="2667000"/>
            <a:ext cx="2019300" cy="981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4754"/>
            </a:solidFill>
            <a:prstDash val="solid"/>
          </a:ln>
        </p:spPr>
      </p:sp>
      <p:sp>
        <p:nvSpPr>
          <p:cNvPr id="9" name="diagram-link">
            <a:extLst xmlns:a="http://schemas.openxmlformats.org/drawingml/2006/main">
              <a:ext uri="{FF2B5EF4-FFF2-40B4-BE49-F238E27FC236}">
                <a16:creationId xmlns:a16="http://schemas.microsoft.com/office/drawing/2014/main" id="{C7D7D22B-CACC-4104-8CD4-028F0AE73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77100" y="2667000"/>
            <a:ext cx="3533775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4754"/>
            </a:solidFill>
            <a:prstDash val="solid"/>
          </a:ln>
        </p:spPr>
      </p:sp>
      <p:sp>
        <p:nvSpPr>
          <p:cNvPr id="10" name="diagram-link">
            <a:extLst xmlns:a="http://schemas.openxmlformats.org/drawingml/2006/main">
              <a:ext uri="{FF2B5EF4-FFF2-40B4-BE49-F238E27FC236}">
                <a16:creationId xmlns:a16="http://schemas.microsoft.com/office/drawing/2014/main" id="{207CCEA8-9A03-4B8A-BE19-1C9E08FB9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57800" y="3648075"/>
            <a:ext cx="3886200" cy="180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4754"/>
            </a:solidFill>
            <a:prstDash val="solid"/>
          </a:ln>
        </p:spPr>
      </p:sp>
      <p:sp>
        <p:nvSpPr>
          <p:cNvPr id="11" name="diagram-link">
            <a:extLst xmlns:a="http://schemas.openxmlformats.org/drawingml/2006/main">
              <a:ext uri="{FF2B5EF4-FFF2-40B4-BE49-F238E27FC236}">
                <a16:creationId xmlns:a16="http://schemas.microsoft.com/office/drawing/2014/main" id="{9FBA8110-2F02-44F2-9BB1-B2DE8CFE5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9144000" y="2743200"/>
            <a:ext cx="1666875" cy="1085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4754"/>
            </a:solidFill>
            <a:prstDash val="solid"/>
          </a:ln>
        </p:spPr>
      </p:sp>
      <p:sp>
        <p:nvSpPr>
          <p:cNvPr id="12" name="diagram-link">
            <a:extLst xmlns:a="http://schemas.openxmlformats.org/drawingml/2006/main">
              <a:ext uri="{FF2B5EF4-FFF2-40B4-BE49-F238E27FC236}">
                <a16:creationId xmlns:a16="http://schemas.microsoft.com/office/drawing/2014/main" id="{56A502F5-BBC1-4D79-81E7-63F34802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276600" y="2667000"/>
            <a:ext cx="400050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4754"/>
            </a:solidFill>
            <a:prstDash val="solid"/>
          </a:ln>
        </p:spPr>
      </p:sp>
      <p:sp>
        <p:nvSpPr>
          <p:cNvPr id="13" name="map-node-gate">
            <a:extLst xmlns:a="http://schemas.openxmlformats.org/drawingml/2006/main">
              <a:ext uri="{FF2B5EF4-FFF2-40B4-BE49-F238E27FC236}">
                <a16:creationId xmlns:a16="http://schemas.microsoft.com/office/drawing/2014/main" id="{BE532DE7-C087-4EAE-914F-96ACF6369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5147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2B38"/>
          </a:solidFill>
          <a:ln xmlns:a="http://schemas.openxmlformats.org/drawingml/2006/main" w="19050">
            <a:solidFill>
              <a:srgbClr val="A8EEE3"/>
            </a:solidFill>
            <a:prstDash val="solid"/>
          </a:ln>
        </p:spPr>
      </p:sp>
      <p:sp>
        <p:nvSpPr>
          <p:cNvPr id="14" name="map-node-junction">
            <a:extLst xmlns:a="http://schemas.openxmlformats.org/drawingml/2006/main">
              <a:ext uri="{FF2B5EF4-FFF2-40B4-BE49-F238E27FC236}">
                <a16:creationId xmlns:a16="http://schemas.microsoft.com/office/drawing/2014/main" id="{9F520EB7-737A-472E-BFA7-59DBCEE66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6003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D7C4"/>
          </a:solidFill>
          <a:ln xmlns:a="http://schemas.openxmlformats.org/drawingml/2006/main" w="19050">
            <a:solidFill>
              <a:srgbClr val="49D7C4"/>
            </a:solidFill>
            <a:prstDash val="solid"/>
          </a:ln>
        </p:spPr>
      </p:sp>
      <p:sp>
        <p:nvSpPr>
          <p:cNvPr id="15" name="map-node-library">
            <a:extLst xmlns:a="http://schemas.openxmlformats.org/drawingml/2006/main">
              <a:ext uri="{FF2B5EF4-FFF2-40B4-BE49-F238E27FC236}">
                <a16:creationId xmlns:a16="http://schemas.microsoft.com/office/drawing/2014/main" id="{D6A6B7EF-8588-4AF2-8A75-8937BB083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486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2B38"/>
          </a:solidFill>
          <a:ln xmlns:a="http://schemas.openxmlformats.org/drawingml/2006/main" w="19050">
            <a:solidFill>
              <a:srgbClr val="A8EEE3"/>
            </a:solidFill>
            <a:prstDash val="solid"/>
          </a:ln>
        </p:spPr>
      </p:sp>
      <p:sp>
        <p:nvSpPr>
          <p:cNvPr id="16" name="map-node-block">
            <a:extLst xmlns:a="http://schemas.openxmlformats.org/drawingml/2006/main">
              <a:ext uri="{FF2B5EF4-FFF2-40B4-BE49-F238E27FC236}">
                <a16:creationId xmlns:a16="http://schemas.microsoft.com/office/drawing/2014/main" id="{E884DF64-6F8C-402B-956B-13249400C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505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2B38"/>
          </a:solidFill>
          <a:ln xmlns:a="http://schemas.openxmlformats.org/drawingml/2006/main" w="19050">
            <a:solidFill>
              <a:srgbClr val="A8EEE3"/>
            </a:solidFill>
            <a:prstDash val="solid"/>
          </a:ln>
        </p:spPr>
      </p:sp>
      <p:sp>
        <p:nvSpPr>
          <p:cNvPr id="17" name="map-node-food">
            <a:extLst xmlns:a="http://schemas.openxmlformats.org/drawingml/2006/main">
              <a:ext uri="{FF2B5EF4-FFF2-40B4-BE49-F238E27FC236}">
                <a16:creationId xmlns:a16="http://schemas.microsoft.com/office/drawing/2014/main" id="{482B4395-2A4A-4E3D-B372-87496A4DB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6671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2B38"/>
          </a:solidFill>
          <a:ln xmlns:a="http://schemas.openxmlformats.org/drawingml/2006/main" w="19050">
            <a:solidFill>
              <a:srgbClr val="A8EEE3"/>
            </a:solidFill>
            <a:prstDash val="solid"/>
          </a:ln>
        </p:spPr>
      </p:sp>
      <p:sp>
        <p:nvSpPr>
          <p:cNvPr id="18" name="map-node-goal">
            <a:extLst xmlns:a="http://schemas.openxmlformats.org/drawingml/2006/main">
              <a:ext uri="{FF2B5EF4-FFF2-40B4-BE49-F238E27FC236}">
                <a16:creationId xmlns:a16="http://schemas.microsoft.com/office/drawing/2014/main" id="{E06D9C77-4C82-409E-B10C-E9760F063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5812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2B38"/>
          </a:solidFill>
          <a:ln xmlns:a="http://schemas.openxmlformats.org/drawingml/2006/main" w="19050">
            <a:solidFill>
              <a:srgbClr val="A8EEE3"/>
            </a:solidFill>
            <a:prstDash val="solid"/>
          </a:ln>
        </p:spPr>
      </p:sp>
      <p:sp>
        <p:nvSpPr>
          <p:cNvPr id="19" name="feature-dot">
            <a:extLst xmlns:a="http://schemas.openxmlformats.org/drawingml/2006/main">
              <a:ext uri="{FF2B5EF4-FFF2-40B4-BE49-F238E27FC236}">
                <a16:creationId xmlns:a16="http://schemas.microsoft.com/office/drawing/2014/main" id="{CAAEA96E-A155-4EC8-AFDD-1981F4E95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52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C969"/>
          </a:solidFill>
          <a:ln xmlns:a="http://schemas.openxmlformats.org/drawingml/2006/main" w="9525">
            <a:solidFill>
              <a:srgbClr val="F3C969"/>
            </a:solidFill>
            <a:prstDash val="solid"/>
          </a:ln>
        </p:spPr>
      </p:sp>
      <p:sp>
        <p:nvSpPr>
          <p:cNvPr id="20" name="diagram-link">
            <a:extLst xmlns:a="http://schemas.openxmlformats.org/drawingml/2006/main">
              <a:ext uri="{FF2B5EF4-FFF2-40B4-BE49-F238E27FC236}">
                <a16:creationId xmlns:a16="http://schemas.microsoft.com/office/drawing/2014/main" id="{42047521-BABA-4A65-B4C3-FE430C11A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057275" y="3676650"/>
            <a:ext cx="200025" cy="942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3C969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D9E2AB5C-FC05-41E0-9AB7-96761B7C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543425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Named place</a:t>
            </a:r>
          </a:p>
        </p:txBody>
      </p:sp>
      <p:sp>
        <p:nvSpPr>
          <p:cNvPr id="22" name="walkway-dot">
            <a:extLst xmlns:a="http://schemas.openxmlformats.org/drawingml/2006/main">
              <a:ext uri="{FF2B5EF4-FFF2-40B4-BE49-F238E27FC236}">
                <a16:creationId xmlns:a16="http://schemas.microsoft.com/office/drawing/2014/main" id="{31D1C326-C65A-42A7-AF78-0DFE3C961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552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D7C4"/>
          </a:solidFill>
          <a:ln xmlns:a="http://schemas.openxmlformats.org/drawingml/2006/main" w="9525">
            <a:solidFill>
              <a:srgbClr val="49D7C4"/>
            </a:solidFill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5D981976-6185-4659-ABF9-006693233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5434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Walkway node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35296105-ADA1-4A09-99A6-53BE81B74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Route totals include the straight-line endpoint snap offsets as approximate access connectors.</a:t>
            </a:r>
          </a:p>
        </p:txBody>
      </p:sp>
    </p:spTree>
    <p:extLst>
      <p:ext uri="{BB962C8B-B14F-4D97-AF65-F5344CB8AC3E}">
        <p14:creationId xmlns:p14="http://schemas.microsoft.com/office/powerpoint/2010/main" val="18489627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D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385F7852-C2E8-40B6-B491-8826518D8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CAMPUS NAVIGATION ASSISTANT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49337939-726B-474C-A4C4-1226796BE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A* search core</a:t>
            </a:r>
          </a:p>
        </p:txBody>
      </p:sp>
      <p:sp>
        <p:nvSpPr>
          <p:cNvPr id="3" name="footer-line">
            <a:extLst xmlns:a="http://schemas.openxmlformats.org/drawingml/2006/main">
              <a:ext uri="{FF2B5EF4-FFF2-40B4-BE49-F238E27FC236}">
                <a16:creationId xmlns:a16="http://schemas.microsoft.com/office/drawing/2014/main" id="{54B1E746-1959-4107-85D5-4EC16284E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7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4B80284-D658-40D9-890C-1400C70C3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8BE"/>
                </a:solidFill>
                <a:latin typeface="Arial"/>
                <a:ea typeface="Arial"/>
                <a:cs typeface="Arial"/>
              </a:rPr>
              <a:t>VIT VELLORE  /  PROJECT REVIEW  /  05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A0FE8CA-938B-4397-A623-7AA384FE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571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67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367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367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367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367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367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367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367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367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367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67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f(n) = g(n) + h(n)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6A8637B-248E-4594-9394-5C61C4EE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238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g(n)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A1C121A-2FBB-41A3-A5D1-7505A7F1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51460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Known weighted route cost from the starting point.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2B27378-D634-4B35-B70B-EB2DC451E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1238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h(n)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0BF7909-81F2-4F98-A9C1-147DE2DE0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5755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Straight-line Euclidean estimate to the destination.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09D15B2-8DD3-4B77-8B8B-65605556A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142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Parent map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3580B33-7F07-4CFB-A7D4-FF9259B9A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000500"/>
            <a:ext cx="457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Records each node’s predecessor to rebuild the final route.</a:t>
            </a:r>
          </a:p>
        </p:txBody>
      </p:sp>
      <p:sp>
        <p:nvSpPr>
          <p:cNvPr id="12" name="heuristic-note">
            <a:extLst xmlns:a="http://schemas.openxmlformats.org/drawingml/2006/main">
              <a:ext uri="{FF2B5EF4-FFF2-40B4-BE49-F238E27FC236}">
                <a16:creationId xmlns:a16="http://schemas.microsoft.com/office/drawing/2014/main" id="{3C8D79CF-8A84-402B-8DB6-470AFC6CF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09725"/>
            <a:ext cx="4171950" cy="3295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B38"/>
          </a:solidFill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2805A34-C4F9-4D8F-B49B-BA473127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88595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HEURISTIC SAFETY CHECK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7544D8FF-B9D7-4A37-8C9D-4D1967E65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343150"/>
            <a:ext cx="361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1E8"/>
                </a:solidFill>
                <a:latin typeface="Arial"/>
                <a:ea typeface="Arial"/>
                <a:cs typeface="Arial"/>
              </a:rPr>
              <a:t>Every loaded edge must be at least as long as the straight-line distance between its endpoints.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01DD50B-53EA-4D49-8DE0-0E988606F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438525"/>
            <a:ext cx="3619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With non-negative distances, this keeps the Euclidean heuristic admissible and consistent for the loaded graph.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0E0C3A7-08A6-41B4-811D-37AF1878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514850"/>
            <a:ext cx="3476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Invalid edges are rejected while the map loads.</a:t>
            </a:r>
          </a:p>
        </p:txBody>
      </p:sp>
    </p:spTree>
    <p:extLst>
      <p:ext uri="{BB962C8B-B14F-4D97-AF65-F5344CB8AC3E}">
        <p14:creationId xmlns:p14="http://schemas.microsoft.com/office/powerpoint/2010/main" val="16392593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D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099AE417-CA96-432F-8B03-24EB85877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CAMPUS NAVIGATION ASSISTANT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817A826A-C6C2-404C-90C2-6689C1C1B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Three search methods, three different behaviors</a:t>
            </a:r>
          </a:p>
        </p:txBody>
      </p:sp>
      <p:sp>
        <p:nvSpPr>
          <p:cNvPr id="3" name="footer-line">
            <a:extLst xmlns:a="http://schemas.openxmlformats.org/drawingml/2006/main">
              <a:ext uri="{FF2B5EF4-FFF2-40B4-BE49-F238E27FC236}">
                <a16:creationId xmlns:a16="http://schemas.microsoft.com/office/drawing/2014/main" id="{CBE63551-18FD-4D1F-8640-97F246123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7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1D83AFF-358B-480A-A1BD-78FDFC7E5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8BE"/>
                </a:solidFill>
                <a:latin typeface="Arial"/>
                <a:ea typeface="Arial"/>
                <a:cs typeface="Arial"/>
              </a:rPr>
              <a:t>VIT VELLORE  /  PROJECT REVIEW  /  06</a:t>
            </a:r>
          </a:p>
        </p:txBody>
      </p:sp>
      <p:sp>
        <p:nvSpPr>
          <p:cNvPr id="5" name="algo-marker-0">
            <a:extLst xmlns:a="http://schemas.openxmlformats.org/drawingml/2006/main">
              <a:ext uri="{FF2B5EF4-FFF2-40B4-BE49-F238E27FC236}">
                <a16:creationId xmlns:a16="http://schemas.microsoft.com/office/drawing/2014/main" id="{050830EE-FD02-4CE6-AE4B-1673CC54C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D7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22223FF-9665-42E4-821E-D4A6CF95B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A*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63E8744-B699-4848-B047-41D1549AA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4782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g(n) + h(n)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328D3B9-F75D-4167-BDD9-526639074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63830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Finds a minimum-cost route while using straight-line look-ahead.</a:t>
            </a:r>
          </a:p>
        </p:txBody>
      </p:sp>
      <p:sp>
        <p:nvSpPr>
          <p:cNvPr id="9" name="diagram-link">
            <a:extLst xmlns:a="http://schemas.openxmlformats.org/drawingml/2006/main">
              <a:ext uri="{FF2B5EF4-FFF2-40B4-BE49-F238E27FC236}">
                <a16:creationId xmlns:a16="http://schemas.microsoft.com/office/drawing/2014/main" id="{DB608D60-FB40-4F55-A2F0-630799406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14400" y="257175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10" name="algo-marker-1">
            <a:extLst xmlns:a="http://schemas.openxmlformats.org/drawingml/2006/main">
              <a:ext uri="{FF2B5EF4-FFF2-40B4-BE49-F238E27FC236}">
                <a16:creationId xmlns:a16="http://schemas.microsoft.com/office/drawing/2014/main" id="{A888D051-AA4C-4922-82B5-F5B5F4DF8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E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4E22F0C-7AAA-4C5F-AFE9-AA8BA7D0B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384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Dijkstra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896A2B9-4B0A-43BD-9AA2-B8E6EA583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479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8EEE3"/>
                </a:solidFill>
                <a:latin typeface="Arial"/>
                <a:ea typeface="Arial"/>
                <a:cs typeface="Arial"/>
              </a:rPr>
              <a:t>g(n)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A4DC435-CA21-4EFE-9389-9E0B4D03C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83845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Minimum-cost reference on the same weighted graph.</a:t>
            </a:r>
          </a:p>
        </p:txBody>
      </p:sp>
      <p:sp>
        <p:nvSpPr>
          <p:cNvPr id="14" name="diagram-link">
            <a:extLst xmlns:a="http://schemas.openxmlformats.org/drawingml/2006/main">
              <a:ext uri="{FF2B5EF4-FFF2-40B4-BE49-F238E27FC236}">
                <a16:creationId xmlns:a16="http://schemas.microsoft.com/office/drawing/2014/main" id="{42113A5F-5ABB-44B2-8691-E7F80F2B4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14400" y="37719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15" name="algo-marker-2">
            <a:extLst xmlns:a="http://schemas.openxmlformats.org/drawingml/2006/main">
              <a:ext uri="{FF2B5EF4-FFF2-40B4-BE49-F238E27FC236}">
                <a16:creationId xmlns:a16="http://schemas.microsoft.com/office/drawing/2014/main" id="{B8CC310F-8B1E-4241-9B9F-AD7B86896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9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B08A750-F7AD-40C8-A7A7-02FC6A34C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386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BFS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28AFEC79-4007-44F3-A73F-78D225F30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4812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3C969"/>
                </a:solidFill>
                <a:latin typeface="Arial"/>
                <a:ea typeface="Arial"/>
                <a:cs typeface="Arial"/>
              </a:rPr>
              <a:t>edge count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6A38F9E7-59B6-4D90-B844-3F581C5A1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03860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Finds a route with the fewest graph segments. Segment distances do not affect its search.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9EC0C80A-D444-4DD9-B0EC-85BBAB58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Dijkstra is A* with h(n) = 0. BFS may return a longer physical route when edge lengths vary.</a:t>
            </a:r>
          </a:p>
        </p:txBody>
      </p:sp>
    </p:spTree>
    <p:extLst>
      <p:ext uri="{BB962C8B-B14F-4D97-AF65-F5344CB8AC3E}">
        <p14:creationId xmlns:p14="http://schemas.microsoft.com/office/powerpoint/2010/main" val="12910164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D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3D8C6FA9-B039-4F61-A5F9-1F284BD9B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CAMPUS NAVIGATION ASSISTANT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3C5FA76F-0A5F-4C0B-AED6-869D58EE3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Interactive web app features</a:t>
            </a:r>
          </a:p>
        </p:txBody>
      </p:sp>
      <p:sp>
        <p:nvSpPr>
          <p:cNvPr id="3" name="footer-line">
            <a:extLst xmlns:a="http://schemas.openxmlformats.org/drawingml/2006/main">
              <a:ext uri="{FF2B5EF4-FFF2-40B4-BE49-F238E27FC236}">
                <a16:creationId xmlns:a16="http://schemas.microsoft.com/office/drawing/2014/main" id="{A9864291-DF06-4ADF-B7DF-B0BE75B53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7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6D3739C-8A80-4D4C-A1DF-D6187FCAF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8BE"/>
                </a:solidFill>
                <a:latin typeface="Arial"/>
                <a:ea typeface="Arial"/>
                <a:cs typeface="Arial"/>
              </a:rPr>
              <a:t>VIT VELLORE  /  PROJECT REVIEW  /  07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0E81A67-55E1-45DB-9153-114E485D6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ROUTE CONTROLS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64B8788-65C4-49C1-93A4-7C3DD31B9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95475"/>
            <a:ext cx="4857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Choose start and destination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7724CCC-30D7-4EA4-82D0-8D8D9445E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95525"/>
            <a:ext cx="4714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Swap the two selections and calculate a new walking route.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D141E9B-5B7A-4EFB-B85D-59ABFA40D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ALGORITHM COMPARISON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0A80992-4C4E-4645-92DA-302FBCAE3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400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A* · Dijkstra · BFS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125BDA7-667B-4679-A6CC-A6C19050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476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029"/>
          </a:bodyPr>
          <a:lstStyle xmlns:a="http://schemas.openxmlformats.org/drawingml/2006/main">
            <a:def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Each option reports modeled cost in km-equivalent and expanded nodes. This is not additional physical distance. Selecting an option redraws its path.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B2BAE35D-F004-4E23-92BB-5B0C5165E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495425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MAP AND ROUTE DETAILS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2B7178A-E238-4C0A-80DD-5CB85092B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95475"/>
            <a:ext cx="3810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Leaflet map of VIT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E6334E8-2640-4DC8-8A8D-4C906EAE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95525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Shows the walking network, selected path, start and destination markers, plus approximate building-access connectors.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52EE796A-A544-4454-AEA7-AE1DCB286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766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RESULTS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07BE87C-D34C-4252-82B3-3EBA15949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76650"/>
            <a:ext cx="457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Distance and time estimate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F28EF03-4DE2-49B7-B1D0-35C64206F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76700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Shows route metrics, endpoint snap distances, and the selected crowd scenario. Normal, moderate, and high apply 1.00x, 1.25x, and 1.50x cost multipliers.</a:t>
            </a:r>
          </a:p>
        </p:txBody>
      </p:sp>
      <p:sp>
        <p:nvSpPr>
          <p:cNvPr id="17" name="netbox">
            <a:extLst xmlns:a="http://schemas.openxmlformats.org/drawingml/2006/main">
              <a:ext uri="{FF2B5EF4-FFF2-40B4-BE49-F238E27FC236}">
                <a16:creationId xmlns:a16="http://schemas.microsoft.com/office/drawing/2014/main" id="{EDE311DA-9A58-463F-A8B8-F3B5013AA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B38"/>
          </a:solidFill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32C8E405-D69A-472D-8042-DCB340B31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29250"/>
            <a:ext cx="4048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Browser: index.html + Leaflet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1BA19FDD-0A0B-44FC-B059-5895E53A0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4292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Local Python API: /api/map  /api/route</a:t>
            </a:r>
          </a:p>
        </p:txBody>
      </p:sp>
    </p:spTree>
    <p:extLst>
      <p:ext uri="{BB962C8B-B14F-4D97-AF65-F5344CB8AC3E}">
        <p14:creationId xmlns:p14="http://schemas.microsoft.com/office/powerpoint/2010/main" val="16290303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D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31707BF-D540-4874-8D24-DC8F30B55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CAMPUS NAVIGATION ASSISTANT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B027EADD-762F-432C-BCA5-E957DD1DE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Command-line demonstration</a:t>
            </a:r>
          </a:p>
        </p:txBody>
      </p:sp>
      <p:sp>
        <p:nvSpPr>
          <p:cNvPr id="3" name="footer-line">
            <a:extLst xmlns:a="http://schemas.openxmlformats.org/drawingml/2006/main">
              <a:ext uri="{FF2B5EF4-FFF2-40B4-BE49-F238E27FC236}">
                <a16:creationId xmlns:a16="http://schemas.microsoft.com/office/drawing/2014/main" id="{E9FD0CE2-640A-46C5-8452-E61CAD9A3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7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259A686-38B5-46AE-B1DE-685CDA437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8BE"/>
                </a:solidFill>
                <a:latin typeface="Arial"/>
                <a:ea typeface="Arial"/>
                <a:cs typeface="Arial"/>
              </a:rPr>
              <a:t>VIT VELLORE  /  PROJECT REVIEW  /  08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64C9B38-258C-4499-9DC3-6E6188A0E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DEFAULT DEMO</a:t>
            </a:r>
          </a:p>
        </p:txBody>
      </p:sp>
      <p:sp>
        <p:nvSpPr>
          <p:cNvPr id="6" name="cli-frame">
            <a:extLst xmlns:a="http://schemas.openxmlformats.org/drawingml/2006/main">
              <a:ext uri="{FF2B5EF4-FFF2-40B4-BE49-F238E27FC236}">
                <a16:creationId xmlns:a16="http://schemas.microsoft.com/office/drawing/2014/main" id="{8FEF2778-E6C3-4927-9CEB-6F5D9CC2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B38"/>
          </a:solidFill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D2B2578-759F-432D-8F74-C2E513BA0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7334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A8EEE3"/>
                </a:solidFill>
                <a:latin typeface="Arial"/>
                <a:ea typeface="Arial"/>
                <a:cs typeface="Arial"/>
              </a:rPr>
              <a:t>python campus_nav.py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9E214CB-D69F-4D0D-BAB0-754EEA735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CHANGE LOCATIONS / CROWD SCENARIO</a:t>
            </a:r>
          </a:p>
        </p:txBody>
      </p:sp>
      <p:sp>
        <p:nvSpPr>
          <p:cNvPr id="9" name="cli-frame-2">
            <a:extLst xmlns:a="http://schemas.openxmlformats.org/drawingml/2006/main">
              <a:ext uri="{FF2B5EF4-FFF2-40B4-BE49-F238E27FC236}">
                <a16:creationId xmlns:a16="http://schemas.microsoft.com/office/drawing/2014/main" id="{2503417B-FD16-4DFA-88C3-102F34494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43325"/>
            <a:ext cx="108204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B38"/>
          </a:solidFill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EDF01BA-C211-4D6A-BED6-4503286A3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76700"/>
            <a:ext cx="10191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python campus_nav.py --start main_gate_uni_entrance --goal ev_periyar_library --crowd-factor 1.5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43ADC80-7223-4C3B-99EB-2888BA35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53025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The CLI prints each algorithm’s route, physical distance, search cost, estimated walking time, expanded nodes and measured search time. Raw walkway-node IDs also work; --data accepts another JSON graph.</a:t>
            </a:r>
          </a:p>
        </p:txBody>
      </p:sp>
    </p:spTree>
    <p:extLst>
      <p:ext uri="{BB962C8B-B14F-4D97-AF65-F5344CB8AC3E}">
        <p14:creationId xmlns:p14="http://schemas.microsoft.com/office/powerpoint/2010/main" val="12111625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1D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B80CE273-A794-4502-AE89-79B1A387D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CAMPUS NAVIGATION ASSISTANT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236E0DF7-5F5B-427B-A43E-FB7CF9B8E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Default route results: Main Gate to A Block</a:t>
            </a:r>
          </a:p>
        </p:txBody>
      </p:sp>
      <p:sp>
        <p:nvSpPr>
          <p:cNvPr id="3" name="footer-line">
            <a:extLst xmlns:a="http://schemas.openxmlformats.org/drawingml/2006/main">
              <a:ext uri="{FF2B5EF4-FFF2-40B4-BE49-F238E27FC236}">
                <a16:creationId xmlns:a16="http://schemas.microsoft.com/office/drawing/2014/main" id="{586BB03C-CC47-4496-BB02-151A8653E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7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2C516FD-AA74-437C-BE6B-2CDA16CF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8BE"/>
                </a:solidFill>
                <a:latin typeface="Arial"/>
                <a:ea typeface="Arial"/>
                <a:cs typeface="Arial"/>
              </a:rPr>
              <a:t>VIT VELLORE  /  PROJECT REVIEW  /  09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47A9EE4-874B-4722-B124-277E5B243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Run from the included campus_map.json on this machine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21DF5AB-4F48-4263-A8B1-195542F7F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ALGORITHM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5CD1845-B5FE-40E4-874B-7229EB7CC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028825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PHYSICAL DISTANCE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D7D0FD9-E3DD-4F8D-8E70-5B2B35839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28825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NODES EXPANDED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B868EC3-EB27-4866-A230-33DA472F9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28825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SEARCH TIME*</a:t>
            </a:r>
          </a:p>
        </p:txBody>
      </p:sp>
      <p:sp>
        <p:nvSpPr>
          <p:cNvPr id="10" name="diagram-link">
            <a:extLst xmlns:a="http://schemas.openxmlformats.org/drawingml/2006/main">
              <a:ext uri="{FF2B5EF4-FFF2-40B4-BE49-F238E27FC236}">
                <a16:creationId xmlns:a16="http://schemas.microsoft.com/office/drawing/2014/main" id="{7F5915F7-D822-488C-A157-BBD952597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22955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A4EAD065-44C2-4CB7-8A44-76DA5D47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A*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656BCBB-8863-4FBA-9BA5-1CB2DCB3F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4288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1,501.9 m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E6660BE-E2E5-492E-B800-9337977A2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42887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413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7008B9C0-4533-4E49-B592-7C6A0C974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288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1E8"/>
                </a:solidFill>
                <a:latin typeface="Arial"/>
                <a:ea typeface="Arial"/>
                <a:cs typeface="Arial"/>
              </a:rPr>
              <a:t>1.523 ms</a:t>
            </a:r>
          </a:p>
        </p:txBody>
      </p:sp>
      <p:sp>
        <p:nvSpPr>
          <p:cNvPr id="15" name="distance-bar-0">
            <a:extLst xmlns:a="http://schemas.openxmlformats.org/drawingml/2006/main">
              <a:ext uri="{FF2B5EF4-FFF2-40B4-BE49-F238E27FC236}">
                <a16:creationId xmlns:a16="http://schemas.microsoft.com/office/drawing/2014/main" id="{1948702E-620D-4A26-A671-1A2183672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838450"/>
            <a:ext cx="3039939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D7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diagram-link">
            <a:extLst xmlns:a="http://schemas.openxmlformats.org/drawingml/2006/main">
              <a:ext uri="{FF2B5EF4-FFF2-40B4-BE49-F238E27FC236}">
                <a16:creationId xmlns:a16="http://schemas.microsoft.com/office/drawing/2014/main" id="{97386D2A-C29F-4A88-AA86-77371116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31242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0EFA7219-7C18-4273-8EFD-97024522F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A8EEE3"/>
                </a:solidFill>
                <a:latin typeface="Arial"/>
                <a:ea typeface="Arial"/>
                <a:cs typeface="Arial"/>
              </a:rPr>
              <a:t>Dijkstra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8E006645-00B1-4CAD-874B-C90A0205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2575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1,501.9 m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82639A94-92B0-418D-822B-AC5143BA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2575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1004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B53C6CD2-0058-49D8-A0F8-0156147AF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2575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1E8"/>
                </a:solidFill>
                <a:latin typeface="Arial"/>
                <a:ea typeface="Arial"/>
                <a:cs typeface="Arial"/>
              </a:rPr>
              <a:t>1.330 ms</a:t>
            </a:r>
          </a:p>
        </p:txBody>
      </p:sp>
      <p:sp>
        <p:nvSpPr>
          <p:cNvPr id="21" name="distance-bar-1">
            <a:extLst xmlns:a="http://schemas.openxmlformats.org/drawingml/2006/main">
              <a:ext uri="{FF2B5EF4-FFF2-40B4-BE49-F238E27FC236}">
                <a16:creationId xmlns:a16="http://schemas.microsoft.com/office/drawing/2014/main" id="{924A6CDC-835D-49EF-8ABB-437FB7535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667125"/>
            <a:ext cx="3039939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E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diagram-link">
            <a:extLst xmlns:a="http://schemas.openxmlformats.org/drawingml/2006/main">
              <a:ext uri="{FF2B5EF4-FFF2-40B4-BE49-F238E27FC236}">
                <a16:creationId xmlns:a16="http://schemas.microsoft.com/office/drawing/2014/main" id="{25BD27B8-9CCE-438E-A922-99BF1999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39528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7E5964B4-5C60-4F76-9C79-3B13FCAEE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3C969"/>
                </a:solidFill>
                <a:latin typeface="Arial"/>
                <a:ea typeface="Arial"/>
                <a:cs typeface="Arial"/>
              </a:rPr>
              <a:t>BFS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76C46139-CE84-461E-B13F-FE9CE935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0862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1,570.5 m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F806387E-0317-49D8-9CFC-47046995C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08622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958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874E5F3C-DF70-4451-96D9-17C88626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862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1E8"/>
                </a:solidFill>
                <a:latin typeface="Arial"/>
                <a:ea typeface="Arial"/>
                <a:cs typeface="Arial"/>
              </a:rPr>
              <a:t>0.931 ms</a:t>
            </a:r>
          </a:p>
        </p:txBody>
      </p:sp>
      <p:sp>
        <p:nvSpPr>
          <p:cNvPr id="27" name="distance-bar-2">
            <a:extLst xmlns:a="http://schemas.openxmlformats.org/drawingml/2006/main">
              <a:ext uri="{FF2B5EF4-FFF2-40B4-BE49-F238E27FC236}">
                <a16:creationId xmlns:a16="http://schemas.microsoft.com/office/drawing/2014/main" id="{075AD394-BDFA-42BB-ADBF-EBFA69030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495800"/>
            <a:ext cx="317879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9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750645E4-AEEB-4E3C-8143-677146465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3872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The map distance is physical walking distance. Algorithm cards show modeled cost in km-equivalent; under crowding, this cost and time rise without adding physical metres.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4A088D4F-3533-4334-B749-DDB504F43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435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*Single-run timing varies with machine load. Compare node expansions and route cost for a steadier view.</a:t>
            </a:r>
          </a:p>
        </p:txBody>
      </p:sp>
    </p:spTree>
    <p:extLst>
      <p:ext uri="{BB962C8B-B14F-4D97-AF65-F5344CB8AC3E}">
        <p14:creationId xmlns:p14="http://schemas.microsoft.com/office/powerpoint/2010/main" val="49480894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1D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6DB45240-3819-498E-AD99-96829D996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CAMPUS NAVIGATION ASSISTANT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3EB0E14E-F3FB-40C6-8DF7-FCDA46B75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Validation, assumptions and known limits</a:t>
            </a:r>
          </a:p>
        </p:txBody>
      </p:sp>
      <p:sp>
        <p:nvSpPr>
          <p:cNvPr id="3" name="footer-line">
            <a:extLst xmlns:a="http://schemas.openxmlformats.org/drawingml/2006/main">
              <a:ext uri="{FF2B5EF4-FFF2-40B4-BE49-F238E27FC236}">
                <a16:creationId xmlns:a16="http://schemas.microsoft.com/office/drawing/2014/main" id="{DA8D6512-E504-4421-8F06-5920AB7DD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7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01B6B7F-A9A3-4EF9-A643-EAB32A0AE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8BE"/>
                </a:solidFill>
                <a:latin typeface="Arial"/>
                <a:ea typeface="Arial"/>
                <a:cs typeface="Arial"/>
              </a:rPr>
              <a:t>VIT VELLORE  /  PROJECT REVIEW  /  10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46D3C5E-A610-47A7-AD1A-D9A18CB0A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CODE AND TEST COVERAGE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B6D2556-812A-4D08-8250-D11EA4972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95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The seven included test cases cover A* versus Dijkstra, BFS hop behavior, start = goal, unreachable routes, unknown locations, unique hostel names and heuristic safety.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0C038BB-714A-49B6-90B5-BFD364D4C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The map loader also checks duplicate IDs, finite coordinates, valid endpoints, positive distances and crowd factors of at least 1.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11B7900-34AF-4F9D-BB43-5DD684F70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48590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WHAT THE MAP AND TIME MEAN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56A5C89-10DC-455A-9A22-450E9B18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85950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OSM is community-maintained, not an official VIT navigation dataset. Named places may not have mapped entrances, so the app snaps them to nearby paths.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881158C-470F-4F61-98BD-136C7D80D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5750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Edges are treated as two-way. The graph includes mapped steps and access roads. Walking time assumes a constant 1.4 m/s.</a:t>
            </a:r>
          </a:p>
        </p:txBody>
      </p:sp>
      <p:sp>
        <p:nvSpPr>
          <p:cNvPr id="11" name="limit-note">
            <a:extLst xmlns:a="http://schemas.openxmlformats.org/drawingml/2006/main">
              <a:ext uri="{FF2B5EF4-FFF2-40B4-BE49-F238E27FC236}">
                <a16:creationId xmlns:a16="http://schemas.microsoft.com/office/drawing/2014/main" id="{7CE38424-FDF5-4E91-88E6-85BF6633B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14825"/>
            <a:ext cx="10820400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B38"/>
          </a:solidFill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2408836-4FCB-49FD-A8EE-534C57AFD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43425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C969"/>
                </a:solidFill>
                <a:latin typeface="Arial"/>
                <a:ea typeface="Arial"/>
                <a:cs typeface="Arial"/>
              </a:rPr>
              <a:t>CURRENT LIMITATIONS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54EF8F2-4F79-4992-8C38-4C1DDBCEA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339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The app now supports user-selected crowd scenarios (1.00x / 1.25x / 1.50x), but not live crowd sensing. Closures, step-free accessibility, terrain difficulty and personalized walking speed remain outside the current data.</a:t>
            </a:r>
          </a:p>
        </p:txBody>
      </p:sp>
    </p:spTree>
    <p:extLst>
      <p:ext uri="{BB962C8B-B14F-4D97-AF65-F5344CB8AC3E}">
        <p14:creationId xmlns:p14="http://schemas.microsoft.com/office/powerpoint/2010/main" val="138104398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01D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91BBB894-3D7A-4C1A-B34F-A22E6F608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CAMPUS NAVIGATION ASSISTANT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543A5DC1-22DA-44FE-BFA8-E65C80AA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Project team and review handoff</a:t>
            </a:r>
          </a:p>
        </p:txBody>
      </p:sp>
      <p:sp>
        <p:nvSpPr>
          <p:cNvPr id="3" name="footer-line">
            <a:extLst xmlns:a="http://schemas.openxmlformats.org/drawingml/2006/main">
              <a:ext uri="{FF2B5EF4-FFF2-40B4-BE49-F238E27FC236}">
                <a16:creationId xmlns:a16="http://schemas.microsoft.com/office/drawing/2014/main" id="{69DCB148-B0F1-4776-9717-49A050B79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7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CA04933-EA11-4E37-A9CC-351696106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8BE"/>
                </a:solidFill>
                <a:latin typeface="Arial"/>
                <a:ea typeface="Arial"/>
                <a:cs typeface="Arial"/>
              </a:rPr>
              <a:t>VIT VELLORE  /  PROJECT REVIEW  /  11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F27609D-D096-4F7D-BF25-52C111A76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TEAM MEMBERS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1528491-A78D-4C42-AE2C-D1085932F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3429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Rohit Arya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61BDC4C-050E-4BBA-98F8-91093E89D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9431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24BCE0819</a:t>
            </a:r>
          </a:p>
        </p:txBody>
      </p:sp>
      <p:sp>
        <p:nvSpPr>
          <p:cNvPr id="8" name="diagram-link">
            <a:extLst xmlns:a="http://schemas.openxmlformats.org/drawingml/2006/main">
              <a:ext uri="{FF2B5EF4-FFF2-40B4-BE49-F238E27FC236}">
                <a16:creationId xmlns:a16="http://schemas.microsoft.com/office/drawing/2014/main" id="{B71C6C9F-B0AC-44B7-8029-8CCFECB07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2333625"/>
            <a:ext cx="541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811314F-8442-480E-B9FA-8689DFDFD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3429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Nayan Gattani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7DC31D1-83BB-45C9-8251-EF26F5939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56222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24BDS0117</a:t>
            </a:r>
          </a:p>
        </p:txBody>
      </p:sp>
      <p:sp>
        <p:nvSpPr>
          <p:cNvPr id="11" name="diagram-link">
            <a:extLst xmlns:a="http://schemas.openxmlformats.org/drawingml/2006/main">
              <a:ext uri="{FF2B5EF4-FFF2-40B4-BE49-F238E27FC236}">
                <a16:creationId xmlns:a16="http://schemas.microsoft.com/office/drawing/2014/main" id="{7F73B48F-7D62-4CDD-81DD-F5183E1FA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2952750"/>
            <a:ext cx="541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7CE4D29-62CC-461F-A315-B11773BAD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3429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Aditya Kumar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4609BFA-6831-4154-B247-99876A744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813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24BCE0205</a:t>
            </a:r>
          </a:p>
        </p:txBody>
      </p:sp>
      <p:sp>
        <p:nvSpPr>
          <p:cNvPr id="14" name="diagram-link">
            <a:extLst xmlns:a="http://schemas.openxmlformats.org/drawingml/2006/main">
              <a:ext uri="{FF2B5EF4-FFF2-40B4-BE49-F238E27FC236}">
                <a16:creationId xmlns:a16="http://schemas.microsoft.com/office/drawing/2014/main" id="{73A62BFB-58AF-4FF0-87C2-88D7D1D4F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3571875"/>
            <a:ext cx="541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6D48202-07AF-43D1-9A9F-862BB94A3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425"/>
            <a:ext cx="3429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Ashish Kumar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524A3785-414B-4E11-B0BC-A2509FAB4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80047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24BKT0059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9EF42451-CBB3-45A3-A36D-77F210684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50495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RUN THE WEB APP</a:t>
            </a:r>
          </a:p>
        </p:txBody>
      </p:sp>
      <p:sp>
        <p:nvSpPr>
          <p:cNvPr id="18" name="runweb">
            <a:extLst xmlns:a="http://schemas.openxmlformats.org/drawingml/2006/main">
              <a:ext uri="{FF2B5EF4-FFF2-40B4-BE49-F238E27FC236}">
                <a16:creationId xmlns:a16="http://schemas.microsoft.com/office/drawing/2014/main" id="{4D5B66A8-E70C-4113-84E8-A29117674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905000"/>
            <a:ext cx="44577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B38"/>
          </a:solidFill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779BE3DE-2E35-4C93-BA6E-EFF658B0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1717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A8EEE3"/>
                </a:solidFill>
                <a:latin typeface="Arial"/>
                <a:ea typeface="Arial"/>
                <a:cs typeface="Arial"/>
              </a:rPr>
              <a:t>python web_app.py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115163F0-8F51-4C00-B913-4EE0107FD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886075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Open http://127.0.0.1:8000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DE14E74E-BEC2-4CC7-B4C4-E3245CF29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00450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RUN THE CLI</a:t>
            </a:r>
          </a:p>
        </p:txBody>
      </p:sp>
      <p:sp>
        <p:nvSpPr>
          <p:cNvPr id="22" name="runcli">
            <a:extLst xmlns:a="http://schemas.openxmlformats.org/drawingml/2006/main">
              <a:ext uri="{FF2B5EF4-FFF2-40B4-BE49-F238E27FC236}">
                <a16:creationId xmlns:a16="http://schemas.microsoft.com/office/drawing/2014/main" id="{F3B92198-4259-4345-8EC5-7D1C5695E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990975"/>
            <a:ext cx="44577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B38"/>
          </a:solidFill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3AA7B80C-3475-4912-A571-D060995E5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2576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A8EEE3"/>
                </a:solidFill>
                <a:latin typeface="Arial"/>
                <a:ea typeface="Arial"/>
                <a:cs typeface="Arial"/>
              </a:rPr>
              <a:t>python campus_nav.py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2AB066EA-4175-4CA2-9148-70245ED42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991100"/>
            <a:ext cx="438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Python 3.10 or newer. Leaflet and map tiles need internet in the browser.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E1547A46-3E2A-4024-807E-402276F17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Map and tile attribution: OpenStreetMap contributors · Open Database License (ODbL)</a:t>
            </a:r>
          </a:p>
        </p:txBody>
      </p:sp>
    </p:spTree>
    <p:extLst>
      <p:ext uri="{BB962C8B-B14F-4D97-AF65-F5344CB8AC3E}">
        <p14:creationId xmlns:p14="http://schemas.microsoft.com/office/powerpoint/2010/main" val="7655114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2026-10-29T12:05:56.4880000Z</dcterms:created>
  <dcterms:modified xsi:type="dcterms:W3CDTF">2026-10-29T12:05:56.4880000Z</dcterms:modified>
</coreProperties>
</file>