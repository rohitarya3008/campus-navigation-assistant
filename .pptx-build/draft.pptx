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5d09ed167a54690" /><Relationship Type="http://schemas.openxmlformats.org/officeDocument/2006/relationships/extended-properties" Target="/docProps/app.xml" Id="Rab4d6e6cd8354259" /><Relationship Type="http://schemas.openxmlformats.org/officeDocument/2006/relationships/officeDocument" Target="/ppt/presentation.xml" Id="Rfb43c5a492914ed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9e3fec3423f4a65"/>
  </p:sldMasterIdLst>
  <p:notesMasterIdLst>
    <p:notesMasterId xmlns:r="http://schemas.openxmlformats.org/officeDocument/2006/relationships" r:id="Rd5b2de6c073147f8"/>
  </p:notesMasterIdLst>
  <p:sldIdLst>
    <p:sldId xmlns:r="http://schemas.openxmlformats.org/officeDocument/2006/relationships" id="256" r:id="R165dba82c7b745f1"/>
    <p:sldId xmlns:r="http://schemas.openxmlformats.org/officeDocument/2006/relationships" id="257" r:id="R8d8f27f336eb42a4"/>
    <p:sldId xmlns:r="http://schemas.openxmlformats.org/officeDocument/2006/relationships" id="258" r:id="Racab9d847eea4a14"/>
    <p:sldId xmlns:r="http://schemas.openxmlformats.org/officeDocument/2006/relationships" id="259" r:id="R6f6e3342d78d438f"/>
    <p:sldId xmlns:r="http://schemas.openxmlformats.org/officeDocument/2006/relationships" id="260" r:id="R9cada2a081054988"/>
    <p:sldId xmlns:r="http://schemas.openxmlformats.org/officeDocument/2006/relationships" id="261" r:id="R93fdb1ef70304afe"/>
    <p:sldId xmlns:r="http://schemas.openxmlformats.org/officeDocument/2006/relationships" id="262" r:id="Rcec0703f81b84ec2"/>
    <p:sldId xmlns:r="http://schemas.openxmlformats.org/officeDocument/2006/relationships" id="263" r:id="Rf57ea294dc6042a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a1a2b34a2e64d90" /><Relationship Type="http://schemas.openxmlformats.org/officeDocument/2006/relationships/slideMaster" Target="/ppt/slideMasters/slideMaster1.xml" Id="Re9e3fec3423f4a65" /><Relationship Type="http://schemas.openxmlformats.org/officeDocument/2006/relationships/notesMaster" Target="/ppt/notesMasters/notesMaster1.xml" Id="Rd5b2de6c073147f8" /><Relationship Type="http://schemas.openxmlformats.org/officeDocument/2006/relationships/presProps" Target="/ppt/presProps.xml" Id="R67aeaf0c53da4e24" /><Relationship Type="http://schemas.openxmlformats.org/officeDocument/2006/relationships/tableStyles" Target="/ppt/tableStyles.xml" Id="R5207fcc40d924652" /><Relationship Type="http://schemas.openxmlformats.org/officeDocument/2006/relationships/slide" Target="/ppt/slides/slide1.xml" Id="R165dba82c7b745f1" /><Relationship Type="http://schemas.openxmlformats.org/officeDocument/2006/relationships/slide" Target="/ppt/slides/slide2.xml" Id="R8d8f27f336eb42a4" /><Relationship Type="http://schemas.openxmlformats.org/officeDocument/2006/relationships/slide" Target="/ppt/slides/slide3.xml" Id="Racab9d847eea4a14" /><Relationship Type="http://schemas.openxmlformats.org/officeDocument/2006/relationships/slide" Target="/ppt/slides/slide4.xml" Id="R6f6e3342d78d438f" /><Relationship Type="http://schemas.openxmlformats.org/officeDocument/2006/relationships/slide" Target="/ppt/slides/slide5.xml" Id="R9cada2a081054988" /><Relationship Type="http://schemas.openxmlformats.org/officeDocument/2006/relationships/slide" Target="/ppt/slides/slide6.xml" Id="R93fdb1ef70304afe" /><Relationship Type="http://schemas.openxmlformats.org/officeDocument/2006/relationships/slide" Target="/ppt/slides/slide7.xml" Id="Rcec0703f81b84ec2" /><Relationship Type="http://schemas.openxmlformats.org/officeDocument/2006/relationships/slide" Target="/ppt/slides/slide8.xml" Id="Rf57ea294dc6042a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a9d1c5ba93b404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b3468da649e4822" /><Relationship Type="http://schemas.openxmlformats.org/officeDocument/2006/relationships/notesMaster" Target="/ppt/notesMasters/notesMaster1.xml" Id="Re208069392534da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800f8f8dd63458a" /><Relationship Type="http://schemas.openxmlformats.org/officeDocument/2006/relationships/notesMaster" Target="/ppt/notesMasters/notesMaster1.xml" Id="Raf7437645cb94ac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789eae734c74902" /><Relationship Type="http://schemas.openxmlformats.org/officeDocument/2006/relationships/notesMaster" Target="/ppt/notesMasters/notesMaster1.xml" Id="Rf4c6661a8f5041c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23bd6579cbd4c15" /><Relationship Type="http://schemas.openxmlformats.org/officeDocument/2006/relationships/notesMaster" Target="/ppt/notesMasters/notesMaster1.xml" Id="R23d3fcacd790401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eee51007ae54545" /><Relationship Type="http://schemas.openxmlformats.org/officeDocument/2006/relationships/notesMaster" Target="/ppt/notesMasters/notesMaster1.xml" Id="Rd945dc946a61408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dbd46143c7d4ba4" /><Relationship Type="http://schemas.openxmlformats.org/officeDocument/2006/relationships/notesMaster" Target="/ppt/notesMasters/notesMaster1.xml" Id="Re34b06eb8cbd499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2aba88bfd6a4060" /><Relationship Type="http://schemas.openxmlformats.org/officeDocument/2006/relationships/notesMaster" Target="/ppt/notesMasters/notesMaster1.xml" Id="R1d45c4a2142b420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c8636038faa4ad9" /><Relationship Type="http://schemas.openxmlformats.org/officeDocument/2006/relationships/notesMaster" Target="/ppt/notesMasters/notesMaster1.xml" Id="R07b2f776cb15400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Campus_Navigation_Proposal (2).pdf. Project title, course context, team names and review label are drawn from the proposal.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Campus_Navigation_Proposal (2).pdf. The proposal identifies inefficient campus navigation during short transitions and optional dynamic crowd factors.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Campus_Navigation_Proposal (2).pdf. The node layout and edge weights here are a conceptual illustration, not measured campus data.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Campus_Navigation_Proposal (2).pdf. A* score definition, Uniform Cost Search and Greedy Best-First Search relationship, and admissible Euclidean heuristic are described in the proposal.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Campus_Navigation_Proposal (2).pdf. The workflow summarizes the proposal’s inputs, A* technique, optional weights and outputs.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Campus_Navigation_Proposal (2).pdf. Crowd factors are optional proposal inputs. The data source and time-estimation formula are not specified.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Campus_Navigation_Proposal (2).pdf. The proposal names Dijkstra/UCS and BFS and specifies nodes expanded, computation time and total path cost. BFS measures edge count unless adapted to weighted costs.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Campus_Navigation_Proposal (2).pdf. Names, IDs and project title reproduced from the attached proposal.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7b325f792fe4e98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b036ac953564f4e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06b53f183e2401a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cfd040eec9c4138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6e702820d72451e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7d6a23348ab46a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9D52B7F-2AE8-43DD-9AC0-EE08C0940AA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B777E450-594E-4434-9AF6-539357EC9BC8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EAE568EE-1592-4792-9613-EE0F8C438BD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199311D-3602-4CC2-9351-C625A77ACCC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810C049B-3287-45F7-A9D1-2228BD0A058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3EE87B5E-1444-41D5-A441-A49C8AFF85D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653AC799-7845-4FAA-B2AF-DA74FFC8377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1E70BE70-78F7-4227-902B-D25699344DFA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034295E-2F2C-4F60-B560-D7ECA50A6A1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B87D9F6D-33E1-4CE6-A80C-CD95DCA1544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6ff73c4e68241c7" /><Relationship Type="http://schemas.openxmlformats.org/officeDocument/2006/relationships/slideLayout" Target="/ppt/slideLayouts/slideLayout1.xml" Id="R4feed3642a01456f" /><Relationship Type="http://schemas.openxmlformats.org/officeDocument/2006/relationships/slideLayout" Target="/ppt/slideLayouts/slideLayout2.xml" Id="R7e2dd27fa4714635" /><Relationship Type="http://schemas.openxmlformats.org/officeDocument/2006/relationships/slideLayout" Target="/ppt/slideLayouts/slideLayout3.xml" Id="R7f1838a683794264" /><Relationship Type="http://schemas.openxmlformats.org/officeDocument/2006/relationships/slideLayout" Target="/ppt/slideLayouts/slideLayout4.xml" Id="Rf095fcc7fcf9498d" /><Relationship Type="http://schemas.openxmlformats.org/officeDocument/2006/relationships/slideLayout" Target="/ppt/slideLayouts/slideLayout5.xml" Id="Rbdc245b065f941aa" /><Relationship Type="http://schemas.openxmlformats.org/officeDocument/2006/relationships/slideLayout" Target="/ppt/slideLayouts/slideLayout6.xml" Id="Rc2472ea3d4fc453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feed3642a01456f"/>
    <p:sldLayoutId xmlns:r="http://schemas.openxmlformats.org/officeDocument/2006/relationships" id="2147483650" r:id="R7e2dd27fa4714635"/>
    <p:sldLayoutId xmlns:r="http://schemas.openxmlformats.org/officeDocument/2006/relationships" id="2147483651" r:id="R7f1838a683794264"/>
    <p:sldLayoutId xmlns:r="http://schemas.openxmlformats.org/officeDocument/2006/relationships" id="2147483652" r:id="Rf095fcc7fcf9498d"/>
    <p:sldLayoutId xmlns:r="http://schemas.openxmlformats.org/officeDocument/2006/relationships" id="2147483653" r:id="Rbdc245b065f941aa"/>
    <p:sldLayoutId xmlns:r="http://schemas.openxmlformats.org/officeDocument/2006/relationships" id="2147483654" r:id="Rc2472ea3d4fc453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19fea01e6ec4a79" /><Relationship Type="http://schemas.openxmlformats.org/officeDocument/2006/relationships/notesSlide" Target="/ppt/notesSlides/notesSlide1.xml" Id="R861564bc51314f3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f9a00acc9e94f82" /><Relationship Type="http://schemas.openxmlformats.org/officeDocument/2006/relationships/notesSlide" Target="/ppt/notesSlides/notesSlide2.xml" Id="R87afcc6ae737439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9b93274a26c46d9" /><Relationship Type="http://schemas.openxmlformats.org/officeDocument/2006/relationships/notesSlide" Target="/ppt/notesSlides/notesSlide3.xml" Id="R8bc327259cc0465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84fff5914c54dcd" /><Relationship Type="http://schemas.openxmlformats.org/officeDocument/2006/relationships/notesSlide" Target="/ppt/notesSlides/notesSlide4.xml" Id="R9c055c527c384a7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3f90a277fce4012" /><Relationship Type="http://schemas.openxmlformats.org/officeDocument/2006/relationships/notesSlide" Target="/ppt/notesSlides/notesSlide5.xml" Id="R4d167f45d8f645a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190fa1ff8e843d7" /><Relationship Type="http://schemas.openxmlformats.org/officeDocument/2006/relationships/notesSlide" Target="/ppt/notesSlides/notesSlide6.xml" Id="Rf83b6fa79629440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de49a28654e4bce" /><Relationship Type="http://schemas.openxmlformats.org/officeDocument/2006/relationships/notesSlide" Target="/ppt/notesSlides/notesSlide7.xml" Id="R0f5bbdebfefa406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dad80a6d85540da" /><Relationship Type="http://schemas.openxmlformats.org/officeDocument/2006/relationships/notesSlide" Target="/ppt/notesSlides/notesSlide8.xml" Id="R462e4a13016543c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1D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accent">
            <a:extLst xmlns:a="http://schemas.openxmlformats.org/drawingml/2006/main">
              <a:ext uri="{FF2B5EF4-FFF2-40B4-BE49-F238E27FC236}">
                <a16:creationId xmlns:a16="http://schemas.microsoft.com/office/drawing/2014/main" id="{212B630E-6E6C-440D-8D9B-490FD021F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9D7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D246495C-5140-441A-8C9C-496D3A7C4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6200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49D7C4"/>
                </a:solidFill>
                <a:latin typeface="Arial"/>
                <a:ea typeface="Arial"/>
                <a:cs typeface="Arial"/>
              </a:rPr>
              <a:t>ARTIFICIAL INTELLIGENCE  /  PROJECT PRESENTATION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5D1F1DC3-62DC-4BC9-A08C-2A58FC58C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466850"/>
            <a:ext cx="7334250" cy="167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435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defPPr>
            <a:lvl1pPr algn="l">
              <a:defRPr sz="435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1pPr>
            <a:lvl2pPr algn="l">
              <a:defRPr sz="435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2pPr>
            <a:lvl3pPr algn="l">
              <a:defRPr sz="435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3pPr>
            <a:lvl4pPr algn="l">
              <a:defRPr sz="435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4pPr>
            <a:lvl5pPr algn="l">
              <a:defRPr sz="435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5pPr>
            <a:lvl6pPr algn="l">
              <a:defRPr sz="435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6pPr>
            <a:lvl7pPr algn="l">
              <a:defRPr sz="435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7pPr>
            <a:lvl8pPr algn="l">
              <a:defRPr sz="435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8pPr>
            <a:lvl9pPr algn="l">
              <a:defRPr sz="435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435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F4F1E8"/>
                </a:solidFill>
                <a:latin typeface="Arial"/>
                <a:ea typeface="Arial"/>
                <a:cs typeface="Arial"/>
              </a:rPr>
              <a:t>Campus Navigation</a:t>
            </a:r>
          </a:p>
          <a:p xmlns:a="http://schemas.openxmlformats.org/drawingml/2006/main">
            <a:pPr algn="l">
              <a:defRPr sz="435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F4F1E8"/>
                </a:solidFill>
                <a:latin typeface="Arial"/>
                <a:ea typeface="Arial"/>
                <a:cs typeface="Arial"/>
              </a:rPr>
              <a:t>Assistant using A*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DDAF261A-38E1-4DE5-9855-95DCFEE18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429000"/>
            <a:ext cx="666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7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A9B8BE"/>
                </a:solidFill>
                <a:latin typeface="Arial"/>
                <a:ea typeface="Arial"/>
                <a:cs typeface="Arial"/>
              </a:rPr>
              <a:t>An intelligent pedestrian route planner for university campuses</a:t>
            </a:r>
          </a:p>
        </p:txBody>
      </p:sp>
      <p:sp>
        <p:nvSpPr>
          <p:cNvPr id="5" name="rule">
            <a:extLst xmlns:a="http://schemas.openxmlformats.org/drawingml/2006/main">
              <a:ext uri="{FF2B5EF4-FFF2-40B4-BE49-F238E27FC236}">
                <a16:creationId xmlns:a16="http://schemas.microsoft.com/office/drawing/2014/main" id="{A2453E3A-E4D1-43B4-A91A-CD05F9FA9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33875"/>
            <a:ext cx="4191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9D7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C0717153-557E-4167-ADB6-28812DB4A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629150"/>
            <a:ext cx="95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49D7C4"/>
                </a:solidFill>
                <a:latin typeface="Arial"/>
                <a:ea typeface="Arial"/>
                <a:cs typeface="Arial"/>
              </a:rPr>
              <a:t>TEAM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7D36AC5C-22D7-4E45-8DFE-74098CE48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53000"/>
            <a:ext cx="8096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F4F1E8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0">
                <a:solidFill>
                  <a:srgbClr val="F4F1E8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0">
                <a:solidFill>
                  <a:srgbClr val="F4F1E8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0">
                <a:solidFill>
                  <a:srgbClr val="F4F1E8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0">
                <a:solidFill>
                  <a:srgbClr val="F4F1E8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0">
                <a:solidFill>
                  <a:srgbClr val="F4F1E8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0">
                <a:solidFill>
                  <a:srgbClr val="F4F1E8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0">
                <a:solidFill>
                  <a:srgbClr val="F4F1E8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0">
                <a:solidFill>
                  <a:srgbClr val="F4F1E8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0">
                <a:solidFill>
                  <a:srgbClr val="F4F1E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F4F1E8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F4F1E8"/>
                </a:solidFill>
                <a:latin typeface="Arial"/>
                <a:ea typeface="Arial"/>
                <a:cs typeface="Arial"/>
              </a:rPr>
              <a:t>Rohit Arya  ·  Nayan Gattani  ·  Aditya Kumar  ·  Ashish Kumar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7E446E28-FBAD-48FF-A807-8471EA8D6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048375"/>
            <a:ext cx="228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A9B8BE"/>
                </a:solidFill>
                <a:latin typeface="Arial"/>
                <a:ea typeface="Arial"/>
                <a:cs typeface="Arial"/>
              </a:rPr>
              <a:t>Review 1</a:t>
            </a:r>
          </a:p>
        </p:txBody>
      </p:sp>
      <p:sp>
        <p:nvSpPr>
          <p:cNvPr id="9" name="path-segment">
            <a:extLst xmlns:a="http://schemas.openxmlformats.org/drawingml/2006/main">
              <a:ext uri="{FF2B5EF4-FFF2-40B4-BE49-F238E27FC236}">
                <a16:creationId xmlns:a16="http://schemas.microsoft.com/office/drawing/2014/main" id="{6797B4A4-7E8A-4897-A2F6-EF5AE185F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9048750" y="4305300"/>
            <a:ext cx="819150" cy="590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49D7C4"/>
            </a:solidFill>
            <a:prstDash val="solid"/>
          </a:ln>
        </p:spPr>
      </p:sp>
      <p:sp>
        <p:nvSpPr>
          <p:cNvPr id="10" name="path-segment">
            <a:extLst xmlns:a="http://schemas.openxmlformats.org/drawingml/2006/main">
              <a:ext uri="{FF2B5EF4-FFF2-40B4-BE49-F238E27FC236}">
                <a16:creationId xmlns:a16="http://schemas.microsoft.com/office/drawing/2014/main" id="{B0DE8D03-7949-4671-98FF-869E79DD8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9867900" y="4305300"/>
            <a:ext cx="590550" cy="571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49D7C4"/>
            </a:solidFill>
            <a:prstDash val="solid"/>
          </a:ln>
        </p:spPr>
      </p:sp>
      <p:sp>
        <p:nvSpPr>
          <p:cNvPr id="11" name="path-segment">
            <a:extLst xmlns:a="http://schemas.openxmlformats.org/drawingml/2006/main">
              <a:ext uri="{FF2B5EF4-FFF2-40B4-BE49-F238E27FC236}">
                <a16:creationId xmlns:a16="http://schemas.microsoft.com/office/drawing/2014/main" id="{5E9A3DB2-5F41-4804-BF99-DE9BE3A96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10458450" y="3857625"/>
            <a:ext cx="628650" cy="10191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49D7C4"/>
            </a:solidFill>
            <a:prstDash val="solid"/>
          </a:ln>
        </p:spPr>
      </p:sp>
      <p:sp>
        <p:nvSpPr>
          <p:cNvPr id="12" name="path-segment">
            <a:extLst xmlns:a="http://schemas.openxmlformats.org/drawingml/2006/main">
              <a:ext uri="{FF2B5EF4-FFF2-40B4-BE49-F238E27FC236}">
                <a16:creationId xmlns:a16="http://schemas.microsoft.com/office/drawing/2014/main" id="{37B3A268-A908-406E-8094-F7E846AF0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1">
            <a:off x="10363200" y="3143250"/>
            <a:ext cx="723900" cy="7143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49D7C4"/>
            </a:solidFill>
            <a:prstDash val="solid"/>
          </a:ln>
        </p:spPr>
      </p:sp>
      <p:sp>
        <p:nvSpPr>
          <p:cNvPr id="13" name="path-segment">
            <a:extLst xmlns:a="http://schemas.openxmlformats.org/drawingml/2006/main">
              <a:ext uri="{FF2B5EF4-FFF2-40B4-BE49-F238E27FC236}">
                <a16:creationId xmlns:a16="http://schemas.microsoft.com/office/drawing/2014/main" id="{D2AA2042-4138-488A-8A2E-3A7C71357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10363200" y="2505075"/>
            <a:ext cx="990600" cy="6381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14754"/>
            </a:solidFill>
            <a:prstDash val="solid"/>
          </a:ln>
        </p:spPr>
      </p:sp>
      <p:sp>
        <p:nvSpPr>
          <p:cNvPr id="14" name="path-segment">
            <a:extLst xmlns:a="http://schemas.openxmlformats.org/drawingml/2006/main">
              <a:ext uri="{FF2B5EF4-FFF2-40B4-BE49-F238E27FC236}">
                <a16:creationId xmlns:a16="http://schemas.microsoft.com/office/drawing/2014/main" id="{35F87906-B660-409D-925D-1551A6353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1">
            <a:off x="10410825" y="1790700"/>
            <a:ext cx="942975" cy="7143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14754"/>
            </a:solidFill>
            <a:prstDash val="solid"/>
          </a:ln>
        </p:spPr>
      </p:sp>
      <p:sp>
        <p:nvSpPr>
          <p:cNvPr id="15" name="path-segment">
            <a:extLst xmlns:a="http://schemas.openxmlformats.org/drawingml/2006/main">
              <a:ext uri="{FF2B5EF4-FFF2-40B4-BE49-F238E27FC236}">
                <a16:creationId xmlns:a16="http://schemas.microsoft.com/office/drawing/2014/main" id="{D64372B4-1294-42E9-A5F9-AF18F197D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0">
            <a:off x="9401175" y="1790700"/>
            <a:ext cx="1009650" cy="6381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14754"/>
            </a:solidFill>
            <a:prstDash val="solid"/>
          </a:ln>
        </p:spPr>
      </p:sp>
      <p:sp>
        <p:nvSpPr>
          <p:cNvPr id="16" name="path-segment">
            <a:extLst xmlns:a="http://schemas.openxmlformats.org/drawingml/2006/main">
              <a:ext uri="{FF2B5EF4-FFF2-40B4-BE49-F238E27FC236}">
                <a16:creationId xmlns:a16="http://schemas.microsoft.com/office/drawing/2014/main" id="{DE99240D-586C-41BE-BDB9-29121591B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0">
            <a:off x="8591550" y="2428875"/>
            <a:ext cx="809625" cy="95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14754"/>
            </a:solidFill>
            <a:prstDash val="solid"/>
          </a:ln>
        </p:spPr>
      </p:sp>
      <p:sp>
        <p:nvSpPr>
          <p:cNvPr id="17" name="waypoint-0">
            <a:extLst xmlns:a="http://schemas.openxmlformats.org/drawingml/2006/main">
              <a:ext uri="{FF2B5EF4-FFF2-40B4-BE49-F238E27FC236}">
                <a16:creationId xmlns:a16="http://schemas.microsoft.com/office/drawing/2014/main" id="{CAD3B5C4-C67B-4E5A-B16C-FE5ED8B42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3025" y="481012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C969"/>
          </a:solidFill>
          <a:ln xmlns:a="http://schemas.openxmlformats.org/drawingml/2006/main" w="19050">
            <a:solidFill>
              <a:srgbClr val="F3C969"/>
            </a:solidFill>
            <a:prstDash val="solid"/>
          </a:ln>
        </p:spPr>
      </p:sp>
      <p:sp>
        <p:nvSpPr>
          <p:cNvPr id="18" name="waypoint-1">
            <a:extLst xmlns:a="http://schemas.openxmlformats.org/drawingml/2006/main">
              <a:ext uri="{FF2B5EF4-FFF2-40B4-BE49-F238E27FC236}">
                <a16:creationId xmlns:a16="http://schemas.microsoft.com/office/drawing/2014/main" id="{1916DAEA-3E0F-4B70-906C-8B1ED3650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2175" y="421957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2A38"/>
          </a:solidFill>
          <a:ln xmlns:a="http://schemas.openxmlformats.org/drawingml/2006/main" w="19050">
            <a:solidFill>
              <a:srgbClr val="49D7C4"/>
            </a:solidFill>
            <a:prstDash val="solid"/>
          </a:ln>
        </p:spPr>
      </p:sp>
      <p:sp>
        <p:nvSpPr>
          <p:cNvPr id="19" name="waypoint-2">
            <a:extLst xmlns:a="http://schemas.openxmlformats.org/drawingml/2006/main">
              <a:ext uri="{FF2B5EF4-FFF2-40B4-BE49-F238E27FC236}">
                <a16:creationId xmlns:a16="http://schemas.microsoft.com/office/drawing/2014/main" id="{19DAB284-B416-42DA-808D-D583F983A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72725" y="479107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2A38"/>
          </a:solidFill>
          <a:ln xmlns:a="http://schemas.openxmlformats.org/drawingml/2006/main" w="19050">
            <a:solidFill>
              <a:srgbClr val="49D7C4"/>
            </a:solidFill>
            <a:prstDash val="solid"/>
          </a:ln>
        </p:spPr>
      </p:sp>
      <p:sp>
        <p:nvSpPr>
          <p:cNvPr id="20" name="waypoint-3">
            <a:extLst xmlns:a="http://schemas.openxmlformats.org/drawingml/2006/main">
              <a:ext uri="{FF2B5EF4-FFF2-40B4-BE49-F238E27FC236}">
                <a16:creationId xmlns:a16="http://schemas.microsoft.com/office/drawing/2014/main" id="{654A8E9F-62F4-4456-BA68-3D0795E49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37719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2A38"/>
          </a:solidFill>
          <a:ln xmlns:a="http://schemas.openxmlformats.org/drawingml/2006/main" w="19050">
            <a:solidFill>
              <a:srgbClr val="49D7C4"/>
            </a:solidFill>
            <a:prstDash val="solid"/>
          </a:ln>
        </p:spPr>
      </p:sp>
      <p:sp>
        <p:nvSpPr>
          <p:cNvPr id="21" name="waypoint-4">
            <a:extLst xmlns:a="http://schemas.openxmlformats.org/drawingml/2006/main">
              <a:ext uri="{FF2B5EF4-FFF2-40B4-BE49-F238E27FC236}">
                <a16:creationId xmlns:a16="http://schemas.microsoft.com/office/drawing/2014/main" id="{1196D81C-74CC-4E8C-AC63-E58DE36F3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77475" y="305752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C969"/>
          </a:solidFill>
          <a:ln xmlns:a="http://schemas.openxmlformats.org/drawingml/2006/main" w="19050">
            <a:solidFill>
              <a:srgbClr val="F3C969"/>
            </a:solidFill>
            <a:prstDash val="solid"/>
          </a:ln>
        </p:spPr>
      </p:sp>
      <p:sp>
        <p:nvSpPr>
          <p:cNvPr id="22" name="waypoint-5">
            <a:extLst xmlns:a="http://schemas.openxmlformats.org/drawingml/2006/main">
              <a:ext uri="{FF2B5EF4-FFF2-40B4-BE49-F238E27FC236}">
                <a16:creationId xmlns:a16="http://schemas.microsoft.com/office/drawing/2014/main" id="{6B8A11C0-8085-4091-A91A-2F5CF6D32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68075" y="24193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2A38"/>
          </a:solidFill>
          <a:ln xmlns:a="http://schemas.openxmlformats.org/drawingml/2006/main" w="19050">
            <a:solidFill>
              <a:srgbClr val="49D7C4"/>
            </a:solidFill>
            <a:prstDash val="solid"/>
          </a:ln>
        </p:spPr>
      </p:sp>
      <p:sp>
        <p:nvSpPr>
          <p:cNvPr id="23" name="waypoint-6">
            <a:extLst xmlns:a="http://schemas.openxmlformats.org/drawingml/2006/main">
              <a:ext uri="{FF2B5EF4-FFF2-40B4-BE49-F238E27FC236}">
                <a16:creationId xmlns:a16="http://schemas.microsoft.com/office/drawing/2014/main" id="{4B1602AD-5D0E-4680-A513-C327257BB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5100" y="170497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2A38"/>
          </a:solidFill>
          <a:ln xmlns:a="http://schemas.openxmlformats.org/drawingml/2006/main" w="19050">
            <a:solidFill>
              <a:srgbClr val="49D7C4"/>
            </a:solidFill>
            <a:prstDash val="solid"/>
          </a:ln>
        </p:spPr>
      </p:sp>
      <p:sp>
        <p:nvSpPr>
          <p:cNvPr id="24" name="waypoint-7">
            <a:extLst xmlns:a="http://schemas.openxmlformats.org/drawingml/2006/main">
              <a:ext uri="{FF2B5EF4-FFF2-40B4-BE49-F238E27FC236}">
                <a16:creationId xmlns:a16="http://schemas.microsoft.com/office/drawing/2014/main" id="{89B1A741-DCEB-4F06-8C59-5D796B167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23431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2A38"/>
          </a:solidFill>
          <a:ln xmlns:a="http://schemas.openxmlformats.org/drawingml/2006/main" w="19050">
            <a:solidFill>
              <a:srgbClr val="49D7C4"/>
            </a:solidFill>
            <a:prstDash val="solid"/>
          </a:ln>
        </p:spPr>
      </p:sp>
      <p:sp>
        <p:nvSpPr>
          <p:cNvPr id="25" name="waypoint-8">
            <a:extLst xmlns:a="http://schemas.openxmlformats.org/drawingml/2006/main">
              <a:ext uri="{FF2B5EF4-FFF2-40B4-BE49-F238E27FC236}">
                <a16:creationId xmlns:a16="http://schemas.microsoft.com/office/drawing/2014/main" id="{98FC9F94-E9FD-4CA9-AD5F-19FEA161C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5825" y="32956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2A38"/>
          </a:solidFill>
          <a:ln xmlns:a="http://schemas.openxmlformats.org/drawingml/2006/main" w="19050">
            <a:solidFill>
              <a:srgbClr val="49D7C4"/>
            </a:solidFill>
            <a:prstDash val="solid"/>
          </a:ln>
        </p:spPr>
      </p:sp>
      <p:sp>
        <p:nvSpPr>
          <p:cNvPr id="26" name="text">
            <a:extLst xmlns:a="http://schemas.openxmlformats.org/drawingml/2006/main">
              <a:ext uri="{FF2B5EF4-FFF2-40B4-BE49-F238E27FC236}">
                <a16:creationId xmlns:a16="http://schemas.microsoft.com/office/drawing/2014/main" id="{F3F56628-FC73-494C-B2A1-9FA070FFC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5172075"/>
            <a:ext cx="95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F3C969"/>
                </a:solidFill>
                <a:latin typeface="Arial"/>
                <a:ea typeface="Arial"/>
                <a:cs typeface="Arial"/>
              </a:defRPr>
            </a:defPPr>
            <a:lvl1pPr algn="l">
              <a:defRPr sz="975" b="1">
                <a:solidFill>
                  <a:srgbClr val="F3C969"/>
                </a:solidFill>
                <a:latin typeface="Arial"/>
                <a:ea typeface="Arial"/>
                <a:cs typeface="Arial"/>
              </a:defRPr>
            </a:lvl1pPr>
            <a:lvl2pPr algn="l">
              <a:defRPr sz="975" b="1">
                <a:solidFill>
                  <a:srgbClr val="F3C969"/>
                </a:solidFill>
                <a:latin typeface="Arial"/>
                <a:ea typeface="Arial"/>
                <a:cs typeface="Arial"/>
              </a:defRPr>
            </a:lvl2pPr>
            <a:lvl3pPr algn="l">
              <a:defRPr sz="975" b="1">
                <a:solidFill>
                  <a:srgbClr val="F3C969"/>
                </a:solidFill>
                <a:latin typeface="Arial"/>
                <a:ea typeface="Arial"/>
                <a:cs typeface="Arial"/>
              </a:defRPr>
            </a:lvl3pPr>
            <a:lvl4pPr algn="l">
              <a:defRPr sz="975" b="1">
                <a:solidFill>
                  <a:srgbClr val="F3C969"/>
                </a:solidFill>
                <a:latin typeface="Arial"/>
                <a:ea typeface="Arial"/>
                <a:cs typeface="Arial"/>
              </a:defRPr>
            </a:lvl4pPr>
            <a:lvl5pPr algn="l">
              <a:defRPr sz="975" b="1">
                <a:solidFill>
                  <a:srgbClr val="F3C969"/>
                </a:solidFill>
                <a:latin typeface="Arial"/>
                <a:ea typeface="Arial"/>
                <a:cs typeface="Arial"/>
              </a:defRPr>
            </a:lvl5pPr>
            <a:lvl6pPr algn="l">
              <a:defRPr sz="975" b="1">
                <a:solidFill>
                  <a:srgbClr val="F3C969"/>
                </a:solidFill>
                <a:latin typeface="Arial"/>
                <a:ea typeface="Arial"/>
                <a:cs typeface="Arial"/>
              </a:defRPr>
            </a:lvl6pPr>
            <a:lvl7pPr algn="l">
              <a:defRPr sz="975" b="1">
                <a:solidFill>
                  <a:srgbClr val="F3C969"/>
                </a:solidFill>
                <a:latin typeface="Arial"/>
                <a:ea typeface="Arial"/>
                <a:cs typeface="Arial"/>
              </a:defRPr>
            </a:lvl7pPr>
            <a:lvl8pPr algn="l">
              <a:defRPr sz="975" b="1">
                <a:solidFill>
                  <a:srgbClr val="F3C969"/>
                </a:solidFill>
                <a:latin typeface="Arial"/>
                <a:ea typeface="Arial"/>
                <a:cs typeface="Arial"/>
              </a:defRPr>
            </a:lvl8pPr>
            <a:lvl9pPr algn="l">
              <a:defRPr sz="975" b="1">
                <a:solidFill>
                  <a:srgbClr val="F3C96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F3C969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3C969"/>
                </a:solidFill>
                <a:latin typeface="Arial"/>
                <a:ea typeface="Arial"/>
                <a:cs typeface="Arial"/>
              </a:rPr>
              <a:t>START</a:t>
            </a:r>
          </a:p>
        </p:txBody>
      </p:sp>
      <p:sp>
        <p:nvSpPr>
          <p:cNvPr id="27" name="text">
            <a:extLst xmlns:a="http://schemas.openxmlformats.org/drawingml/2006/main">
              <a:ext uri="{FF2B5EF4-FFF2-40B4-BE49-F238E27FC236}">
                <a16:creationId xmlns:a16="http://schemas.microsoft.com/office/drawing/2014/main" id="{72493AAE-BFD6-4D6F-9F42-2508C7EF2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2667000"/>
            <a:ext cx="152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F3C969"/>
                </a:solidFill>
                <a:latin typeface="Arial"/>
                <a:ea typeface="Arial"/>
                <a:cs typeface="Arial"/>
              </a:defRPr>
            </a:defPPr>
            <a:lvl1pPr algn="l">
              <a:defRPr sz="975" b="1">
                <a:solidFill>
                  <a:srgbClr val="F3C969"/>
                </a:solidFill>
                <a:latin typeface="Arial"/>
                <a:ea typeface="Arial"/>
                <a:cs typeface="Arial"/>
              </a:defRPr>
            </a:lvl1pPr>
            <a:lvl2pPr algn="l">
              <a:defRPr sz="975" b="1">
                <a:solidFill>
                  <a:srgbClr val="F3C969"/>
                </a:solidFill>
                <a:latin typeface="Arial"/>
                <a:ea typeface="Arial"/>
                <a:cs typeface="Arial"/>
              </a:defRPr>
            </a:lvl2pPr>
            <a:lvl3pPr algn="l">
              <a:defRPr sz="975" b="1">
                <a:solidFill>
                  <a:srgbClr val="F3C969"/>
                </a:solidFill>
                <a:latin typeface="Arial"/>
                <a:ea typeface="Arial"/>
                <a:cs typeface="Arial"/>
              </a:defRPr>
            </a:lvl3pPr>
            <a:lvl4pPr algn="l">
              <a:defRPr sz="975" b="1">
                <a:solidFill>
                  <a:srgbClr val="F3C969"/>
                </a:solidFill>
                <a:latin typeface="Arial"/>
                <a:ea typeface="Arial"/>
                <a:cs typeface="Arial"/>
              </a:defRPr>
            </a:lvl4pPr>
            <a:lvl5pPr algn="l">
              <a:defRPr sz="975" b="1">
                <a:solidFill>
                  <a:srgbClr val="F3C969"/>
                </a:solidFill>
                <a:latin typeface="Arial"/>
                <a:ea typeface="Arial"/>
                <a:cs typeface="Arial"/>
              </a:defRPr>
            </a:lvl5pPr>
            <a:lvl6pPr algn="l">
              <a:defRPr sz="975" b="1">
                <a:solidFill>
                  <a:srgbClr val="F3C969"/>
                </a:solidFill>
                <a:latin typeface="Arial"/>
                <a:ea typeface="Arial"/>
                <a:cs typeface="Arial"/>
              </a:defRPr>
            </a:lvl6pPr>
            <a:lvl7pPr algn="l">
              <a:defRPr sz="975" b="1">
                <a:solidFill>
                  <a:srgbClr val="F3C969"/>
                </a:solidFill>
                <a:latin typeface="Arial"/>
                <a:ea typeface="Arial"/>
                <a:cs typeface="Arial"/>
              </a:defRPr>
            </a:lvl7pPr>
            <a:lvl8pPr algn="l">
              <a:defRPr sz="975" b="1">
                <a:solidFill>
                  <a:srgbClr val="F3C969"/>
                </a:solidFill>
                <a:latin typeface="Arial"/>
                <a:ea typeface="Arial"/>
                <a:cs typeface="Arial"/>
              </a:defRPr>
            </a:lvl8pPr>
            <a:lvl9pPr algn="l">
              <a:defRPr sz="975" b="1">
                <a:solidFill>
                  <a:srgbClr val="F3C96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F3C969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3C969"/>
                </a:solidFill>
                <a:latin typeface="Arial"/>
                <a:ea typeface="Arial"/>
                <a:cs typeface="Arial"/>
              </a:rPr>
              <a:t>DESTINATION</a:t>
            </a:r>
          </a:p>
        </p:txBody>
      </p:sp>
    </p:spTree>
    <p:extLst>
      <p:ext uri="{BB962C8B-B14F-4D97-AF65-F5344CB8AC3E}">
        <p14:creationId xmlns:p14="http://schemas.microsoft.com/office/powerpoint/2010/main" val="64410372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101D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229537BC-B1EE-43E4-B682-5C58221FB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523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49D7C4"/>
                </a:solidFill>
                <a:latin typeface="Arial"/>
                <a:ea typeface="Arial"/>
                <a:cs typeface="Arial"/>
              </a:rPr>
              <a:t>CAMPUS NAVIGATION ASSISTANT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DA1CD0C2-3022-46A9-BB06-0A979E229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315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defPPr>
            <a:lvl1pPr algn="l">
              <a:defRPr sz="315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1pPr>
            <a:lvl2pPr algn="l">
              <a:defRPr sz="315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2pPr>
            <a:lvl3pPr algn="l">
              <a:defRPr sz="315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3pPr>
            <a:lvl4pPr algn="l">
              <a:defRPr sz="315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4pPr>
            <a:lvl5pPr algn="l">
              <a:defRPr sz="315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5pPr>
            <a:lvl6pPr algn="l">
              <a:defRPr sz="315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6pPr>
            <a:lvl7pPr algn="l">
              <a:defRPr sz="315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7pPr>
            <a:lvl8pPr algn="l">
              <a:defRPr sz="315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8pPr>
            <a:lvl9pPr algn="l">
              <a:defRPr sz="315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15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F4F1E8"/>
                </a:solidFill>
                <a:latin typeface="Arial"/>
                <a:ea typeface="Arial"/>
                <a:cs typeface="Arial"/>
              </a:rPr>
              <a:t>The campus route problem</a:t>
            </a:r>
          </a:p>
        </p:txBody>
      </p:sp>
      <p:sp>
        <p:nvSpPr>
          <p:cNvPr id="3" name="footer-rule">
            <a:extLst xmlns:a="http://schemas.openxmlformats.org/drawingml/2006/main">
              <a:ext uri="{FF2B5EF4-FFF2-40B4-BE49-F238E27FC236}">
                <a16:creationId xmlns:a16="http://schemas.microsoft.com/office/drawing/2014/main" id="{13BC0903-D633-4A09-B4FA-01F6FAB99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1507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75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3B0677F6-ED24-43BB-B1F9-2D7142169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0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defPPr>
            <a:lvl1pPr algn="l">
              <a:defRPr sz="90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lvl1pPr>
            <a:lvl2pPr algn="l">
              <a:defRPr sz="90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lvl2pPr>
            <a:lvl3pPr algn="l">
              <a:defRPr sz="90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lvl3pPr>
            <a:lvl4pPr algn="l">
              <a:defRPr sz="90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lvl4pPr>
            <a:lvl5pPr algn="l">
              <a:defRPr sz="90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lvl5pPr>
            <a:lvl6pPr algn="l">
              <a:defRPr sz="90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lvl6pPr>
            <a:lvl7pPr algn="l">
              <a:defRPr sz="90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lvl7pPr>
            <a:lvl8pPr algn="l">
              <a:defRPr sz="90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lvl8pPr>
            <a:lvl9pPr algn="l">
              <a:defRPr sz="90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0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A9B8BE"/>
                </a:solidFill>
                <a:latin typeface="Arial"/>
                <a:ea typeface="Arial"/>
                <a:cs typeface="Arial"/>
              </a:rPr>
              <a:t>AI PROJECT  /  A* CAMPUS ROUTING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B0C454FA-6AEF-4E33-A848-FB267F5F4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57350"/>
            <a:ext cx="8382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2856"/>
          </a:bodyPr>
          <a:lstStyle xmlns:a="http://schemas.openxmlformats.org/drawingml/2006/main">
            <a:defPPr algn="l">
              <a:defRPr sz="195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defPPr>
            <a:lvl1pPr algn="l">
              <a:defRPr sz="195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1pPr>
            <a:lvl2pPr algn="l">
              <a:defRPr sz="195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2pPr>
            <a:lvl3pPr algn="l">
              <a:defRPr sz="195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3pPr>
            <a:lvl4pPr algn="l">
              <a:defRPr sz="195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4pPr>
            <a:lvl5pPr algn="l">
              <a:defRPr sz="195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5pPr>
            <a:lvl6pPr algn="l">
              <a:defRPr sz="195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6pPr>
            <a:lvl7pPr algn="l">
              <a:defRPr sz="195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7pPr>
            <a:lvl8pPr algn="l">
              <a:defRPr sz="195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8pPr>
            <a:lvl9pPr algn="l">
              <a:defRPr sz="195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95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4F1E8"/>
                </a:solidFill>
                <a:latin typeface="Arial"/>
                <a:ea typeface="Arial"/>
                <a:cs typeface="Arial"/>
              </a:rPr>
              <a:t>Students often have only a short window to move between distant buildings.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5973C44A-E19E-4D71-A06F-223D2EC0D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47900"/>
            <a:ext cx="7620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65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A9B8BE"/>
                </a:solidFill>
                <a:latin typeface="Arial"/>
                <a:ea typeface="Arial"/>
                <a:cs typeface="Arial"/>
              </a:rPr>
              <a:t>A useful route must account for more than straight-line distance. The campus layout, path lengths and changing pedestrian conditions affect travel.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7AB20E69-9149-4F07-98C4-F9374ED7B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81400"/>
            <a:ext cx="30480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49D7C4"/>
                </a:solidFill>
                <a:latin typeface="Arial"/>
                <a:ea typeface="Arial"/>
                <a:cs typeface="Arial"/>
              </a:rPr>
              <a:t>Long distances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96768EAD-A69E-4BFF-835D-3E9D392F5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05250"/>
            <a:ext cx="3048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F4F1E8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0">
                <a:solidFill>
                  <a:srgbClr val="F4F1E8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0">
                <a:solidFill>
                  <a:srgbClr val="F4F1E8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0">
                <a:solidFill>
                  <a:srgbClr val="F4F1E8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0">
                <a:solidFill>
                  <a:srgbClr val="F4F1E8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0">
                <a:solidFill>
                  <a:srgbClr val="F4F1E8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0">
                <a:solidFill>
                  <a:srgbClr val="F4F1E8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0">
                <a:solidFill>
                  <a:srgbClr val="F4F1E8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0">
                <a:solidFill>
                  <a:srgbClr val="F4F1E8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0">
                <a:solidFill>
                  <a:srgbClr val="F4F1E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F4F1E8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F4F1E8"/>
                </a:solidFill>
                <a:latin typeface="Arial"/>
                <a:ea typeface="Arial"/>
                <a:cs typeface="Arial"/>
              </a:rPr>
              <a:t>Academic blocks may sit far apart across campus.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56CA45AE-A69E-406A-929D-B1BB271A3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581400"/>
            <a:ext cx="30480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49D7C4"/>
                </a:solidFill>
                <a:latin typeface="Arial"/>
                <a:ea typeface="Arial"/>
                <a:cs typeface="Arial"/>
              </a:rPr>
              <a:t>Limited time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DE75D031-FF6A-454C-BB0B-E52D08431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905250"/>
            <a:ext cx="3048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F4F1E8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0">
                <a:solidFill>
                  <a:srgbClr val="F4F1E8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0">
                <a:solidFill>
                  <a:srgbClr val="F4F1E8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0">
                <a:solidFill>
                  <a:srgbClr val="F4F1E8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0">
                <a:solidFill>
                  <a:srgbClr val="F4F1E8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0">
                <a:solidFill>
                  <a:srgbClr val="F4F1E8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0">
                <a:solidFill>
                  <a:srgbClr val="F4F1E8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0">
                <a:solidFill>
                  <a:srgbClr val="F4F1E8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0">
                <a:solidFill>
                  <a:srgbClr val="F4F1E8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0">
                <a:solidFill>
                  <a:srgbClr val="F4F1E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F4F1E8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F4F1E8"/>
                </a:solidFill>
                <a:latin typeface="Arial"/>
                <a:ea typeface="Arial"/>
                <a:cs typeface="Arial"/>
              </a:rPr>
              <a:t>Class transitions leave little room for detours.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781AFE8C-EBD6-495F-9267-1D7D2DA46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3581400"/>
            <a:ext cx="3333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49D7C4"/>
                </a:solidFill>
                <a:latin typeface="Arial"/>
                <a:ea typeface="Arial"/>
                <a:cs typeface="Arial"/>
              </a:rPr>
              <a:t>Changing paths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90887CAC-7D78-4B52-A5D1-9C2276A68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3905250"/>
            <a:ext cx="3333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F4F1E8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0">
                <a:solidFill>
                  <a:srgbClr val="F4F1E8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0">
                <a:solidFill>
                  <a:srgbClr val="F4F1E8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0">
                <a:solidFill>
                  <a:srgbClr val="F4F1E8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0">
                <a:solidFill>
                  <a:srgbClr val="F4F1E8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0">
                <a:solidFill>
                  <a:srgbClr val="F4F1E8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0">
                <a:solidFill>
                  <a:srgbClr val="F4F1E8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0">
                <a:solidFill>
                  <a:srgbClr val="F4F1E8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0">
                <a:solidFill>
                  <a:srgbClr val="F4F1E8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0">
                <a:solidFill>
                  <a:srgbClr val="F4F1E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F4F1E8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F4F1E8"/>
                </a:solidFill>
                <a:latin typeface="Arial"/>
                <a:ea typeface="Arial"/>
                <a:cs typeface="Arial"/>
              </a:rPr>
              <a:t>Crowds and uneven terrain can affect route cost.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08A03F48-32BA-4B7F-996B-A252F04A3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9590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49D7C4"/>
                </a:solidFill>
                <a:latin typeface="Arial"/>
                <a:ea typeface="Arial"/>
                <a:cs typeface="Arial"/>
              </a:rPr>
              <a:t>PROJECT GOAL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7B5F7769-E747-4424-9492-064ACA005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81650"/>
            <a:ext cx="1009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defPPr>
            <a:lvl1pPr algn="l">
              <a:defRPr sz="18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1pPr>
            <a:lvl2pPr algn="l">
              <a:defRPr sz="18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2pPr>
            <a:lvl3pPr algn="l">
              <a:defRPr sz="18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3pPr>
            <a:lvl4pPr algn="l">
              <a:defRPr sz="18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4pPr>
            <a:lvl5pPr algn="l">
              <a:defRPr sz="18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5pPr>
            <a:lvl6pPr algn="l">
              <a:defRPr sz="18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6pPr>
            <a:lvl7pPr algn="l">
              <a:defRPr sz="18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7pPr>
            <a:lvl8pPr algn="l">
              <a:defRPr sz="18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8pPr>
            <a:lvl9pPr algn="l">
              <a:defRPr sz="18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4F1E8"/>
                </a:solidFill>
                <a:latin typeface="Arial"/>
                <a:ea typeface="Arial"/>
                <a:cs typeface="Arial"/>
              </a:rPr>
              <a:t>Find an efficient, time-aware walking route between any two campus landmarks.</a:t>
            </a:r>
          </a:p>
        </p:txBody>
      </p:sp>
    </p:spTree>
    <p:extLst>
      <p:ext uri="{BB962C8B-B14F-4D97-AF65-F5344CB8AC3E}">
        <p14:creationId xmlns:p14="http://schemas.microsoft.com/office/powerpoint/2010/main" val="203661751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101D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5" name="text">
            <a:extLst xmlns:a="http://schemas.openxmlformats.org/drawingml/2006/main">
              <a:ext uri="{FF2B5EF4-FFF2-40B4-BE49-F238E27FC236}">
                <a16:creationId xmlns:a16="http://schemas.microsoft.com/office/drawing/2014/main" id="{C90DD1B1-D1B4-4B3E-9B45-FBFBAA78D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523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49D7C4"/>
                </a:solidFill>
                <a:latin typeface="Arial"/>
                <a:ea typeface="Arial"/>
                <a:cs typeface="Arial"/>
              </a:rPr>
              <a:t>CAMPUS NAVIGATION ASSISTANT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862BC9F6-8ED3-4139-9279-02C97C2D6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315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defPPr>
            <a:lvl1pPr algn="l">
              <a:defRPr sz="315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1pPr>
            <a:lvl2pPr algn="l">
              <a:defRPr sz="315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2pPr>
            <a:lvl3pPr algn="l">
              <a:defRPr sz="315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3pPr>
            <a:lvl4pPr algn="l">
              <a:defRPr sz="315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4pPr>
            <a:lvl5pPr algn="l">
              <a:defRPr sz="315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5pPr>
            <a:lvl6pPr algn="l">
              <a:defRPr sz="315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6pPr>
            <a:lvl7pPr algn="l">
              <a:defRPr sz="315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7pPr>
            <a:lvl8pPr algn="l">
              <a:defRPr sz="315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8pPr>
            <a:lvl9pPr algn="l">
              <a:defRPr sz="315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15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F4F1E8"/>
                </a:solidFill>
                <a:latin typeface="Arial"/>
                <a:ea typeface="Arial"/>
                <a:cs typeface="Arial"/>
              </a:rPr>
              <a:t>Campus modeled as a weighted graph</a:t>
            </a:r>
          </a:p>
        </p:txBody>
      </p:sp>
      <p:sp>
        <p:nvSpPr>
          <p:cNvPr id="3" name="footer-rule">
            <a:extLst xmlns:a="http://schemas.openxmlformats.org/drawingml/2006/main">
              <a:ext uri="{FF2B5EF4-FFF2-40B4-BE49-F238E27FC236}">
                <a16:creationId xmlns:a16="http://schemas.microsoft.com/office/drawing/2014/main" id="{FE8E9636-753C-43E5-894D-23B4DA210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1507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75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ADFB0066-1FDA-41FA-9A86-16B194C14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0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defPPr>
            <a:lvl1pPr algn="l">
              <a:defRPr sz="90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lvl1pPr>
            <a:lvl2pPr algn="l">
              <a:defRPr sz="90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lvl2pPr>
            <a:lvl3pPr algn="l">
              <a:defRPr sz="90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lvl3pPr>
            <a:lvl4pPr algn="l">
              <a:defRPr sz="90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lvl4pPr>
            <a:lvl5pPr algn="l">
              <a:defRPr sz="90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lvl5pPr>
            <a:lvl6pPr algn="l">
              <a:defRPr sz="90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lvl6pPr>
            <a:lvl7pPr algn="l">
              <a:defRPr sz="90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lvl7pPr>
            <a:lvl8pPr algn="l">
              <a:defRPr sz="90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lvl8pPr>
            <a:lvl9pPr algn="l">
              <a:defRPr sz="90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0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A9B8BE"/>
                </a:solidFill>
                <a:latin typeface="Arial"/>
                <a:ea typeface="Arial"/>
                <a:cs typeface="Arial"/>
              </a:rPr>
              <a:t>AI PROJECT  /  A* CAMPUS ROUTING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E09CBE1E-5317-49C1-9B47-C0D34D664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933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defPPr>
            <a:lvl1pPr algn="l">
              <a:defRPr sz="18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1pPr>
            <a:lvl2pPr algn="l">
              <a:defRPr sz="18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2pPr>
            <a:lvl3pPr algn="l">
              <a:defRPr sz="18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3pPr>
            <a:lvl4pPr algn="l">
              <a:defRPr sz="18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4pPr>
            <a:lvl5pPr algn="l">
              <a:defRPr sz="18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5pPr>
            <a:lvl6pPr algn="l">
              <a:defRPr sz="18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6pPr>
            <a:lvl7pPr algn="l">
              <a:defRPr sz="18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7pPr>
            <a:lvl8pPr algn="l">
              <a:defRPr sz="18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8pPr>
            <a:lvl9pPr algn="l">
              <a:defRPr sz="18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4F1E8"/>
                </a:solidFill>
                <a:latin typeface="Arial"/>
                <a:ea typeface="Arial"/>
                <a:cs typeface="Arial"/>
              </a:rPr>
              <a:t>Buildings and landmarks become nodes. Walkable paths become weighted edges.</a:t>
            </a:r>
          </a:p>
        </p:txBody>
      </p:sp>
      <p:sp>
        <p:nvSpPr>
          <p:cNvPr id="6" name="path-segment">
            <a:extLst xmlns:a="http://schemas.openxmlformats.org/drawingml/2006/main">
              <a:ext uri="{FF2B5EF4-FFF2-40B4-BE49-F238E27FC236}">
                <a16:creationId xmlns:a16="http://schemas.microsoft.com/office/drawing/2014/main" id="{4B1550D6-6FD2-4A7F-952C-4B4B760A9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1428750" y="2286000"/>
            <a:ext cx="2000250" cy="762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14754"/>
            </a:solidFill>
            <a:prstDash val="solid"/>
          </a:ln>
        </p:spPr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266ADEB1-F425-4FE4-82C5-ECD7E144A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2675" y="2495550"/>
            <a:ext cx="266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A9B8BE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8" name="path-segment">
            <a:extLst xmlns:a="http://schemas.openxmlformats.org/drawingml/2006/main">
              <a:ext uri="{FF2B5EF4-FFF2-40B4-BE49-F238E27FC236}">
                <a16:creationId xmlns:a16="http://schemas.microsoft.com/office/drawing/2014/main" id="{35D2839C-6733-43AF-8529-405BEDCEF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428750" y="3048000"/>
            <a:ext cx="2286000" cy="1238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14754"/>
            </a:solidFill>
            <a:prstDash val="solid"/>
          </a:ln>
        </p:spPr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9DDF7502-98D3-48C5-9396-2CB64897D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3495675"/>
            <a:ext cx="266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A9B8BE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0" name="path-segment">
            <a:extLst xmlns:a="http://schemas.openxmlformats.org/drawingml/2006/main">
              <a:ext uri="{FF2B5EF4-FFF2-40B4-BE49-F238E27FC236}">
                <a16:creationId xmlns:a16="http://schemas.microsoft.com/office/drawing/2014/main" id="{5EDFFD06-0D34-492E-9225-753D5D3D7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429000" y="2286000"/>
            <a:ext cx="285750" cy="2000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14754"/>
            </a:solidFill>
            <a:prstDash val="solid"/>
          </a:ln>
        </p:spPr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6C249F81-EC13-43C1-B9A4-CA8FB65B2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3114675"/>
            <a:ext cx="266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A9B8BE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2" name="path-segment">
            <a:extLst xmlns:a="http://schemas.openxmlformats.org/drawingml/2006/main">
              <a:ext uri="{FF2B5EF4-FFF2-40B4-BE49-F238E27FC236}">
                <a16:creationId xmlns:a16="http://schemas.microsoft.com/office/drawing/2014/main" id="{BBABA7F4-EA4C-4B8E-900F-2B37FA5EE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429000" y="2286000"/>
            <a:ext cx="2381250" cy="762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14754"/>
            </a:solidFill>
            <a:prstDash val="solid"/>
          </a:ln>
        </p:spPr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2BF72858-613C-4D93-9F30-6FD9F97A7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2495550"/>
            <a:ext cx="266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A9B8BE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4" name="path-segment">
            <a:extLst xmlns:a="http://schemas.openxmlformats.org/drawingml/2006/main">
              <a:ext uri="{FF2B5EF4-FFF2-40B4-BE49-F238E27FC236}">
                <a16:creationId xmlns:a16="http://schemas.microsoft.com/office/drawing/2014/main" id="{F41BEA0A-5579-4F97-B94D-0D0756D38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3714750" y="3048000"/>
            <a:ext cx="2095500" cy="1238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14754"/>
            </a:solidFill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F2DAA46E-4BEE-4AEA-88A6-7F2005171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495675"/>
            <a:ext cx="266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A9B8BE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6" name="path-segment">
            <a:extLst xmlns:a="http://schemas.openxmlformats.org/drawingml/2006/main">
              <a:ext uri="{FF2B5EF4-FFF2-40B4-BE49-F238E27FC236}">
                <a16:creationId xmlns:a16="http://schemas.microsoft.com/office/drawing/2014/main" id="{F9F1BC96-63B0-4877-BB52-3F9E35883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5810250" y="2190750"/>
            <a:ext cx="2143125" cy="857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14754"/>
            </a:solidFill>
            <a:prstDash val="solid"/>
          </a:ln>
        </p:spPr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B692C7AA-BA86-4F5F-838F-988E5CF05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5613" y="2447925"/>
            <a:ext cx="266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A9B8BE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8" name="path-segment">
            <a:extLst xmlns:a="http://schemas.openxmlformats.org/drawingml/2006/main">
              <a:ext uri="{FF2B5EF4-FFF2-40B4-BE49-F238E27FC236}">
                <a16:creationId xmlns:a16="http://schemas.microsoft.com/office/drawing/2014/main" id="{4A506F9D-D796-406C-BEB8-A61E4035F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810250" y="3048000"/>
            <a:ext cx="2286000" cy="1428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14754"/>
            </a:solidFill>
            <a:prstDash val="solid"/>
          </a:ln>
        </p:spPr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E8756B90-27D3-4257-94FB-7D2EA7676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3590925"/>
            <a:ext cx="266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A9B8BE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20" name="path-segment">
            <a:extLst xmlns:a="http://schemas.openxmlformats.org/drawingml/2006/main">
              <a:ext uri="{FF2B5EF4-FFF2-40B4-BE49-F238E27FC236}">
                <a16:creationId xmlns:a16="http://schemas.microsoft.com/office/drawing/2014/main" id="{7AE88136-3858-4D30-B47D-D580A4388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953375" y="2190750"/>
            <a:ext cx="2190750" cy="1047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14754"/>
            </a:solidFill>
            <a:prstDash val="solid"/>
          </a:ln>
        </p:spPr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1A99629B-C5F4-4426-8C00-CD47BC527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2543175"/>
            <a:ext cx="266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A9B8BE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22" name="path-segment">
            <a:extLst xmlns:a="http://schemas.openxmlformats.org/drawingml/2006/main">
              <a:ext uri="{FF2B5EF4-FFF2-40B4-BE49-F238E27FC236}">
                <a16:creationId xmlns:a16="http://schemas.microsoft.com/office/drawing/2014/main" id="{15520552-651C-42A0-BEE6-5D84569A6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8096250" y="3238500"/>
            <a:ext cx="2047875" cy="1238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14754"/>
            </a:solidFill>
            <a:prstDash val="solid"/>
          </a:ln>
        </p:spPr>
      </p:sp>
      <p:sp>
        <p:nvSpPr>
          <p:cNvPr id="23" name="text">
            <a:extLst xmlns:a="http://schemas.openxmlformats.org/drawingml/2006/main">
              <a:ext uri="{FF2B5EF4-FFF2-40B4-BE49-F238E27FC236}">
                <a16:creationId xmlns:a16="http://schemas.microsoft.com/office/drawing/2014/main" id="{1D59441C-A0FD-4C6F-A2A8-40F6EF3B6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3988" y="3686175"/>
            <a:ext cx="266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A9B8BE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24" name="path-segment">
            <a:extLst xmlns:a="http://schemas.openxmlformats.org/drawingml/2006/main">
              <a:ext uri="{FF2B5EF4-FFF2-40B4-BE49-F238E27FC236}">
                <a16:creationId xmlns:a16="http://schemas.microsoft.com/office/drawing/2014/main" id="{E2BA7509-DB88-4B0B-97C5-A68A7FF49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3429000" y="2190750"/>
            <a:ext cx="4524375" cy="95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14754"/>
            </a:solidFill>
            <a:prstDash val="solid"/>
          </a:ln>
        </p:spPr>
      </p:sp>
      <p:sp>
        <p:nvSpPr>
          <p:cNvPr id="25" name="text">
            <a:extLst xmlns:a="http://schemas.openxmlformats.org/drawingml/2006/main">
              <a:ext uri="{FF2B5EF4-FFF2-40B4-BE49-F238E27FC236}">
                <a16:creationId xmlns:a16="http://schemas.microsoft.com/office/drawing/2014/main" id="{5C0EC466-D7ED-4CF7-B350-518A50C35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4988" y="2066925"/>
            <a:ext cx="266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A9B8BE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26" name="path-segment">
            <a:extLst xmlns:a="http://schemas.openxmlformats.org/drawingml/2006/main">
              <a:ext uri="{FF2B5EF4-FFF2-40B4-BE49-F238E27FC236}">
                <a16:creationId xmlns:a16="http://schemas.microsoft.com/office/drawing/2014/main" id="{40433631-EDD5-40B3-9DD9-FD999ECD9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714750" y="4286250"/>
            <a:ext cx="4381500" cy="190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14754"/>
            </a:solidFill>
            <a:prstDash val="solid"/>
          </a:ln>
        </p:spPr>
      </p:sp>
      <p:sp>
        <p:nvSpPr>
          <p:cNvPr id="27" name="text">
            <a:extLst xmlns:a="http://schemas.openxmlformats.org/drawingml/2006/main">
              <a:ext uri="{FF2B5EF4-FFF2-40B4-BE49-F238E27FC236}">
                <a16:creationId xmlns:a16="http://schemas.microsoft.com/office/drawing/2014/main" id="{04011064-21EE-47D3-B2F8-8E7D1D1D1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4210050"/>
            <a:ext cx="266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A9B8BE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28" name="node-A">
            <a:extLst xmlns:a="http://schemas.openxmlformats.org/drawingml/2006/main">
              <a:ext uri="{FF2B5EF4-FFF2-40B4-BE49-F238E27FC236}">
                <a16:creationId xmlns:a16="http://schemas.microsoft.com/office/drawing/2014/main" id="{2C0B2B3D-C6C7-47F1-B718-DD11900EC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8384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C969"/>
          </a:solidFill>
          <a:ln xmlns:a="http://schemas.openxmlformats.org/drawingml/2006/main" w="19050">
            <a:solidFill>
              <a:srgbClr val="F3C969"/>
            </a:solidFill>
            <a:prstDash val="solid"/>
          </a:ln>
        </p:spPr>
      </p:sp>
      <p:sp>
        <p:nvSpPr>
          <p:cNvPr id="29" name="text">
            <a:extLst xmlns:a="http://schemas.openxmlformats.org/drawingml/2006/main">
              <a:ext uri="{FF2B5EF4-FFF2-40B4-BE49-F238E27FC236}">
                <a16:creationId xmlns:a16="http://schemas.microsoft.com/office/drawing/2014/main" id="{CDFEC9F6-C05F-4194-B2D9-C8ECCA5E6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952750"/>
            <a:ext cx="19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11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defPPr>
            <a:lvl1pPr algn="ctr">
              <a:defRPr sz="11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1pPr>
            <a:lvl2pPr algn="ctr">
              <a:defRPr sz="11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2pPr>
            <a:lvl3pPr algn="ctr">
              <a:defRPr sz="11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3pPr>
            <a:lvl4pPr algn="ctr">
              <a:defRPr sz="11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4pPr>
            <a:lvl5pPr algn="ctr">
              <a:defRPr sz="11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5pPr>
            <a:lvl6pPr algn="ctr">
              <a:defRPr sz="11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6pPr>
            <a:lvl7pPr algn="ctr">
              <a:defRPr sz="11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7pPr>
            <a:lvl8pPr algn="ctr">
              <a:defRPr sz="11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8pPr>
            <a:lvl9pPr algn="ctr">
              <a:defRPr sz="11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1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4F1E8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30" name="node-B">
            <a:extLst xmlns:a="http://schemas.openxmlformats.org/drawingml/2006/main">
              <a:ext uri="{FF2B5EF4-FFF2-40B4-BE49-F238E27FC236}">
                <a16:creationId xmlns:a16="http://schemas.microsoft.com/office/drawing/2014/main" id="{78D6A50E-6C02-4AC0-A5A4-608243669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20764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2A38"/>
          </a:solidFill>
          <a:ln xmlns:a="http://schemas.openxmlformats.org/drawingml/2006/main" w="19050">
            <a:solidFill>
              <a:srgbClr val="A8EEE3"/>
            </a:solidFill>
            <a:prstDash val="solid"/>
          </a:ln>
        </p:spPr>
      </p:sp>
      <p:sp>
        <p:nvSpPr>
          <p:cNvPr id="31" name="text">
            <a:extLst xmlns:a="http://schemas.openxmlformats.org/drawingml/2006/main">
              <a:ext uri="{FF2B5EF4-FFF2-40B4-BE49-F238E27FC236}">
                <a16:creationId xmlns:a16="http://schemas.microsoft.com/office/drawing/2014/main" id="{5751568F-D8AA-41B0-A6C6-148224BE3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190750"/>
            <a:ext cx="19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11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defPPr>
            <a:lvl1pPr algn="ctr">
              <a:defRPr sz="11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1pPr>
            <a:lvl2pPr algn="ctr">
              <a:defRPr sz="11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2pPr>
            <a:lvl3pPr algn="ctr">
              <a:defRPr sz="11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3pPr>
            <a:lvl4pPr algn="ctr">
              <a:defRPr sz="11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4pPr>
            <a:lvl5pPr algn="ctr">
              <a:defRPr sz="11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5pPr>
            <a:lvl6pPr algn="ctr">
              <a:defRPr sz="11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6pPr>
            <a:lvl7pPr algn="ctr">
              <a:defRPr sz="11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7pPr>
            <a:lvl8pPr algn="ctr">
              <a:defRPr sz="11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8pPr>
            <a:lvl9pPr algn="ctr">
              <a:defRPr sz="11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1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4F1E8"/>
                </a:solidFill>
                <a:latin typeface="Arial"/>
                <a:ea typeface="Arial"/>
                <a:cs typeface="Arial"/>
              </a:rPr>
              <a:t>B</a:t>
            </a:r>
          </a:p>
        </p:txBody>
      </p:sp>
      <p:sp>
        <p:nvSpPr>
          <p:cNvPr id="32" name="node-C">
            <a:extLst xmlns:a="http://schemas.openxmlformats.org/drawingml/2006/main">
              <a:ext uri="{FF2B5EF4-FFF2-40B4-BE49-F238E27FC236}">
                <a16:creationId xmlns:a16="http://schemas.microsoft.com/office/drawing/2014/main" id="{B0E417F1-5223-45C6-B808-D9F117582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40767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2A38"/>
          </a:solidFill>
          <a:ln xmlns:a="http://schemas.openxmlformats.org/drawingml/2006/main" w="19050">
            <a:solidFill>
              <a:srgbClr val="A8EEE3"/>
            </a:solidFill>
            <a:prstDash val="solid"/>
          </a:ln>
        </p:spPr>
      </p:sp>
      <p:sp>
        <p:nvSpPr>
          <p:cNvPr id="33" name="text">
            <a:extLst xmlns:a="http://schemas.openxmlformats.org/drawingml/2006/main">
              <a:ext uri="{FF2B5EF4-FFF2-40B4-BE49-F238E27FC236}">
                <a16:creationId xmlns:a16="http://schemas.microsoft.com/office/drawing/2014/main" id="{A2756AFC-195B-470F-BBC4-CF57E96C6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4191000"/>
            <a:ext cx="19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11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defPPr>
            <a:lvl1pPr algn="ctr">
              <a:defRPr sz="11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1pPr>
            <a:lvl2pPr algn="ctr">
              <a:defRPr sz="11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2pPr>
            <a:lvl3pPr algn="ctr">
              <a:defRPr sz="11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3pPr>
            <a:lvl4pPr algn="ctr">
              <a:defRPr sz="11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4pPr>
            <a:lvl5pPr algn="ctr">
              <a:defRPr sz="11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5pPr>
            <a:lvl6pPr algn="ctr">
              <a:defRPr sz="11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6pPr>
            <a:lvl7pPr algn="ctr">
              <a:defRPr sz="11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7pPr>
            <a:lvl8pPr algn="ctr">
              <a:defRPr sz="11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8pPr>
            <a:lvl9pPr algn="ctr">
              <a:defRPr sz="11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1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4F1E8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34" name="node-D">
            <a:extLst xmlns:a="http://schemas.openxmlformats.org/drawingml/2006/main">
              <a:ext uri="{FF2B5EF4-FFF2-40B4-BE49-F238E27FC236}">
                <a16:creationId xmlns:a16="http://schemas.microsoft.com/office/drawing/2014/main" id="{4188D321-69B1-4358-941F-33897F59C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28384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2A38"/>
          </a:solidFill>
          <a:ln xmlns:a="http://schemas.openxmlformats.org/drawingml/2006/main" w="19050">
            <a:solidFill>
              <a:srgbClr val="A8EEE3"/>
            </a:solidFill>
            <a:prstDash val="solid"/>
          </a:ln>
        </p:spPr>
      </p:sp>
      <p:sp>
        <p:nvSpPr>
          <p:cNvPr id="35" name="text">
            <a:extLst xmlns:a="http://schemas.openxmlformats.org/drawingml/2006/main">
              <a:ext uri="{FF2B5EF4-FFF2-40B4-BE49-F238E27FC236}">
                <a16:creationId xmlns:a16="http://schemas.microsoft.com/office/drawing/2014/main" id="{00276A4A-214D-4B0D-A00A-41209D793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2952750"/>
            <a:ext cx="19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11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defPPr>
            <a:lvl1pPr algn="ctr">
              <a:defRPr sz="11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1pPr>
            <a:lvl2pPr algn="ctr">
              <a:defRPr sz="11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2pPr>
            <a:lvl3pPr algn="ctr">
              <a:defRPr sz="11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3pPr>
            <a:lvl4pPr algn="ctr">
              <a:defRPr sz="11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4pPr>
            <a:lvl5pPr algn="ctr">
              <a:defRPr sz="11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5pPr>
            <a:lvl6pPr algn="ctr">
              <a:defRPr sz="11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6pPr>
            <a:lvl7pPr algn="ctr">
              <a:defRPr sz="11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7pPr>
            <a:lvl8pPr algn="ctr">
              <a:defRPr sz="11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8pPr>
            <a:lvl9pPr algn="ctr">
              <a:defRPr sz="11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1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4F1E8"/>
                </a:solidFill>
                <a:latin typeface="Arial"/>
                <a:ea typeface="Arial"/>
                <a:cs typeface="Arial"/>
              </a:rPr>
              <a:t>D</a:t>
            </a:r>
          </a:p>
        </p:txBody>
      </p:sp>
      <p:sp>
        <p:nvSpPr>
          <p:cNvPr id="36" name="node-E">
            <a:extLst xmlns:a="http://schemas.openxmlformats.org/drawingml/2006/main">
              <a:ext uri="{FF2B5EF4-FFF2-40B4-BE49-F238E27FC236}">
                <a16:creationId xmlns:a16="http://schemas.microsoft.com/office/drawing/2014/main" id="{E502C7D4-E079-4016-BD0C-E09236386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3825" y="19812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2A38"/>
          </a:solidFill>
          <a:ln xmlns:a="http://schemas.openxmlformats.org/drawingml/2006/main" w="19050">
            <a:solidFill>
              <a:srgbClr val="A8EEE3"/>
            </a:solidFill>
            <a:prstDash val="solid"/>
          </a:ln>
        </p:spPr>
      </p:sp>
      <p:sp>
        <p:nvSpPr>
          <p:cNvPr id="37" name="text">
            <a:extLst xmlns:a="http://schemas.openxmlformats.org/drawingml/2006/main">
              <a:ext uri="{FF2B5EF4-FFF2-40B4-BE49-F238E27FC236}">
                <a16:creationId xmlns:a16="http://schemas.microsoft.com/office/drawing/2014/main" id="{9D756A69-2373-417B-AC79-1B0040788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7175" y="2095500"/>
            <a:ext cx="19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11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defPPr>
            <a:lvl1pPr algn="ctr">
              <a:defRPr sz="11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1pPr>
            <a:lvl2pPr algn="ctr">
              <a:defRPr sz="11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2pPr>
            <a:lvl3pPr algn="ctr">
              <a:defRPr sz="11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3pPr>
            <a:lvl4pPr algn="ctr">
              <a:defRPr sz="11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4pPr>
            <a:lvl5pPr algn="ctr">
              <a:defRPr sz="11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5pPr>
            <a:lvl6pPr algn="ctr">
              <a:defRPr sz="11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6pPr>
            <a:lvl7pPr algn="ctr">
              <a:defRPr sz="11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7pPr>
            <a:lvl8pPr algn="ctr">
              <a:defRPr sz="11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8pPr>
            <a:lvl9pPr algn="ctr">
              <a:defRPr sz="11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1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4F1E8"/>
                </a:solidFill>
                <a:latin typeface="Arial"/>
                <a:ea typeface="Arial"/>
                <a:cs typeface="Arial"/>
              </a:rPr>
              <a:t>E</a:t>
            </a:r>
          </a:p>
        </p:txBody>
      </p:sp>
      <p:sp>
        <p:nvSpPr>
          <p:cNvPr id="38" name="node-F">
            <a:extLst xmlns:a="http://schemas.openxmlformats.org/drawingml/2006/main">
              <a:ext uri="{FF2B5EF4-FFF2-40B4-BE49-F238E27FC236}">
                <a16:creationId xmlns:a16="http://schemas.microsoft.com/office/drawing/2014/main" id="{B1654975-40B1-48E2-B227-1D45599FA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2672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2A38"/>
          </a:solidFill>
          <a:ln xmlns:a="http://schemas.openxmlformats.org/drawingml/2006/main" w="19050">
            <a:solidFill>
              <a:srgbClr val="A8EEE3"/>
            </a:solidFill>
            <a:prstDash val="solid"/>
          </a:ln>
        </p:spPr>
      </p:sp>
      <p:sp>
        <p:nvSpPr>
          <p:cNvPr id="39" name="text">
            <a:extLst xmlns:a="http://schemas.openxmlformats.org/drawingml/2006/main">
              <a:ext uri="{FF2B5EF4-FFF2-40B4-BE49-F238E27FC236}">
                <a16:creationId xmlns:a16="http://schemas.microsoft.com/office/drawing/2014/main" id="{9DDC6706-896C-45C4-91AC-DF5EDF7C5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381500"/>
            <a:ext cx="19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11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defPPr>
            <a:lvl1pPr algn="ctr">
              <a:defRPr sz="11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1pPr>
            <a:lvl2pPr algn="ctr">
              <a:defRPr sz="11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2pPr>
            <a:lvl3pPr algn="ctr">
              <a:defRPr sz="11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3pPr>
            <a:lvl4pPr algn="ctr">
              <a:defRPr sz="11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4pPr>
            <a:lvl5pPr algn="ctr">
              <a:defRPr sz="11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5pPr>
            <a:lvl6pPr algn="ctr">
              <a:defRPr sz="11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6pPr>
            <a:lvl7pPr algn="ctr">
              <a:defRPr sz="11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7pPr>
            <a:lvl8pPr algn="ctr">
              <a:defRPr sz="11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8pPr>
            <a:lvl9pPr algn="ctr">
              <a:defRPr sz="11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1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4F1E8"/>
                </a:solidFill>
                <a:latin typeface="Arial"/>
                <a:ea typeface="Arial"/>
                <a:cs typeface="Arial"/>
              </a:rPr>
              <a:t>F</a:t>
            </a:r>
          </a:p>
        </p:txBody>
      </p:sp>
      <p:sp>
        <p:nvSpPr>
          <p:cNvPr id="40" name="node-G">
            <a:extLst xmlns:a="http://schemas.openxmlformats.org/drawingml/2006/main">
              <a:ext uri="{FF2B5EF4-FFF2-40B4-BE49-F238E27FC236}">
                <a16:creationId xmlns:a16="http://schemas.microsoft.com/office/drawing/2014/main" id="{6C4747FE-0191-4FEB-97B7-6185C8AEA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34575" y="30289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9D7C4"/>
          </a:solidFill>
          <a:ln xmlns:a="http://schemas.openxmlformats.org/drawingml/2006/main" w="19050">
            <a:solidFill>
              <a:srgbClr val="49D7C4"/>
            </a:solidFill>
            <a:prstDash val="solid"/>
          </a:ln>
        </p:spPr>
      </p:sp>
      <p:sp>
        <p:nvSpPr>
          <p:cNvPr id="41" name="text">
            <a:extLst xmlns:a="http://schemas.openxmlformats.org/drawingml/2006/main">
              <a:ext uri="{FF2B5EF4-FFF2-40B4-BE49-F238E27FC236}">
                <a16:creationId xmlns:a16="http://schemas.microsoft.com/office/drawing/2014/main" id="{BC97F953-1129-4070-828A-DB9565AC2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7925" y="3143250"/>
            <a:ext cx="19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11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defPPr>
            <a:lvl1pPr algn="ctr">
              <a:defRPr sz="11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1pPr>
            <a:lvl2pPr algn="ctr">
              <a:defRPr sz="11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2pPr>
            <a:lvl3pPr algn="ctr">
              <a:defRPr sz="11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3pPr>
            <a:lvl4pPr algn="ctr">
              <a:defRPr sz="11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4pPr>
            <a:lvl5pPr algn="ctr">
              <a:defRPr sz="11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5pPr>
            <a:lvl6pPr algn="ctr">
              <a:defRPr sz="11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6pPr>
            <a:lvl7pPr algn="ctr">
              <a:defRPr sz="11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7pPr>
            <a:lvl8pPr algn="ctr">
              <a:defRPr sz="11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8pPr>
            <a:lvl9pPr algn="ctr">
              <a:defRPr sz="11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1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4F1E8"/>
                </a:solidFill>
                <a:latin typeface="Arial"/>
                <a:ea typeface="Arial"/>
                <a:cs typeface="Arial"/>
              </a:rPr>
              <a:t>G</a:t>
            </a:r>
          </a:p>
        </p:txBody>
      </p:sp>
      <p:sp>
        <p:nvSpPr>
          <p:cNvPr id="42" name="text">
            <a:extLst xmlns:a="http://schemas.openxmlformats.org/drawingml/2006/main">
              <a:ext uri="{FF2B5EF4-FFF2-40B4-BE49-F238E27FC236}">
                <a16:creationId xmlns:a16="http://schemas.microsoft.com/office/drawing/2014/main" id="{EB53B8DA-234F-4218-A381-2DB7DED8D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486150"/>
            <a:ext cx="838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00" b="1">
                <a:solidFill>
                  <a:srgbClr val="F3C969"/>
                </a:solidFill>
                <a:latin typeface="Arial"/>
                <a:ea typeface="Arial"/>
                <a:cs typeface="Arial"/>
              </a:defRPr>
            </a:defPPr>
            <a:lvl1pPr algn="l">
              <a:defRPr sz="900" b="1">
                <a:solidFill>
                  <a:srgbClr val="F3C969"/>
                </a:solidFill>
                <a:latin typeface="Arial"/>
                <a:ea typeface="Arial"/>
                <a:cs typeface="Arial"/>
              </a:defRPr>
            </a:lvl1pPr>
            <a:lvl2pPr algn="l">
              <a:defRPr sz="900" b="1">
                <a:solidFill>
                  <a:srgbClr val="F3C969"/>
                </a:solidFill>
                <a:latin typeface="Arial"/>
                <a:ea typeface="Arial"/>
                <a:cs typeface="Arial"/>
              </a:defRPr>
            </a:lvl2pPr>
            <a:lvl3pPr algn="l">
              <a:defRPr sz="900" b="1">
                <a:solidFill>
                  <a:srgbClr val="F3C969"/>
                </a:solidFill>
                <a:latin typeface="Arial"/>
                <a:ea typeface="Arial"/>
                <a:cs typeface="Arial"/>
              </a:defRPr>
            </a:lvl3pPr>
            <a:lvl4pPr algn="l">
              <a:defRPr sz="900" b="1">
                <a:solidFill>
                  <a:srgbClr val="F3C969"/>
                </a:solidFill>
                <a:latin typeface="Arial"/>
                <a:ea typeface="Arial"/>
                <a:cs typeface="Arial"/>
              </a:defRPr>
            </a:lvl4pPr>
            <a:lvl5pPr algn="l">
              <a:defRPr sz="900" b="1">
                <a:solidFill>
                  <a:srgbClr val="F3C969"/>
                </a:solidFill>
                <a:latin typeface="Arial"/>
                <a:ea typeface="Arial"/>
                <a:cs typeface="Arial"/>
              </a:defRPr>
            </a:lvl5pPr>
            <a:lvl6pPr algn="l">
              <a:defRPr sz="900" b="1">
                <a:solidFill>
                  <a:srgbClr val="F3C969"/>
                </a:solidFill>
                <a:latin typeface="Arial"/>
                <a:ea typeface="Arial"/>
                <a:cs typeface="Arial"/>
              </a:defRPr>
            </a:lvl6pPr>
            <a:lvl7pPr algn="l">
              <a:defRPr sz="900" b="1">
                <a:solidFill>
                  <a:srgbClr val="F3C969"/>
                </a:solidFill>
                <a:latin typeface="Arial"/>
                <a:ea typeface="Arial"/>
                <a:cs typeface="Arial"/>
              </a:defRPr>
            </a:lvl7pPr>
            <a:lvl8pPr algn="l">
              <a:defRPr sz="900" b="1">
                <a:solidFill>
                  <a:srgbClr val="F3C969"/>
                </a:solidFill>
                <a:latin typeface="Arial"/>
                <a:ea typeface="Arial"/>
                <a:cs typeface="Arial"/>
              </a:defRPr>
            </a:lvl8pPr>
            <a:lvl9pPr algn="l">
              <a:defRPr sz="900" b="1">
                <a:solidFill>
                  <a:srgbClr val="F3C96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00" b="1">
                <a:solidFill>
                  <a:srgbClr val="F3C969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3C969"/>
                </a:solidFill>
                <a:latin typeface="Arial"/>
                <a:ea typeface="Arial"/>
                <a:cs typeface="Arial"/>
              </a:rPr>
              <a:t>SOURCE</a:t>
            </a:r>
          </a:p>
        </p:txBody>
      </p:sp>
      <p:sp>
        <p:nvSpPr>
          <p:cNvPr id="43" name="text">
            <a:extLst xmlns:a="http://schemas.openxmlformats.org/drawingml/2006/main">
              <a:ext uri="{FF2B5EF4-FFF2-40B4-BE49-F238E27FC236}">
                <a16:creationId xmlns:a16="http://schemas.microsoft.com/office/drawing/2014/main" id="{634ADC39-ABB8-4F39-8305-E67A1EBF5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619500"/>
            <a:ext cx="1333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0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defPPr>
            <a:lvl1pPr algn="l">
              <a:defRPr sz="90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1pPr>
            <a:lvl2pPr algn="l">
              <a:defRPr sz="90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2pPr>
            <a:lvl3pPr algn="l">
              <a:defRPr sz="90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3pPr>
            <a:lvl4pPr algn="l">
              <a:defRPr sz="90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4pPr>
            <a:lvl5pPr algn="l">
              <a:defRPr sz="90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5pPr>
            <a:lvl6pPr algn="l">
              <a:defRPr sz="90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6pPr>
            <a:lvl7pPr algn="l">
              <a:defRPr sz="90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7pPr>
            <a:lvl8pPr algn="l">
              <a:defRPr sz="90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8pPr>
            <a:lvl9pPr algn="l">
              <a:defRPr sz="90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0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49D7C4"/>
                </a:solidFill>
                <a:latin typeface="Arial"/>
                <a:ea typeface="Arial"/>
                <a:cs typeface="Arial"/>
              </a:rPr>
              <a:t>DESTINATION</a:t>
            </a:r>
          </a:p>
        </p:txBody>
      </p:sp>
      <p:sp>
        <p:nvSpPr>
          <p:cNvPr id="44" name="text">
            <a:extLst xmlns:a="http://schemas.openxmlformats.org/drawingml/2006/main">
              <a:ext uri="{FF2B5EF4-FFF2-40B4-BE49-F238E27FC236}">
                <a16:creationId xmlns:a16="http://schemas.microsoft.com/office/drawing/2014/main" id="{D6E220AC-C530-4046-9A3F-10D78D0C8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53050"/>
            <a:ext cx="10287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7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A9B8BE"/>
                </a:solidFill>
                <a:latin typeface="Arial"/>
                <a:ea typeface="Arial"/>
                <a:cs typeface="Arial"/>
              </a:rPr>
              <a:t>Each edge weight represents the cost of walking that path. Optional crowd factors can adjust the cost.</a:t>
            </a:r>
          </a:p>
        </p:txBody>
      </p:sp>
    </p:spTree>
    <p:extLst>
      <p:ext uri="{BB962C8B-B14F-4D97-AF65-F5344CB8AC3E}">
        <p14:creationId xmlns:p14="http://schemas.microsoft.com/office/powerpoint/2010/main" val="6495506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101D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text">
            <a:extLst xmlns:a="http://schemas.openxmlformats.org/drawingml/2006/main">
              <a:ext uri="{FF2B5EF4-FFF2-40B4-BE49-F238E27FC236}">
                <a16:creationId xmlns:a16="http://schemas.microsoft.com/office/drawing/2014/main" id="{13725F8E-25DB-4D97-9B48-74451AF85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523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49D7C4"/>
                </a:solidFill>
                <a:latin typeface="Arial"/>
                <a:ea typeface="Arial"/>
                <a:cs typeface="Arial"/>
              </a:rPr>
              <a:t>CAMPUS NAVIGATION ASSISTANT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BD728332-9CA6-4D0A-BE33-0FC641237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315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defPPr>
            <a:lvl1pPr algn="l">
              <a:defRPr sz="315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1pPr>
            <a:lvl2pPr algn="l">
              <a:defRPr sz="315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2pPr>
            <a:lvl3pPr algn="l">
              <a:defRPr sz="315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3pPr>
            <a:lvl4pPr algn="l">
              <a:defRPr sz="315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4pPr>
            <a:lvl5pPr algn="l">
              <a:defRPr sz="315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5pPr>
            <a:lvl6pPr algn="l">
              <a:defRPr sz="315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6pPr>
            <a:lvl7pPr algn="l">
              <a:defRPr sz="315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7pPr>
            <a:lvl8pPr algn="l">
              <a:defRPr sz="315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8pPr>
            <a:lvl9pPr algn="l">
              <a:defRPr sz="315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15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F4F1E8"/>
                </a:solidFill>
                <a:latin typeface="Arial"/>
                <a:ea typeface="Arial"/>
                <a:cs typeface="Arial"/>
              </a:rPr>
              <a:t>A* balances route cost with distance to the goal</a:t>
            </a:r>
          </a:p>
        </p:txBody>
      </p:sp>
      <p:sp>
        <p:nvSpPr>
          <p:cNvPr id="3" name="footer-rule">
            <a:extLst xmlns:a="http://schemas.openxmlformats.org/drawingml/2006/main">
              <a:ext uri="{FF2B5EF4-FFF2-40B4-BE49-F238E27FC236}">
                <a16:creationId xmlns:a16="http://schemas.microsoft.com/office/drawing/2014/main" id="{42A35FF9-3345-470D-94AD-8C4623A2D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1507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75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A4665B8A-B2C0-4112-9D42-2D3C0424D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0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defPPr>
            <a:lvl1pPr algn="l">
              <a:defRPr sz="90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lvl1pPr>
            <a:lvl2pPr algn="l">
              <a:defRPr sz="90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lvl2pPr>
            <a:lvl3pPr algn="l">
              <a:defRPr sz="90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lvl3pPr>
            <a:lvl4pPr algn="l">
              <a:defRPr sz="90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lvl4pPr>
            <a:lvl5pPr algn="l">
              <a:defRPr sz="90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lvl5pPr>
            <a:lvl6pPr algn="l">
              <a:defRPr sz="90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lvl6pPr>
            <a:lvl7pPr algn="l">
              <a:defRPr sz="90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lvl7pPr>
            <a:lvl8pPr algn="l">
              <a:defRPr sz="90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lvl8pPr>
            <a:lvl9pPr algn="l">
              <a:defRPr sz="90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0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A9B8BE"/>
                </a:solidFill>
                <a:latin typeface="Arial"/>
                <a:ea typeface="Arial"/>
                <a:cs typeface="Arial"/>
              </a:rPr>
              <a:t>AI PROJECT  /  A* CAMPUS ROUTING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2D5D5184-86C6-4607-820F-A3F9E1A9E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685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defPPr>
            <a:lvl1pPr algn="l">
              <a:defRPr sz="18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1pPr>
            <a:lvl2pPr algn="l">
              <a:defRPr sz="18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2pPr>
            <a:lvl3pPr algn="l">
              <a:defRPr sz="18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3pPr>
            <a:lvl4pPr algn="l">
              <a:defRPr sz="18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4pPr>
            <a:lvl5pPr algn="l">
              <a:defRPr sz="18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5pPr>
            <a:lvl6pPr algn="l">
              <a:defRPr sz="18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6pPr>
            <a:lvl7pPr algn="l">
              <a:defRPr sz="18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7pPr>
            <a:lvl8pPr algn="l">
              <a:defRPr sz="18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8pPr>
            <a:lvl9pPr algn="l">
              <a:defRPr sz="18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4F1E8"/>
                </a:solidFill>
                <a:latin typeface="Arial"/>
                <a:ea typeface="Arial"/>
                <a:cs typeface="Arial"/>
              </a:rPr>
              <a:t>For each candidate node n, A* evaluates: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692279BC-2A99-4411-AF5A-DC3A641ED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14550"/>
            <a:ext cx="6381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34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defPPr>
            <a:lvl1pPr algn="l">
              <a:defRPr sz="34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1pPr>
            <a:lvl2pPr algn="l">
              <a:defRPr sz="34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2pPr>
            <a:lvl3pPr algn="l">
              <a:defRPr sz="34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3pPr>
            <a:lvl4pPr algn="l">
              <a:defRPr sz="34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4pPr>
            <a:lvl5pPr algn="l">
              <a:defRPr sz="34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5pPr>
            <a:lvl6pPr algn="l">
              <a:defRPr sz="34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6pPr>
            <a:lvl7pPr algn="l">
              <a:defRPr sz="34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7pPr>
            <a:lvl8pPr algn="l">
              <a:defRPr sz="34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8pPr>
            <a:lvl9pPr algn="l">
              <a:defRPr sz="34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4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49D7C4"/>
                </a:solidFill>
                <a:latin typeface="Arial"/>
                <a:ea typeface="Arial"/>
                <a:cs typeface="Arial"/>
              </a:rPr>
              <a:t>f(n) = g(n) + h(n)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026BE01D-B3E1-43A4-BB5E-735F0AAF4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09900"/>
            <a:ext cx="571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650" b="0">
                <a:solidFill>
                  <a:srgbClr val="F4F1E8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0">
                <a:solidFill>
                  <a:srgbClr val="F4F1E8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0">
                <a:solidFill>
                  <a:srgbClr val="F4F1E8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0">
                <a:solidFill>
                  <a:srgbClr val="F4F1E8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0">
                <a:solidFill>
                  <a:srgbClr val="F4F1E8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0">
                <a:solidFill>
                  <a:srgbClr val="F4F1E8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0">
                <a:solidFill>
                  <a:srgbClr val="F4F1E8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0">
                <a:solidFill>
                  <a:srgbClr val="F4F1E8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0">
                <a:solidFill>
                  <a:srgbClr val="F4F1E8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0">
                <a:solidFill>
                  <a:srgbClr val="F4F1E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F4F1E8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4F1E8"/>
                </a:solidFill>
                <a:latin typeface="Arial"/>
                <a:ea typeface="Arial"/>
                <a:cs typeface="Arial"/>
              </a:rPr>
              <a:t>g(n)  actual route cost from the source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BD54DFA9-AAA1-42AC-BE55-0F1B3FDB9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48050"/>
            <a:ext cx="6572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650" b="0">
                <a:solidFill>
                  <a:srgbClr val="F4F1E8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0">
                <a:solidFill>
                  <a:srgbClr val="F4F1E8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0">
                <a:solidFill>
                  <a:srgbClr val="F4F1E8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0">
                <a:solidFill>
                  <a:srgbClr val="F4F1E8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0">
                <a:solidFill>
                  <a:srgbClr val="F4F1E8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0">
                <a:solidFill>
                  <a:srgbClr val="F4F1E8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0">
                <a:solidFill>
                  <a:srgbClr val="F4F1E8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0">
                <a:solidFill>
                  <a:srgbClr val="F4F1E8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0">
                <a:solidFill>
                  <a:srgbClr val="F4F1E8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0">
                <a:solidFill>
                  <a:srgbClr val="F4F1E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F4F1E8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4F1E8"/>
                </a:solidFill>
                <a:latin typeface="Arial"/>
                <a:ea typeface="Arial"/>
                <a:cs typeface="Arial"/>
              </a:rPr>
              <a:t>h(n)  estimated remaining cost to the goal</a:t>
            </a:r>
          </a:p>
        </p:txBody>
      </p:sp>
      <p:sp>
        <p:nvSpPr>
          <p:cNvPr id="9" name="separator">
            <a:extLst xmlns:a="http://schemas.openxmlformats.org/drawingml/2006/main">
              <a:ext uri="{FF2B5EF4-FFF2-40B4-BE49-F238E27FC236}">
                <a16:creationId xmlns:a16="http://schemas.microsoft.com/office/drawing/2014/main" id="{ADD0B6A7-C92C-49D2-8212-FCB8CAA9A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48125"/>
            <a:ext cx="1905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75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DE89A56A-B1C2-40FF-A688-D88635E96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048125"/>
            <a:ext cx="723900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65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A9B8BE"/>
                </a:solidFill>
                <a:latin typeface="Arial"/>
                <a:ea typeface="Arial"/>
                <a:cs typeface="Arial"/>
              </a:rPr>
              <a:t>The proposal uses Euclidean distance as an admissible heuristic. This guides the search toward the destination while preserving an optimal route when the heuristic does not overestimate.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FB46F2B7-3584-4F2C-A31A-62E3E40D5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743075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49D7C4"/>
                </a:solidFill>
                <a:latin typeface="Arial"/>
                <a:ea typeface="Arial"/>
                <a:cs typeface="Arial"/>
              </a:rPr>
              <a:t>SEARCH PRIORITY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A647DD06-29E8-4B96-A324-5CFBCB15B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324100"/>
            <a:ext cx="809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00" b="1">
                <a:solidFill>
                  <a:srgbClr val="F3C969"/>
                </a:solidFill>
                <a:latin typeface="Arial"/>
                <a:ea typeface="Arial"/>
                <a:cs typeface="Arial"/>
              </a:defRPr>
            </a:defPPr>
            <a:lvl1pPr algn="l">
              <a:defRPr sz="1800" b="1">
                <a:solidFill>
                  <a:srgbClr val="F3C969"/>
                </a:solidFill>
                <a:latin typeface="Arial"/>
                <a:ea typeface="Arial"/>
                <a:cs typeface="Arial"/>
              </a:defRPr>
            </a:lvl1pPr>
            <a:lvl2pPr algn="l">
              <a:defRPr sz="1800" b="1">
                <a:solidFill>
                  <a:srgbClr val="F3C969"/>
                </a:solidFill>
                <a:latin typeface="Arial"/>
                <a:ea typeface="Arial"/>
                <a:cs typeface="Arial"/>
              </a:defRPr>
            </a:lvl2pPr>
            <a:lvl3pPr algn="l">
              <a:defRPr sz="1800" b="1">
                <a:solidFill>
                  <a:srgbClr val="F3C969"/>
                </a:solidFill>
                <a:latin typeface="Arial"/>
                <a:ea typeface="Arial"/>
                <a:cs typeface="Arial"/>
              </a:defRPr>
            </a:lvl3pPr>
            <a:lvl4pPr algn="l">
              <a:defRPr sz="1800" b="1">
                <a:solidFill>
                  <a:srgbClr val="F3C969"/>
                </a:solidFill>
                <a:latin typeface="Arial"/>
                <a:ea typeface="Arial"/>
                <a:cs typeface="Arial"/>
              </a:defRPr>
            </a:lvl4pPr>
            <a:lvl5pPr algn="l">
              <a:defRPr sz="1800" b="1">
                <a:solidFill>
                  <a:srgbClr val="F3C969"/>
                </a:solidFill>
                <a:latin typeface="Arial"/>
                <a:ea typeface="Arial"/>
                <a:cs typeface="Arial"/>
              </a:defRPr>
            </a:lvl5pPr>
            <a:lvl6pPr algn="l">
              <a:defRPr sz="1800" b="1">
                <a:solidFill>
                  <a:srgbClr val="F3C969"/>
                </a:solidFill>
                <a:latin typeface="Arial"/>
                <a:ea typeface="Arial"/>
                <a:cs typeface="Arial"/>
              </a:defRPr>
            </a:lvl6pPr>
            <a:lvl7pPr algn="l">
              <a:defRPr sz="1800" b="1">
                <a:solidFill>
                  <a:srgbClr val="F3C969"/>
                </a:solidFill>
                <a:latin typeface="Arial"/>
                <a:ea typeface="Arial"/>
                <a:cs typeface="Arial"/>
              </a:defRPr>
            </a:lvl7pPr>
            <a:lvl8pPr algn="l">
              <a:defRPr sz="1800" b="1">
                <a:solidFill>
                  <a:srgbClr val="F3C969"/>
                </a:solidFill>
                <a:latin typeface="Arial"/>
                <a:ea typeface="Arial"/>
                <a:cs typeface="Arial"/>
              </a:defRPr>
            </a:lvl8pPr>
            <a:lvl9pPr algn="l">
              <a:defRPr sz="1800" b="1">
                <a:solidFill>
                  <a:srgbClr val="F3C96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F3C969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3C969"/>
                </a:solidFill>
                <a:latin typeface="Arial"/>
                <a:ea typeface="Arial"/>
                <a:cs typeface="Arial"/>
              </a:rPr>
              <a:t>g(n)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145519A2-7BC0-40D4-9851-17971D65A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86925" y="2343150"/>
            <a:ext cx="1952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F4F1E8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0">
                <a:solidFill>
                  <a:srgbClr val="F4F1E8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0">
                <a:solidFill>
                  <a:srgbClr val="F4F1E8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0">
                <a:solidFill>
                  <a:srgbClr val="F4F1E8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0">
                <a:solidFill>
                  <a:srgbClr val="F4F1E8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0">
                <a:solidFill>
                  <a:srgbClr val="F4F1E8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0">
                <a:solidFill>
                  <a:srgbClr val="F4F1E8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0">
                <a:solidFill>
                  <a:srgbClr val="F4F1E8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0">
                <a:solidFill>
                  <a:srgbClr val="F4F1E8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0">
                <a:solidFill>
                  <a:srgbClr val="F4F1E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F4F1E8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F4F1E8"/>
                </a:solidFill>
                <a:latin typeface="Arial"/>
                <a:ea typeface="Arial"/>
                <a:cs typeface="Arial"/>
              </a:rPr>
              <a:t>cost so far</a:t>
            </a:r>
          </a:p>
        </p:txBody>
      </p:sp>
      <p:sp>
        <p:nvSpPr>
          <p:cNvPr id="14" name="path-segment">
            <a:extLst xmlns:a="http://schemas.openxmlformats.org/drawingml/2006/main">
              <a:ext uri="{FF2B5EF4-FFF2-40B4-BE49-F238E27FC236}">
                <a16:creationId xmlns:a16="http://schemas.microsoft.com/office/drawing/2014/main" id="{2CC1710E-7A94-4CC2-99DA-905C85D96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8858250" y="2914650"/>
            <a:ext cx="2524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14754"/>
            </a:solidFill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9FC2C277-8F0D-47CE-A006-87984A2B3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276600"/>
            <a:ext cx="809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00" b="1">
                <a:solidFill>
                  <a:srgbClr val="A8EEE3"/>
                </a:solidFill>
                <a:latin typeface="Arial"/>
                <a:ea typeface="Arial"/>
                <a:cs typeface="Arial"/>
              </a:defRPr>
            </a:defPPr>
            <a:lvl1pPr algn="l">
              <a:defRPr sz="1800" b="1">
                <a:solidFill>
                  <a:srgbClr val="A8EEE3"/>
                </a:solidFill>
                <a:latin typeface="Arial"/>
                <a:ea typeface="Arial"/>
                <a:cs typeface="Arial"/>
              </a:defRPr>
            </a:lvl1pPr>
            <a:lvl2pPr algn="l">
              <a:defRPr sz="1800" b="1">
                <a:solidFill>
                  <a:srgbClr val="A8EEE3"/>
                </a:solidFill>
                <a:latin typeface="Arial"/>
                <a:ea typeface="Arial"/>
                <a:cs typeface="Arial"/>
              </a:defRPr>
            </a:lvl2pPr>
            <a:lvl3pPr algn="l">
              <a:defRPr sz="1800" b="1">
                <a:solidFill>
                  <a:srgbClr val="A8EEE3"/>
                </a:solidFill>
                <a:latin typeface="Arial"/>
                <a:ea typeface="Arial"/>
                <a:cs typeface="Arial"/>
              </a:defRPr>
            </a:lvl3pPr>
            <a:lvl4pPr algn="l">
              <a:defRPr sz="1800" b="1">
                <a:solidFill>
                  <a:srgbClr val="A8EEE3"/>
                </a:solidFill>
                <a:latin typeface="Arial"/>
                <a:ea typeface="Arial"/>
                <a:cs typeface="Arial"/>
              </a:defRPr>
            </a:lvl4pPr>
            <a:lvl5pPr algn="l">
              <a:defRPr sz="1800" b="1">
                <a:solidFill>
                  <a:srgbClr val="A8EEE3"/>
                </a:solidFill>
                <a:latin typeface="Arial"/>
                <a:ea typeface="Arial"/>
                <a:cs typeface="Arial"/>
              </a:defRPr>
            </a:lvl5pPr>
            <a:lvl6pPr algn="l">
              <a:defRPr sz="1800" b="1">
                <a:solidFill>
                  <a:srgbClr val="A8EEE3"/>
                </a:solidFill>
                <a:latin typeface="Arial"/>
                <a:ea typeface="Arial"/>
                <a:cs typeface="Arial"/>
              </a:defRPr>
            </a:lvl6pPr>
            <a:lvl7pPr algn="l">
              <a:defRPr sz="1800" b="1">
                <a:solidFill>
                  <a:srgbClr val="A8EEE3"/>
                </a:solidFill>
                <a:latin typeface="Arial"/>
                <a:ea typeface="Arial"/>
                <a:cs typeface="Arial"/>
              </a:defRPr>
            </a:lvl7pPr>
            <a:lvl8pPr algn="l">
              <a:defRPr sz="1800" b="1">
                <a:solidFill>
                  <a:srgbClr val="A8EEE3"/>
                </a:solidFill>
                <a:latin typeface="Arial"/>
                <a:ea typeface="Arial"/>
                <a:cs typeface="Arial"/>
              </a:defRPr>
            </a:lvl8pPr>
            <a:lvl9pPr algn="l">
              <a:defRPr sz="1800" b="1">
                <a:solidFill>
                  <a:srgbClr val="A8EEE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A8EEE3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A8EEE3"/>
                </a:solidFill>
                <a:latin typeface="Arial"/>
                <a:ea typeface="Arial"/>
                <a:cs typeface="Arial"/>
              </a:rPr>
              <a:t>h(n)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EE8588A1-E86E-43B2-BEDA-DA72B4A03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86925" y="3295650"/>
            <a:ext cx="1952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F4F1E8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0">
                <a:solidFill>
                  <a:srgbClr val="F4F1E8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0">
                <a:solidFill>
                  <a:srgbClr val="F4F1E8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0">
                <a:solidFill>
                  <a:srgbClr val="F4F1E8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0">
                <a:solidFill>
                  <a:srgbClr val="F4F1E8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0">
                <a:solidFill>
                  <a:srgbClr val="F4F1E8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0">
                <a:solidFill>
                  <a:srgbClr val="F4F1E8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0">
                <a:solidFill>
                  <a:srgbClr val="F4F1E8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0">
                <a:solidFill>
                  <a:srgbClr val="F4F1E8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0">
                <a:solidFill>
                  <a:srgbClr val="F4F1E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F4F1E8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F4F1E8"/>
                </a:solidFill>
                <a:latin typeface="Arial"/>
                <a:ea typeface="Arial"/>
                <a:cs typeface="Arial"/>
              </a:rPr>
              <a:t>estimated remaining cost</a:t>
            </a:r>
          </a:p>
        </p:txBody>
      </p:sp>
      <p:sp>
        <p:nvSpPr>
          <p:cNvPr id="17" name="path-segment">
            <a:extLst xmlns:a="http://schemas.openxmlformats.org/drawingml/2006/main">
              <a:ext uri="{FF2B5EF4-FFF2-40B4-BE49-F238E27FC236}">
                <a16:creationId xmlns:a16="http://schemas.microsoft.com/office/drawing/2014/main" id="{B3771CCE-FBE4-40C8-8D23-1616496FC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8858250" y="3867150"/>
            <a:ext cx="2524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14754"/>
            </a:solidFill>
            <a:prstDash val="solid"/>
          </a:ln>
        </p:spPr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DB9B4771-FFC4-4A47-897D-9C1D5F7FD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229100"/>
            <a:ext cx="809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0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defPPr>
            <a:lvl1pPr algn="l">
              <a:defRPr sz="180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1pPr>
            <a:lvl2pPr algn="l">
              <a:defRPr sz="180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2pPr>
            <a:lvl3pPr algn="l">
              <a:defRPr sz="180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3pPr>
            <a:lvl4pPr algn="l">
              <a:defRPr sz="180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4pPr>
            <a:lvl5pPr algn="l">
              <a:defRPr sz="180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5pPr>
            <a:lvl6pPr algn="l">
              <a:defRPr sz="180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6pPr>
            <a:lvl7pPr algn="l">
              <a:defRPr sz="180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7pPr>
            <a:lvl8pPr algn="l">
              <a:defRPr sz="180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8pPr>
            <a:lvl9pPr algn="l">
              <a:defRPr sz="180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49D7C4"/>
                </a:solidFill>
                <a:latin typeface="Arial"/>
                <a:ea typeface="Arial"/>
                <a:cs typeface="Arial"/>
              </a:rPr>
              <a:t>f(n)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4E440899-8A46-4107-A996-143914FB1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86925" y="4248150"/>
            <a:ext cx="1952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F4F1E8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0">
                <a:solidFill>
                  <a:srgbClr val="F4F1E8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0">
                <a:solidFill>
                  <a:srgbClr val="F4F1E8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0">
                <a:solidFill>
                  <a:srgbClr val="F4F1E8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0">
                <a:solidFill>
                  <a:srgbClr val="F4F1E8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0">
                <a:solidFill>
                  <a:srgbClr val="F4F1E8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0">
                <a:solidFill>
                  <a:srgbClr val="F4F1E8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0">
                <a:solidFill>
                  <a:srgbClr val="F4F1E8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0">
                <a:solidFill>
                  <a:srgbClr val="F4F1E8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0">
                <a:solidFill>
                  <a:srgbClr val="F4F1E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F4F1E8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F4F1E8"/>
                </a:solidFill>
                <a:latin typeface="Arial"/>
                <a:ea typeface="Arial"/>
                <a:cs typeface="Arial"/>
              </a:rPr>
              <a:t>combined priority</a:t>
            </a:r>
          </a:p>
        </p:txBody>
      </p:sp>
    </p:spTree>
    <p:extLst>
      <p:ext uri="{BB962C8B-B14F-4D97-AF65-F5344CB8AC3E}">
        <p14:creationId xmlns:p14="http://schemas.microsoft.com/office/powerpoint/2010/main" val="23795684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101D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text">
            <a:extLst xmlns:a="http://schemas.openxmlformats.org/drawingml/2006/main">
              <a:ext uri="{FF2B5EF4-FFF2-40B4-BE49-F238E27FC236}">
                <a16:creationId xmlns:a16="http://schemas.microsoft.com/office/drawing/2014/main" id="{FF8A731B-C3E2-41D0-8D36-14F1EC635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523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49D7C4"/>
                </a:solidFill>
                <a:latin typeface="Arial"/>
                <a:ea typeface="Arial"/>
                <a:cs typeface="Arial"/>
              </a:rPr>
              <a:t>CAMPUS NAVIGATION ASSISTANT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E5151C18-5598-4778-B0C8-D02C01DF7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315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defPPr>
            <a:lvl1pPr algn="l">
              <a:defRPr sz="315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1pPr>
            <a:lvl2pPr algn="l">
              <a:defRPr sz="315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2pPr>
            <a:lvl3pPr algn="l">
              <a:defRPr sz="315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3pPr>
            <a:lvl4pPr algn="l">
              <a:defRPr sz="315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4pPr>
            <a:lvl5pPr algn="l">
              <a:defRPr sz="315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5pPr>
            <a:lvl6pPr algn="l">
              <a:defRPr sz="315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6pPr>
            <a:lvl7pPr algn="l">
              <a:defRPr sz="315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7pPr>
            <a:lvl8pPr algn="l">
              <a:defRPr sz="315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8pPr>
            <a:lvl9pPr algn="l">
              <a:defRPr sz="315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15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F4F1E8"/>
                </a:solidFill>
                <a:latin typeface="Arial"/>
                <a:ea typeface="Arial"/>
                <a:cs typeface="Arial"/>
              </a:rPr>
              <a:t>Route planning workflow</a:t>
            </a:r>
          </a:p>
        </p:txBody>
      </p:sp>
      <p:sp>
        <p:nvSpPr>
          <p:cNvPr id="3" name="footer-rule">
            <a:extLst xmlns:a="http://schemas.openxmlformats.org/drawingml/2006/main">
              <a:ext uri="{FF2B5EF4-FFF2-40B4-BE49-F238E27FC236}">
                <a16:creationId xmlns:a16="http://schemas.microsoft.com/office/drawing/2014/main" id="{FE85D818-2A1F-4790-B671-2778BA00E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1507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75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5606BB42-CCFF-4AC7-84CA-C912F2D1A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0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defPPr>
            <a:lvl1pPr algn="l">
              <a:defRPr sz="90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lvl1pPr>
            <a:lvl2pPr algn="l">
              <a:defRPr sz="90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lvl2pPr>
            <a:lvl3pPr algn="l">
              <a:defRPr sz="90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lvl3pPr>
            <a:lvl4pPr algn="l">
              <a:defRPr sz="90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lvl4pPr>
            <a:lvl5pPr algn="l">
              <a:defRPr sz="90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lvl5pPr>
            <a:lvl6pPr algn="l">
              <a:defRPr sz="90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lvl6pPr>
            <a:lvl7pPr algn="l">
              <a:defRPr sz="90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lvl7pPr>
            <a:lvl8pPr algn="l">
              <a:defRPr sz="90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lvl8pPr>
            <a:lvl9pPr algn="l">
              <a:defRPr sz="90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0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A9B8BE"/>
                </a:solidFill>
                <a:latin typeface="Arial"/>
                <a:ea typeface="Arial"/>
                <a:cs typeface="Arial"/>
              </a:rPr>
              <a:t>AI PROJECT  /  A* CAMPUS ROUTING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55311927-B26F-48E9-B4F9-B6211D9B0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590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49D7C4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6" name="path-segment">
            <a:extLst xmlns:a="http://schemas.openxmlformats.org/drawingml/2006/main">
              <a:ext uri="{FF2B5EF4-FFF2-40B4-BE49-F238E27FC236}">
                <a16:creationId xmlns:a16="http://schemas.microsoft.com/office/drawing/2014/main" id="{C7160CF4-8941-47A8-BF36-05984EB55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362075" y="1724025"/>
            <a:ext cx="381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14754"/>
            </a:solidFill>
            <a:prstDash val="solid"/>
          </a:ln>
        </p:spPr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9F99EB3A-8064-480D-9103-5A62ECA4D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1552575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4F1E8"/>
                </a:solidFill>
                <a:latin typeface="Arial"/>
                <a:ea typeface="Arial"/>
                <a:cs typeface="Arial"/>
              </a:rPr>
              <a:t>Choose start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93C16D1A-C3BF-4D78-84A2-1EDA19AEC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562100"/>
            <a:ext cx="6381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A9B8BE"/>
                </a:solidFill>
                <a:latin typeface="Arial"/>
                <a:ea typeface="Arial"/>
                <a:cs typeface="Arial"/>
              </a:rPr>
              <a:t>Select a source building or landmark.</a:t>
            </a:r>
          </a:p>
        </p:txBody>
      </p:sp>
      <p:sp>
        <p:nvSpPr>
          <p:cNvPr id="9" name="path-segment">
            <a:extLst xmlns:a="http://schemas.openxmlformats.org/drawingml/2006/main">
              <a:ext uri="{FF2B5EF4-FFF2-40B4-BE49-F238E27FC236}">
                <a16:creationId xmlns:a16="http://schemas.microsoft.com/office/drawing/2014/main" id="{C3E9715C-A827-4C92-81AD-4FCF5E00D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971550" y="1971675"/>
            <a:ext cx="0" cy="4286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14754"/>
            </a:solidFill>
            <a:prstDash val="solid"/>
          </a:ln>
        </p:spPr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1238F82D-B85C-4121-8B0B-68BA0AEC7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28875"/>
            <a:ext cx="590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49D7C4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1" name="path-segment">
            <a:extLst xmlns:a="http://schemas.openxmlformats.org/drawingml/2006/main">
              <a:ext uri="{FF2B5EF4-FFF2-40B4-BE49-F238E27FC236}">
                <a16:creationId xmlns:a16="http://schemas.microsoft.com/office/drawing/2014/main" id="{7BCBA2F5-3DA8-435F-9702-A66D1F05A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362075" y="2590800"/>
            <a:ext cx="381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14754"/>
            </a:solidFill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C5090040-5D7D-4111-A475-58FA3B5D9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2419350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4F1E8"/>
                </a:solidFill>
                <a:latin typeface="Arial"/>
                <a:ea typeface="Arial"/>
                <a:cs typeface="Arial"/>
              </a:rPr>
              <a:t>Choose destination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1FB7F3D3-0320-4BA9-AFDC-31180FB4A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428875"/>
            <a:ext cx="6381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A9B8BE"/>
                </a:solidFill>
                <a:latin typeface="Arial"/>
                <a:ea typeface="Arial"/>
                <a:cs typeface="Arial"/>
              </a:rPr>
              <a:t>Select the goal landmark.</a:t>
            </a:r>
          </a:p>
        </p:txBody>
      </p:sp>
      <p:sp>
        <p:nvSpPr>
          <p:cNvPr id="14" name="path-segment">
            <a:extLst xmlns:a="http://schemas.openxmlformats.org/drawingml/2006/main">
              <a:ext uri="{FF2B5EF4-FFF2-40B4-BE49-F238E27FC236}">
                <a16:creationId xmlns:a16="http://schemas.microsoft.com/office/drawing/2014/main" id="{A21F9C7B-A6E6-43D5-BAF9-20ADE70ED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971550" y="2838450"/>
            <a:ext cx="0" cy="4286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14754"/>
            </a:solidFill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92597900-F17D-45CC-9E34-757068640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95650"/>
            <a:ext cx="590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49D7C4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6" name="path-segment">
            <a:extLst xmlns:a="http://schemas.openxmlformats.org/drawingml/2006/main">
              <a:ext uri="{FF2B5EF4-FFF2-40B4-BE49-F238E27FC236}">
                <a16:creationId xmlns:a16="http://schemas.microsoft.com/office/drawing/2014/main" id="{F98D6D3D-DA4B-4DCF-A3B5-65476F403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362075" y="3457575"/>
            <a:ext cx="381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14754"/>
            </a:solidFill>
            <a:prstDash val="solid"/>
          </a:ln>
        </p:spPr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FF5EA384-DBBE-42E8-99D4-705B40091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286125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4F1E8"/>
                </a:solidFill>
                <a:latin typeface="Arial"/>
                <a:ea typeface="Arial"/>
                <a:cs typeface="Arial"/>
              </a:rPr>
              <a:t>Build route costs</a:t>
            </a:r>
          </a:p>
        </p:txBody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EB16D5CC-4A89-4E07-B227-18659077E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295650"/>
            <a:ext cx="6381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A9B8BE"/>
                </a:solidFill>
                <a:latin typeface="Arial"/>
                <a:ea typeface="Arial"/>
                <a:cs typeface="Arial"/>
              </a:rPr>
              <a:t>Use path weights and optional crowd factors.</a:t>
            </a:r>
          </a:p>
        </p:txBody>
      </p:sp>
      <p:sp>
        <p:nvSpPr>
          <p:cNvPr id="19" name="path-segment">
            <a:extLst xmlns:a="http://schemas.openxmlformats.org/drawingml/2006/main">
              <a:ext uri="{FF2B5EF4-FFF2-40B4-BE49-F238E27FC236}">
                <a16:creationId xmlns:a16="http://schemas.microsoft.com/office/drawing/2014/main" id="{4860FE93-01F5-42AF-BFBE-3F73A1017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971550" y="3705225"/>
            <a:ext cx="0" cy="4286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14754"/>
            </a:solidFill>
            <a:prstDash val="solid"/>
          </a:ln>
        </p:spPr>
      </p:sp>
      <p:sp>
        <p:nvSpPr>
          <p:cNvPr id="20" name="text">
            <a:extLst xmlns:a="http://schemas.openxmlformats.org/drawingml/2006/main">
              <a:ext uri="{FF2B5EF4-FFF2-40B4-BE49-F238E27FC236}">
                <a16:creationId xmlns:a16="http://schemas.microsoft.com/office/drawing/2014/main" id="{618D466A-6884-4101-A954-5749FD223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62425"/>
            <a:ext cx="590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49D7C4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1" name="path-segment">
            <a:extLst xmlns:a="http://schemas.openxmlformats.org/drawingml/2006/main">
              <a:ext uri="{FF2B5EF4-FFF2-40B4-BE49-F238E27FC236}">
                <a16:creationId xmlns:a16="http://schemas.microsoft.com/office/drawing/2014/main" id="{98700E88-68A9-4C00-ABEC-B0BCCF019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362075" y="4324350"/>
            <a:ext cx="381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14754"/>
            </a:solidFill>
            <a:prstDash val="solid"/>
          </a:ln>
        </p:spPr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205BFBCF-5946-4977-B4F1-C2F697DAA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152900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4F1E8"/>
                </a:solidFill>
                <a:latin typeface="Arial"/>
                <a:ea typeface="Arial"/>
                <a:cs typeface="Arial"/>
              </a:rPr>
              <a:t>Run A*</a:t>
            </a:r>
          </a:p>
        </p:txBody>
      </p:sp>
      <p:sp>
        <p:nvSpPr>
          <p:cNvPr id="23" name="text">
            <a:extLst xmlns:a="http://schemas.openxmlformats.org/drawingml/2006/main">
              <a:ext uri="{FF2B5EF4-FFF2-40B4-BE49-F238E27FC236}">
                <a16:creationId xmlns:a16="http://schemas.microsoft.com/office/drawing/2014/main" id="{CE2ECDE0-126C-4598-ACA3-0C0DD9CAF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162425"/>
            <a:ext cx="6381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A9B8BE"/>
                </a:solidFill>
                <a:latin typeface="Arial"/>
                <a:ea typeface="Arial"/>
                <a:cs typeface="Arial"/>
              </a:rPr>
              <a:t>Expand promising nodes using g(n) + h(n).</a:t>
            </a:r>
          </a:p>
        </p:txBody>
      </p:sp>
      <p:sp>
        <p:nvSpPr>
          <p:cNvPr id="24" name="path-segment">
            <a:extLst xmlns:a="http://schemas.openxmlformats.org/drawingml/2006/main">
              <a:ext uri="{FF2B5EF4-FFF2-40B4-BE49-F238E27FC236}">
                <a16:creationId xmlns:a16="http://schemas.microsoft.com/office/drawing/2014/main" id="{7AD7FE41-71B5-4CE3-BE96-DD8ECE932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971550" y="4572000"/>
            <a:ext cx="0" cy="4286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14754"/>
            </a:solidFill>
            <a:prstDash val="solid"/>
          </a:ln>
        </p:spPr>
      </p:sp>
      <p:sp>
        <p:nvSpPr>
          <p:cNvPr id="25" name="text">
            <a:extLst xmlns:a="http://schemas.openxmlformats.org/drawingml/2006/main">
              <a:ext uri="{FF2B5EF4-FFF2-40B4-BE49-F238E27FC236}">
                <a16:creationId xmlns:a16="http://schemas.microsoft.com/office/drawing/2014/main" id="{F0B50614-4AA1-4A5B-9EB8-D688D26DD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29200"/>
            <a:ext cx="590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49D7C4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6" name="path-segment">
            <a:extLst xmlns:a="http://schemas.openxmlformats.org/drawingml/2006/main">
              <a:ext uri="{FF2B5EF4-FFF2-40B4-BE49-F238E27FC236}">
                <a16:creationId xmlns:a16="http://schemas.microsoft.com/office/drawing/2014/main" id="{8F3960C4-E10A-49D1-BBAE-FA3D9412B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362075" y="5191125"/>
            <a:ext cx="381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14754"/>
            </a:solidFill>
            <a:prstDash val="solid"/>
          </a:ln>
        </p:spPr>
      </p:sp>
      <p:sp>
        <p:nvSpPr>
          <p:cNvPr id="27" name="text">
            <a:extLst xmlns:a="http://schemas.openxmlformats.org/drawingml/2006/main">
              <a:ext uri="{FF2B5EF4-FFF2-40B4-BE49-F238E27FC236}">
                <a16:creationId xmlns:a16="http://schemas.microsoft.com/office/drawing/2014/main" id="{337C5131-3B77-49EB-97C0-E02F4D0AC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19675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4F1E8"/>
                </a:solidFill>
                <a:latin typeface="Arial"/>
                <a:ea typeface="Arial"/>
                <a:cs typeface="Arial"/>
              </a:rPr>
              <a:t>Return route</a:t>
            </a:r>
          </a:p>
        </p:txBody>
      </p:sp>
      <p:sp>
        <p:nvSpPr>
          <p:cNvPr id="28" name="text">
            <a:extLst xmlns:a="http://schemas.openxmlformats.org/drawingml/2006/main">
              <a:ext uri="{FF2B5EF4-FFF2-40B4-BE49-F238E27FC236}">
                <a16:creationId xmlns:a16="http://schemas.microsoft.com/office/drawing/2014/main" id="{B73D3D6F-84BF-478F-A58D-58D75C6D4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5029200"/>
            <a:ext cx="6381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A9B8BE"/>
                </a:solidFill>
                <a:latin typeface="Arial"/>
                <a:ea typeface="Arial"/>
                <a:cs typeface="Arial"/>
              </a:rPr>
              <a:t>Show checkpoints, distance and estimated time.</a:t>
            </a:r>
          </a:p>
        </p:txBody>
      </p:sp>
    </p:spTree>
    <p:extLst>
      <p:ext uri="{BB962C8B-B14F-4D97-AF65-F5344CB8AC3E}">
        <p14:creationId xmlns:p14="http://schemas.microsoft.com/office/powerpoint/2010/main" val="122598183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101D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text">
            <a:extLst xmlns:a="http://schemas.openxmlformats.org/drawingml/2006/main">
              <a:ext uri="{FF2B5EF4-FFF2-40B4-BE49-F238E27FC236}">
                <a16:creationId xmlns:a16="http://schemas.microsoft.com/office/drawing/2014/main" id="{A6603859-CC93-401B-AEC3-041CA81E6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523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49D7C4"/>
                </a:solidFill>
                <a:latin typeface="Arial"/>
                <a:ea typeface="Arial"/>
                <a:cs typeface="Arial"/>
              </a:rPr>
              <a:t>CAMPUS NAVIGATION ASSISTANT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27AA5A2F-74D4-4A27-AC7D-F88ADE733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315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defPPr>
            <a:lvl1pPr algn="l">
              <a:defRPr sz="315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1pPr>
            <a:lvl2pPr algn="l">
              <a:defRPr sz="315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2pPr>
            <a:lvl3pPr algn="l">
              <a:defRPr sz="315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3pPr>
            <a:lvl4pPr algn="l">
              <a:defRPr sz="315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4pPr>
            <a:lvl5pPr algn="l">
              <a:defRPr sz="315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5pPr>
            <a:lvl6pPr algn="l">
              <a:defRPr sz="315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6pPr>
            <a:lvl7pPr algn="l">
              <a:defRPr sz="315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7pPr>
            <a:lvl8pPr algn="l">
              <a:defRPr sz="315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8pPr>
            <a:lvl9pPr algn="l">
              <a:defRPr sz="315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15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F4F1E8"/>
                </a:solidFill>
                <a:latin typeface="Arial"/>
                <a:ea typeface="Arial"/>
                <a:cs typeface="Arial"/>
              </a:rPr>
              <a:t>Inputs and route results</a:t>
            </a:r>
          </a:p>
        </p:txBody>
      </p:sp>
      <p:sp>
        <p:nvSpPr>
          <p:cNvPr id="3" name="footer-rule">
            <a:extLst xmlns:a="http://schemas.openxmlformats.org/drawingml/2006/main">
              <a:ext uri="{FF2B5EF4-FFF2-40B4-BE49-F238E27FC236}">
                <a16:creationId xmlns:a16="http://schemas.microsoft.com/office/drawing/2014/main" id="{252200C6-ECE5-4EE5-8C07-6F9282BFE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1507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75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3F826890-F9BE-447B-AD18-93E22CE98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0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defPPr>
            <a:lvl1pPr algn="l">
              <a:defRPr sz="90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lvl1pPr>
            <a:lvl2pPr algn="l">
              <a:defRPr sz="90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lvl2pPr>
            <a:lvl3pPr algn="l">
              <a:defRPr sz="90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lvl3pPr>
            <a:lvl4pPr algn="l">
              <a:defRPr sz="90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lvl4pPr>
            <a:lvl5pPr algn="l">
              <a:defRPr sz="90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lvl5pPr>
            <a:lvl6pPr algn="l">
              <a:defRPr sz="90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lvl6pPr>
            <a:lvl7pPr algn="l">
              <a:defRPr sz="90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lvl7pPr>
            <a:lvl8pPr algn="l">
              <a:defRPr sz="90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lvl8pPr>
            <a:lvl9pPr algn="l">
              <a:defRPr sz="90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0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A9B8BE"/>
                </a:solidFill>
                <a:latin typeface="Arial"/>
                <a:ea typeface="Arial"/>
                <a:cs typeface="Arial"/>
              </a:rPr>
              <a:t>AI PROJECT  /  A* CAMPUS ROUTING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E980FF4E-FBA5-4920-B2DF-8122829E4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3830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49D7C4"/>
                </a:solidFill>
                <a:latin typeface="Arial"/>
                <a:ea typeface="Arial"/>
                <a:cs typeface="Arial"/>
              </a:rPr>
              <a:t>INPUT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34ACC924-0DAB-4A97-A7A5-9D1CAD5AE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6383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49D7C4"/>
                </a:solidFill>
                <a:latin typeface="Arial"/>
                <a:ea typeface="Arial"/>
                <a:cs typeface="Arial"/>
              </a:rPr>
              <a:t>OUTPUT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09360DF7-B00E-41A4-85D0-B6C6B14F3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1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defPPr>
            <a:lvl1pPr algn="l">
              <a:defRPr sz="21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1pPr>
            <a:lvl2pPr algn="l">
              <a:defRPr sz="21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2pPr>
            <a:lvl3pPr algn="l">
              <a:defRPr sz="21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3pPr>
            <a:lvl4pPr algn="l">
              <a:defRPr sz="21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4pPr>
            <a:lvl5pPr algn="l">
              <a:defRPr sz="21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5pPr>
            <a:lvl6pPr algn="l">
              <a:defRPr sz="21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6pPr>
            <a:lvl7pPr algn="l">
              <a:defRPr sz="21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7pPr>
            <a:lvl8pPr algn="l">
              <a:defRPr sz="21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8pPr>
            <a:lvl9pPr algn="l">
              <a:defRPr sz="21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1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4F1E8"/>
                </a:solidFill>
                <a:latin typeface="Arial"/>
                <a:ea typeface="Arial"/>
                <a:cs typeface="Arial"/>
              </a:rPr>
              <a:t>Starting point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0705BC71-6E82-44D6-8DC9-1970240DC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95550"/>
            <a:ext cx="428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A9B8BE"/>
                </a:solidFill>
                <a:latin typeface="Arial"/>
                <a:ea typeface="Arial"/>
                <a:cs typeface="Arial"/>
              </a:rPr>
              <a:t>Building or campus landmark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6DCCB81C-1E40-44E1-A742-E95204142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8135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1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defPPr>
            <a:lvl1pPr algn="l">
              <a:defRPr sz="21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1pPr>
            <a:lvl2pPr algn="l">
              <a:defRPr sz="21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2pPr>
            <a:lvl3pPr algn="l">
              <a:defRPr sz="21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3pPr>
            <a:lvl4pPr algn="l">
              <a:defRPr sz="21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4pPr>
            <a:lvl5pPr algn="l">
              <a:defRPr sz="21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5pPr>
            <a:lvl6pPr algn="l">
              <a:defRPr sz="21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6pPr>
            <a:lvl7pPr algn="l">
              <a:defRPr sz="21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7pPr>
            <a:lvl8pPr algn="l">
              <a:defRPr sz="21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8pPr>
            <a:lvl9pPr algn="l">
              <a:defRPr sz="21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1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4F1E8"/>
                </a:solidFill>
                <a:latin typeface="Arial"/>
                <a:ea typeface="Arial"/>
                <a:cs typeface="Arial"/>
              </a:rPr>
              <a:t>Destination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79CF7A4C-1D28-4DD8-9648-84883FA3C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81400"/>
            <a:ext cx="428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A9B8BE"/>
                </a:solidFill>
                <a:latin typeface="Arial"/>
                <a:ea typeface="Arial"/>
                <a:cs typeface="Arial"/>
              </a:rPr>
              <a:t>Building or campus landmark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9D59B158-523F-4486-8FB6-911EFE439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67200"/>
            <a:ext cx="419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95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defPPr>
            <a:lvl1pPr algn="l">
              <a:defRPr sz="195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1pPr>
            <a:lvl2pPr algn="l">
              <a:defRPr sz="195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2pPr>
            <a:lvl3pPr algn="l">
              <a:defRPr sz="195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3pPr>
            <a:lvl4pPr algn="l">
              <a:defRPr sz="195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4pPr>
            <a:lvl5pPr algn="l">
              <a:defRPr sz="195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5pPr>
            <a:lvl6pPr algn="l">
              <a:defRPr sz="195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6pPr>
            <a:lvl7pPr algn="l">
              <a:defRPr sz="195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7pPr>
            <a:lvl8pPr algn="l">
              <a:defRPr sz="195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8pPr>
            <a:lvl9pPr algn="l">
              <a:defRPr sz="195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95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4F1E8"/>
                </a:solidFill>
                <a:latin typeface="Arial"/>
                <a:ea typeface="Arial"/>
                <a:cs typeface="Arial"/>
              </a:rPr>
              <a:t>Optional route context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576F1DB5-6B6C-4AAA-9BC2-94989875B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67250"/>
            <a:ext cx="4762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A9B8BE"/>
                </a:solidFill>
                <a:latin typeface="Arial"/>
                <a:ea typeface="Arial"/>
                <a:cs typeface="Arial"/>
              </a:rPr>
              <a:t>Pedestrian crowd factors can change path weights.</a:t>
            </a:r>
          </a:p>
        </p:txBody>
      </p:sp>
      <p:sp>
        <p:nvSpPr>
          <p:cNvPr id="13" name="path-segment">
            <a:extLst xmlns:a="http://schemas.openxmlformats.org/drawingml/2006/main">
              <a:ext uri="{FF2B5EF4-FFF2-40B4-BE49-F238E27FC236}">
                <a16:creationId xmlns:a16="http://schemas.microsoft.com/office/drawing/2014/main" id="{3F6E6007-103B-437B-946F-B5EB77699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524500" y="2238375"/>
            <a:ext cx="666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49D7C4"/>
            </a:solidFill>
            <a:prstDash val="solid"/>
          </a:ln>
        </p:spPr>
      </p:sp>
      <p:sp>
        <p:nvSpPr>
          <p:cNvPr id="14" name="path-segment">
            <a:extLst xmlns:a="http://schemas.openxmlformats.org/drawingml/2006/main">
              <a:ext uri="{FF2B5EF4-FFF2-40B4-BE49-F238E27FC236}">
                <a16:creationId xmlns:a16="http://schemas.microsoft.com/office/drawing/2014/main" id="{5F55FC57-DAA5-44A8-82C7-90D04FE85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019800" y="2076450"/>
            <a:ext cx="171450" cy="1619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49D7C4"/>
            </a:solidFill>
            <a:prstDash val="solid"/>
          </a:ln>
        </p:spPr>
      </p:sp>
      <p:sp>
        <p:nvSpPr>
          <p:cNvPr id="15" name="path-segment">
            <a:extLst xmlns:a="http://schemas.openxmlformats.org/drawingml/2006/main">
              <a:ext uri="{FF2B5EF4-FFF2-40B4-BE49-F238E27FC236}">
                <a16:creationId xmlns:a16="http://schemas.microsoft.com/office/drawing/2014/main" id="{14BAD746-DB9A-4446-A38E-03AF32B86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6019800" y="2238375"/>
            <a:ext cx="171450" cy="1619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49D7C4"/>
            </a:solidFill>
            <a:prstDash val="solid"/>
          </a:ln>
        </p:spPr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FEA32E52-1764-4B24-95B6-F3DE1AD86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095500"/>
            <a:ext cx="457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1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defPPr>
            <a:lvl1pPr algn="l">
              <a:defRPr sz="21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1pPr>
            <a:lvl2pPr algn="l">
              <a:defRPr sz="21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2pPr>
            <a:lvl3pPr algn="l">
              <a:defRPr sz="21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3pPr>
            <a:lvl4pPr algn="l">
              <a:defRPr sz="21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4pPr>
            <a:lvl5pPr algn="l">
              <a:defRPr sz="21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5pPr>
            <a:lvl6pPr algn="l">
              <a:defRPr sz="21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6pPr>
            <a:lvl7pPr algn="l">
              <a:defRPr sz="21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7pPr>
            <a:lvl8pPr algn="l">
              <a:defRPr sz="21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8pPr>
            <a:lvl9pPr algn="l">
              <a:defRPr sz="21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1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4F1E8"/>
                </a:solidFill>
                <a:latin typeface="Arial"/>
                <a:ea typeface="Arial"/>
                <a:cs typeface="Arial"/>
              </a:rPr>
              <a:t>Recommended path</a:t>
            </a:r>
          </a:p>
        </p:txBody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04D10F3D-0935-4731-B7D7-B101CB6D4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495550"/>
            <a:ext cx="457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A9B8BE"/>
                </a:solidFill>
                <a:latin typeface="Arial"/>
                <a:ea typeface="Arial"/>
                <a:cs typeface="Arial"/>
              </a:rPr>
              <a:t>Ordered checkpoints and walkways</a:t>
            </a:r>
          </a:p>
        </p:txBody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515FA788-294D-45E9-8B91-522BF4F0D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181350"/>
            <a:ext cx="457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1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defPPr>
            <a:lvl1pPr algn="l">
              <a:defRPr sz="21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1pPr>
            <a:lvl2pPr algn="l">
              <a:defRPr sz="21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2pPr>
            <a:lvl3pPr algn="l">
              <a:defRPr sz="21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3pPr>
            <a:lvl4pPr algn="l">
              <a:defRPr sz="21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4pPr>
            <a:lvl5pPr algn="l">
              <a:defRPr sz="21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5pPr>
            <a:lvl6pPr algn="l">
              <a:defRPr sz="21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6pPr>
            <a:lvl7pPr algn="l">
              <a:defRPr sz="21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7pPr>
            <a:lvl8pPr algn="l">
              <a:defRPr sz="21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8pPr>
            <a:lvl9pPr algn="l">
              <a:defRPr sz="21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1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4F1E8"/>
                </a:solidFill>
                <a:latin typeface="Arial"/>
                <a:ea typeface="Arial"/>
                <a:cs typeface="Arial"/>
              </a:rPr>
              <a:t>Estimated distance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E4373A02-2815-43DC-ACE9-A58300C61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581400"/>
            <a:ext cx="457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A9B8BE"/>
                </a:solidFill>
                <a:latin typeface="Arial"/>
                <a:ea typeface="Arial"/>
                <a:cs typeface="Arial"/>
              </a:rPr>
              <a:t>Total path cost for the selected route</a:t>
            </a:r>
          </a:p>
        </p:txBody>
      </p:sp>
      <p:sp>
        <p:nvSpPr>
          <p:cNvPr id="20" name="text">
            <a:extLst xmlns:a="http://schemas.openxmlformats.org/drawingml/2006/main">
              <a:ext uri="{FF2B5EF4-FFF2-40B4-BE49-F238E27FC236}">
                <a16:creationId xmlns:a16="http://schemas.microsoft.com/office/drawing/2014/main" id="{B6F3A690-D5AB-43F3-B1F7-446CA799A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267200"/>
            <a:ext cx="457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1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defPPr>
            <a:lvl1pPr algn="l">
              <a:defRPr sz="21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1pPr>
            <a:lvl2pPr algn="l">
              <a:defRPr sz="21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2pPr>
            <a:lvl3pPr algn="l">
              <a:defRPr sz="21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3pPr>
            <a:lvl4pPr algn="l">
              <a:defRPr sz="21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4pPr>
            <a:lvl5pPr algn="l">
              <a:defRPr sz="21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5pPr>
            <a:lvl6pPr algn="l">
              <a:defRPr sz="21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6pPr>
            <a:lvl7pPr algn="l">
              <a:defRPr sz="21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7pPr>
            <a:lvl8pPr algn="l">
              <a:defRPr sz="21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8pPr>
            <a:lvl9pPr algn="l">
              <a:defRPr sz="21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1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4F1E8"/>
                </a:solidFill>
                <a:latin typeface="Arial"/>
                <a:ea typeface="Arial"/>
                <a:cs typeface="Arial"/>
              </a:rPr>
              <a:t>Estimated time</a:t>
            </a:r>
          </a:p>
        </p:txBody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4AD75BC9-4D72-4916-BE96-25CD0FB8C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667250"/>
            <a:ext cx="457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A9B8BE"/>
                </a:solidFill>
                <a:latin typeface="Arial"/>
                <a:ea typeface="Arial"/>
                <a:cs typeface="Arial"/>
              </a:rPr>
              <a:t>Walking-time estimate for the route</a:t>
            </a:r>
          </a:p>
        </p:txBody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89C9C67B-030F-4E58-8B6C-FC37165EA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00700"/>
            <a:ext cx="1047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A9B8BE"/>
                </a:solidFill>
                <a:latin typeface="Arial"/>
                <a:ea typeface="Arial"/>
                <a:cs typeface="Arial"/>
              </a:rPr>
              <a:t>The proposal specifies distance and time outputs. It does not define a particular live crowd-data source.</a:t>
            </a:r>
          </a:p>
        </p:txBody>
      </p:sp>
    </p:spTree>
    <p:extLst>
      <p:ext uri="{BB962C8B-B14F-4D97-AF65-F5344CB8AC3E}">
        <p14:creationId xmlns:p14="http://schemas.microsoft.com/office/powerpoint/2010/main" val="157403627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101D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text">
            <a:extLst xmlns:a="http://schemas.openxmlformats.org/drawingml/2006/main">
              <a:ext uri="{FF2B5EF4-FFF2-40B4-BE49-F238E27FC236}">
                <a16:creationId xmlns:a16="http://schemas.microsoft.com/office/drawing/2014/main" id="{899AE1D5-E0F4-4063-A964-D7FD1705B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523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49D7C4"/>
                </a:solidFill>
                <a:latin typeface="Arial"/>
                <a:ea typeface="Arial"/>
                <a:cs typeface="Arial"/>
              </a:rPr>
              <a:t>CAMPUS NAVIGATION ASSISTANT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11AA4BC3-F7BB-452A-B841-2F0D99FA9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315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defPPr>
            <a:lvl1pPr algn="l">
              <a:defRPr sz="315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1pPr>
            <a:lvl2pPr algn="l">
              <a:defRPr sz="315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2pPr>
            <a:lvl3pPr algn="l">
              <a:defRPr sz="315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3pPr>
            <a:lvl4pPr algn="l">
              <a:defRPr sz="315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4pPr>
            <a:lvl5pPr algn="l">
              <a:defRPr sz="315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5pPr>
            <a:lvl6pPr algn="l">
              <a:defRPr sz="315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6pPr>
            <a:lvl7pPr algn="l">
              <a:defRPr sz="315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7pPr>
            <a:lvl8pPr algn="l">
              <a:defRPr sz="315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8pPr>
            <a:lvl9pPr algn="l">
              <a:defRPr sz="315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15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F4F1E8"/>
                </a:solidFill>
                <a:latin typeface="Arial"/>
                <a:ea typeface="Arial"/>
                <a:cs typeface="Arial"/>
              </a:rPr>
              <a:t>Evaluation against Dijkstra and BFS</a:t>
            </a:r>
          </a:p>
        </p:txBody>
      </p:sp>
      <p:sp>
        <p:nvSpPr>
          <p:cNvPr id="3" name="footer-rule">
            <a:extLst xmlns:a="http://schemas.openxmlformats.org/drawingml/2006/main">
              <a:ext uri="{FF2B5EF4-FFF2-40B4-BE49-F238E27FC236}">
                <a16:creationId xmlns:a16="http://schemas.microsoft.com/office/drawing/2014/main" id="{B0B23F33-8207-48BD-83C2-9B10A16E3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1507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75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CD1B0DED-5405-456C-9036-F74A1F20A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0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defPPr>
            <a:lvl1pPr algn="l">
              <a:defRPr sz="90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lvl1pPr>
            <a:lvl2pPr algn="l">
              <a:defRPr sz="90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lvl2pPr>
            <a:lvl3pPr algn="l">
              <a:defRPr sz="90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lvl3pPr>
            <a:lvl4pPr algn="l">
              <a:defRPr sz="90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lvl4pPr>
            <a:lvl5pPr algn="l">
              <a:defRPr sz="90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lvl5pPr>
            <a:lvl6pPr algn="l">
              <a:defRPr sz="90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lvl6pPr>
            <a:lvl7pPr algn="l">
              <a:defRPr sz="90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lvl7pPr>
            <a:lvl8pPr algn="l">
              <a:defRPr sz="90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lvl8pPr>
            <a:lvl9pPr algn="l">
              <a:defRPr sz="90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0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A9B8BE"/>
                </a:solidFill>
                <a:latin typeface="Arial"/>
                <a:ea typeface="Arial"/>
                <a:cs typeface="Arial"/>
              </a:rPr>
              <a:t>AI PROJECT  /  A* CAMPUS ROUTING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A3CAC194-4C77-4623-81C3-9CBF03054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71625"/>
            <a:ext cx="1028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defPPr>
            <a:lvl1pPr algn="l">
              <a:defRPr sz="18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1pPr>
            <a:lvl2pPr algn="l">
              <a:defRPr sz="18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2pPr>
            <a:lvl3pPr algn="l">
              <a:defRPr sz="18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3pPr>
            <a:lvl4pPr algn="l">
              <a:defRPr sz="18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4pPr>
            <a:lvl5pPr algn="l">
              <a:defRPr sz="18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5pPr>
            <a:lvl6pPr algn="l">
              <a:defRPr sz="18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6pPr>
            <a:lvl7pPr algn="l">
              <a:defRPr sz="18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7pPr>
            <a:lvl8pPr algn="l">
              <a:defRPr sz="18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8pPr>
            <a:lvl9pPr algn="l">
              <a:defRPr sz="18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4F1E8"/>
                </a:solidFill>
                <a:latin typeface="Arial"/>
                <a:ea typeface="Arial"/>
                <a:cs typeface="Arial"/>
              </a:rPr>
              <a:t>The experiment compares A* with two search baselines on the same campus graph.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0F17E107-B8F8-4171-99A9-0EDE90E3F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76475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49D7C4"/>
                </a:solidFill>
                <a:latin typeface="Arial"/>
                <a:ea typeface="Arial"/>
                <a:cs typeface="Arial"/>
              </a:rPr>
              <a:t>ALGORITHM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E3903732-F4AF-4133-AB03-ACA9F4F62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276475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49D7C4"/>
                </a:solidFill>
                <a:latin typeface="Arial"/>
                <a:ea typeface="Arial"/>
                <a:cs typeface="Arial"/>
              </a:rPr>
              <a:t>SEARCH APPROACH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AF41940C-B5EA-4C0C-88F1-E6EF3CA55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276475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49D7C4"/>
                </a:solidFill>
                <a:latin typeface="Arial"/>
                <a:ea typeface="Arial"/>
                <a:cs typeface="Arial"/>
              </a:rPr>
              <a:t>WHAT THE COMPARISON SHOWS</a:t>
            </a:r>
          </a:p>
        </p:txBody>
      </p:sp>
      <p:sp>
        <p:nvSpPr>
          <p:cNvPr id="9" name="path-segment">
            <a:extLst xmlns:a="http://schemas.openxmlformats.org/drawingml/2006/main">
              <a:ext uri="{FF2B5EF4-FFF2-40B4-BE49-F238E27FC236}">
                <a16:creationId xmlns:a16="http://schemas.microsoft.com/office/drawing/2014/main" id="{0645643B-ACCE-474E-80C1-969D90DF6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85800" y="2562225"/>
            <a:ext cx="107156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14754"/>
            </a:solidFill>
            <a:prstDash val="solid"/>
          </a:ln>
        </p:spPr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43B39F31-38FF-4149-B8A0-3D032E8C6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0510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4F1E8"/>
                </a:solidFill>
                <a:latin typeface="Arial"/>
                <a:ea typeface="Arial"/>
                <a:cs typeface="Arial"/>
              </a:rPr>
              <a:t>A*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C1CD56B1-CF0A-4C0A-9E4B-F7C63F24E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705100"/>
            <a:ext cx="371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A9B8BE"/>
                </a:solidFill>
                <a:latin typeface="Arial"/>
                <a:ea typeface="Arial"/>
                <a:cs typeface="Arial"/>
              </a:rPr>
              <a:t>Uses route cost plus heuristic look-ahead.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F8457E99-EAAE-4900-B376-A1EA6D0C6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705100"/>
            <a:ext cx="371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A9B8BE"/>
                </a:solidFill>
                <a:latin typeface="Arial"/>
                <a:ea typeface="Arial"/>
                <a:cs typeface="Arial"/>
              </a:rPr>
              <a:t>Goal-directed search with route cost.</a:t>
            </a:r>
          </a:p>
        </p:txBody>
      </p:sp>
      <p:sp>
        <p:nvSpPr>
          <p:cNvPr id="13" name="path-segment">
            <a:extLst xmlns:a="http://schemas.openxmlformats.org/drawingml/2006/main">
              <a:ext uri="{FF2B5EF4-FFF2-40B4-BE49-F238E27FC236}">
                <a16:creationId xmlns:a16="http://schemas.microsoft.com/office/drawing/2014/main" id="{A21DB97E-42F8-4CD6-A324-E0F00AB64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85800" y="3343275"/>
            <a:ext cx="107156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14754"/>
            </a:solidFill>
            <a:prstDash val="solid"/>
          </a:ln>
        </p:spPr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1BB3CEC7-0EC5-42A6-8A71-E51D71AB0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8615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4F1E8"/>
                </a:solidFill>
                <a:latin typeface="Arial"/>
                <a:ea typeface="Arial"/>
                <a:cs typeface="Arial"/>
              </a:rPr>
              <a:t>Dijkstra / UCS</a:t>
            </a:r>
          </a:p>
        </p:txBody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82ED54D6-FBA4-4DDD-9FA1-CF13E7926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3486150"/>
            <a:ext cx="371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A9B8BE"/>
                </a:solidFill>
                <a:latin typeface="Arial"/>
                <a:ea typeface="Arial"/>
                <a:cs typeface="Arial"/>
              </a:rPr>
              <a:t>Uses accumulated path cost.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3D6360CE-3779-4898-BA39-35A067C24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486150"/>
            <a:ext cx="371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A9B8BE"/>
                </a:solidFill>
                <a:latin typeface="Arial"/>
                <a:ea typeface="Arial"/>
                <a:cs typeface="Arial"/>
              </a:rPr>
              <a:t>Uniform-cost shortest-path baseline.</a:t>
            </a:r>
          </a:p>
        </p:txBody>
      </p:sp>
      <p:sp>
        <p:nvSpPr>
          <p:cNvPr id="17" name="path-segment">
            <a:extLst xmlns:a="http://schemas.openxmlformats.org/drawingml/2006/main">
              <a:ext uri="{FF2B5EF4-FFF2-40B4-BE49-F238E27FC236}">
                <a16:creationId xmlns:a16="http://schemas.microsoft.com/office/drawing/2014/main" id="{5F86DA4D-4C03-49D6-A2F9-65FD6BA57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85800" y="4124325"/>
            <a:ext cx="107156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14754"/>
            </a:solidFill>
            <a:prstDash val="solid"/>
          </a:ln>
        </p:spPr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77151D22-1C2B-4904-8BDF-3D3C8D499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6720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4F1E8"/>
                </a:solidFill>
                <a:latin typeface="Arial"/>
                <a:ea typeface="Arial"/>
                <a:cs typeface="Arial"/>
              </a:rPr>
              <a:t>BFS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819BFCB6-5DC8-439D-A8DD-B373951E9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4267200"/>
            <a:ext cx="371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A9B8BE"/>
                </a:solidFill>
                <a:latin typeface="Arial"/>
                <a:ea typeface="Arial"/>
                <a:cs typeface="Arial"/>
              </a:rPr>
              <a:t>Explores by number of edges.</a:t>
            </a:r>
          </a:p>
        </p:txBody>
      </p:sp>
      <p:sp>
        <p:nvSpPr>
          <p:cNvPr id="20" name="text">
            <a:extLst xmlns:a="http://schemas.openxmlformats.org/drawingml/2006/main">
              <a:ext uri="{FF2B5EF4-FFF2-40B4-BE49-F238E27FC236}">
                <a16:creationId xmlns:a16="http://schemas.microsoft.com/office/drawing/2014/main" id="{49B75B14-9F8E-48BC-940D-9AF55DD86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267200"/>
            <a:ext cx="371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A9B8BE"/>
                </a:solidFill>
                <a:latin typeface="Arial"/>
                <a:ea typeface="Arial"/>
                <a:cs typeface="Arial"/>
              </a:rPr>
              <a:t>Baseline for unweighted hop count.</a:t>
            </a:r>
          </a:p>
        </p:txBody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C97E1722-B87C-4F87-BF10-FBE392FA3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3875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49D7C4"/>
                </a:solidFill>
                <a:latin typeface="Arial"/>
                <a:ea typeface="Arial"/>
                <a:cs typeface="Arial"/>
              </a:rPr>
              <a:t>MEASURES</a:t>
            </a:r>
          </a:p>
        </p:txBody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538DB72F-350E-4616-893A-A1FED848E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6260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4F1E8"/>
                </a:solidFill>
                <a:latin typeface="Arial"/>
                <a:ea typeface="Arial"/>
                <a:cs typeface="Arial"/>
              </a:rPr>
              <a:t>Nodes expanded     Computation time     Total path cost (distance)</a:t>
            </a:r>
          </a:p>
        </p:txBody>
      </p:sp>
    </p:spTree>
    <p:extLst>
      <p:ext uri="{BB962C8B-B14F-4D97-AF65-F5344CB8AC3E}">
        <p14:creationId xmlns:p14="http://schemas.microsoft.com/office/powerpoint/2010/main" val="166294244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101D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AC538C95-DBE5-40C4-8384-BCC988662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523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49D7C4"/>
                </a:solidFill>
                <a:latin typeface="Arial"/>
                <a:ea typeface="Arial"/>
                <a:cs typeface="Arial"/>
              </a:rPr>
              <a:t>CAMPUS NAVIGATION ASSISTANT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14BBC8D8-ECC8-4E27-9B51-7ED5BCA7E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315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defPPr>
            <a:lvl1pPr algn="l">
              <a:defRPr sz="315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1pPr>
            <a:lvl2pPr algn="l">
              <a:defRPr sz="315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2pPr>
            <a:lvl3pPr algn="l">
              <a:defRPr sz="315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3pPr>
            <a:lvl4pPr algn="l">
              <a:defRPr sz="315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4pPr>
            <a:lvl5pPr algn="l">
              <a:defRPr sz="315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5pPr>
            <a:lvl6pPr algn="l">
              <a:defRPr sz="315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6pPr>
            <a:lvl7pPr algn="l">
              <a:defRPr sz="315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7pPr>
            <a:lvl8pPr algn="l">
              <a:defRPr sz="315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8pPr>
            <a:lvl9pPr algn="l">
              <a:defRPr sz="315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15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F4F1E8"/>
                </a:solidFill>
                <a:latin typeface="Arial"/>
                <a:ea typeface="Arial"/>
                <a:cs typeface="Arial"/>
              </a:rPr>
              <a:t>Project team</a:t>
            </a:r>
          </a:p>
        </p:txBody>
      </p:sp>
      <p:sp>
        <p:nvSpPr>
          <p:cNvPr id="3" name="footer-rule">
            <a:extLst xmlns:a="http://schemas.openxmlformats.org/drawingml/2006/main">
              <a:ext uri="{FF2B5EF4-FFF2-40B4-BE49-F238E27FC236}">
                <a16:creationId xmlns:a16="http://schemas.microsoft.com/office/drawing/2014/main" id="{8E516717-8C51-475D-83DE-A621FCDE5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1507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75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21020D03-0822-471A-9BF6-3215DF150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0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defPPr>
            <a:lvl1pPr algn="l">
              <a:defRPr sz="90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lvl1pPr>
            <a:lvl2pPr algn="l">
              <a:defRPr sz="90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lvl2pPr>
            <a:lvl3pPr algn="l">
              <a:defRPr sz="90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lvl3pPr>
            <a:lvl4pPr algn="l">
              <a:defRPr sz="90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lvl4pPr>
            <a:lvl5pPr algn="l">
              <a:defRPr sz="90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lvl5pPr>
            <a:lvl6pPr algn="l">
              <a:defRPr sz="90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lvl6pPr>
            <a:lvl7pPr algn="l">
              <a:defRPr sz="90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lvl7pPr>
            <a:lvl8pPr algn="l">
              <a:defRPr sz="90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lvl8pPr>
            <a:lvl9pPr algn="l">
              <a:defRPr sz="90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0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A9B8BE"/>
                </a:solidFill>
                <a:latin typeface="Arial"/>
                <a:ea typeface="Arial"/>
                <a:cs typeface="Arial"/>
              </a:rPr>
              <a:t>AI PROJECT  /  A* CAMPUS ROUTING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7E424A63-943A-46F3-9C04-3C209A502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81150"/>
            <a:ext cx="1009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0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4F1E8"/>
                </a:solidFill>
                <a:latin typeface="Arial"/>
                <a:ea typeface="Arial"/>
                <a:cs typeface="Arial"/>
              </a:rPr>
              <a:t>Campus Navigation Assistant using A*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BF4C2677-C4A7-45C1-92A7-B19DC2485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81250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49D7C4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798C8483-53D2-48BB-BB77-9D68AECC4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36220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7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4F1E8"/>
                </a:solidFill>
                <a:latin typeface="Arial"/>
                <a:ea typeface="Arial"/>
                <a:cs typeface="Arial"/>
              </a:rPr>
              <a:t>Rohit Arya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E7D9D276-6A3E-4F37-9FD0-72DEF1454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38125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A9B8BE"/>
                </a:solidFill>
                <a:latin typeface="Arial"/>
                <a:ea typeface="Arial"/>
                <a:cs typeface="Arial"/>
              </a:rPr>
              <a:t>24BCE0819</a:t>
            </a:r>
          </a:p>
        </p:txBody>
      </p:sp>
      <p:sp>
        <p:nvSpPr>
          <p:cNvPr id="9" name="path-segment">
            <a:extLst xmlns:a="http://schemas.openxmlformats.org/drawingml/2006/main">
              <a:ext uri="{FF2B5EF4-FFF2-40B4-BE49-F238E27FC236}">
                <a16:creationId xmlns:a16="http://schemas.microsoft.com/office/drawing/2014/main" id="{8F830E18-2685-4E91-A361-C379E6304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447800" y="2838450"/>
            <a:ext cx="7124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14754"/>
            </a:solidFill>
            <a:prstDash val="solid"/>
          </a:ln>
        </p:spPr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85294A08-76D5-45AE-9B2E-6112B1424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05150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49D7C4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9EEB0C6B-FF82-4B27-9287-DC5D8D56C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08610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7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4F1E8"/>
                </a:solidFill>
                <a:latin typeface="Arial"/>
                <a:ea typeface="Arial"/>
                <a:cs typeface="Arial"/>
              </a:rPr>
              <a:t>Nayan Gattani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0C500D12-31ED-4E4E-8FA9-0D14DEC88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10515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A9B8BE"/>
                </a:solidFill>
                <a:latin typeface="Arial"/>
                <a:ea typeface="Arial"/>
                <a:cs typeface="Arial"/>
              </a:rPr>
              <a:t>24BDS0117</a:t>
            </a:r>
          </a:p>
        </p:txBody>
      </p:sp>
      <p:sp>
        <p:nvSpPr>
          <p:cNvPr id="13" name="path-segment">
            <a:extLst xmlns:a="http://schemas.openxmlformats.org/drawingml/2006/main">
              <a:ext uri="{FF2B5EF4-FFF2-40B4-BE49-F238E27FC236}">
                <a16:creationId xmlns:a16="http://schemas.microsoft.com/office/drawing/2014/main" id="{62E8BF5C-0F56-4044-A6A3-9CF3DD5E7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447800" y="3562350"/>
            <a:ext cx="7124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14754"/>
            </a:solidFill>
            <a:prstDash val="solid"/>
          </a:ln>
        </p:spPr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B5721A0D-914E-47AB-9053-CEF78E6A7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29050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49D7C4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BA102305-02B4-406E-810A-205C04116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81000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7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4F1E8"/>
                </a:solidFill>
                <a:latin typeface="Arial"/>
                <a:ea typeface="Arial"/>
                <a:cs typeface="Arial"/>
              </a:rPr>
              <a:t>Aditya Kumar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9EFB8F87-BC9A-467A-A3F8-E3AF7251B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82905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A9B8BE"/>
                </a:solidFill>
                <a:latin typeface="Arial"/>
                <a:ea typeface="Arial"/>
                <a:cs typeface="Arial"/>
              </a:rPr>
              <a:t>24BCE0205</a:t>
            </a:r>
          </a:p>
        </p:txBody>
      </p:sp>
      <p:sp>
        <p:nvSpPr>
          <p:cNvPr id="17" name="path-segment">
            <a:extLst xmlns:a="http://schemas.openxmlformats.org/drawingml/2006/main">
              <a:ext uri="{FF2B5EF4-FFF2-40B4-BE49-F238E27FC236}">
                <a16:creationId xmlns:a16="http://schemas.microsoft.com/office/drawing/2014/main" id="{37242F82-2871-4B07-ACC6-ACAFE9875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447800" y="4286250"/>
            <a:ext cx="7124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14754"/>
            </a:solidFill>
            <a:prstDash val="solid"/>
          </a:ln>
        </p:spPr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4D4439BE-D57C-4DEC-8FC0-0AD50A09B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52950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49D7C4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02D8C3B3-3300-4C75-9A2B-015BE678D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53390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7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4F1E8"/>
                </a:solidFill>
                <a:latin typeface="Arial"/>
                <a:ea typeface="Arial"/>
                <a:cs typeface="Arial"/>
              </a:rPr>
              <a:t>Ashish Kumar</a:t>
            </a:r>
          </a:p>
        </p:txBody>
      </p:sp>
      <p:sp>
        <p:nvSpPr>
          <p:cNvPr id="20" name="text">
            <a:extLst xmlns:a="http://schemas.openxmlformats.org/drawingml/2006/main">
              <a:ext uri="{FF2B5EF4-FFF2-40B4-BE49-F238E27FC236}">
                <a16:creationId xmlns:a16="http://schemas.microsoft.com/office/drawing/2014/main" id="{A48C67FC-0F7E-4B61-B77C-E11496956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55295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A9B8BE"/>
                </a:solidFill>
                <a:latin typeface="Arial"/>
                <a:ea typeface="Arial"/>
                <a:cs typeface="Arial"/>
              </a:rPr>
              <a:t>24BKT0059</a:t>
            </a:r>
          </a:p>
        </p:txBody>
      </p:sp>
      <p:sp>
        <p:nvSpPr>
          <p:cNvPr id="21" name="close-rule">
            <a:extLst xmlns:a="http://schemas.openxmlformats.org/drawingml/2006/main">
              <a:ext uri="{FF2B5EF4-FFF2-40B4-BE49-F238E27FC236}">
                <a16:creationId xmlns:a16="http://schemas.microsoft.com/office/drawing/2014/main" id="{06A99777-DDA5-4D70-B890-9449C7C23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53075"/>
            <a:ext cx="190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9D7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A7508ED4-9E6E-4983-A61B-8D6040115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562600"/>
            <a:ext cx="1809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49D7C4"/>
                </a:solidFill>
                <a:latin typeface="Arial"/>
                <a:ea typeface="Arial"/>
                <a:cs typeface="Arial"/>
              </a:rPr>
              <a:t>Project focus</a:t>
            </a:r>
          </a:p>
        </p:txBody>
      </p:sp>
      <p:sp>
        <p:nvSpPr>
          <p:cNvPr id="23" name="text">
            <a:extLst xmlns:a="http://schemas.openxmlformats.org/drawingml/2006/main">
              <a:ext uri="{FF2B5EF4-FFF2-40B4-BE49-F238E27FC236}">
                <a16:creationId xmlns:a16="http://schemas.microsoft.com/office/drawing/2014/main" id="{65CC433A-C943-4B6A-B8EA-236822A5B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819775"/>
            <a:ext cx="9810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F4F1E8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0">
                <a:solidFill>
                  <a:srgbClr val="F4F1E8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0">
                <a:solidFill>
                  <a:srgbClr val="F4F1E8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0">
                <a:solidFill>
                  <a:srgbClr val="F4F1E8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0">
                <a:solidFill>
                  <a:srgbClr val="F4F1E8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0">
                <a:solidFill>
                  <a:srgbClr val="F4F1E8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0">
                <a:solidFill>
                  <a:srgbClr val="F4F1E8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0">
                <a:solidFill>
                  <a:srgbClr val="F4F1E8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0">
                <a:solidFill>
                  <a:srgbClr val="F4F1E8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0">
                <a:solidFill>
                  <a:srgbClr val="F4F1E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F4F1E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4F1E8"/>
                </a:solidFill>
                <a:latin typeface="Arial"/>
                <a:ea typeface="Arial"/>
                <a:cs typeface="Arial"/>
              </a:rPr>
              <a:t>Use A* to find efficient pedestrian routes between campus landmarks, then evaluate search efficiency and path cost.</a:t>
            </a:r>
          </a:p>
        </p:txBody>
      </p:sp>
    </p:spTree>
    <p:extLst>
      <p:ext uri="{BB962C8B-B14F-4D97-AF65-F5344CB8AC3E}">
        <p14:creationId xmlns:p14="http://schemas.microsoft.com/office/powerpoint/2010/main" val="188387266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2026-10-25T09:04:17.8290000Z</dcterms:created>
  <dcterms:modified xsi:type="dcterms:W3CDTF">2026-10-25T09:04:17.8290000Z</dcterms:modified>
</coreProperties>
</file>