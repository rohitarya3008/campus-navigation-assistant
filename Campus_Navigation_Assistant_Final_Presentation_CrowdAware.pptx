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28617cdf0f4cfc" /><Relationship Type="http://schemas.openxmlformats.org/officeDocument/2006/relationships/extended-properties" Target="/docProps/app.xml" Id="Redd5d073e4314278" /><Relationship Type="http://schemas.openxmlformats.org/officeDocument/2006/relationships/officeDocument" Target="/ppt/presentation.xml" Id="R528bab44399742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8b64102d774d53"/>
  </p:sldMasterIdLst>
  <p:notesMasterIdLst>
    <p:notesMasterId xmlns:r="http://schemas.openxmlformats.org/officeDocument/2006/relationships" r:id="R1756b75518c6498d"/>
  </p:notesMasterIdLst>
  <p:sldIdLst>
    <p:sldId xmlns:r="http://schemas.openxmlformats.org/officeDocument/2006/relationships" id="256" r:id="R9e4ee65de588413d"/>
    <p:sldId xmlns:r="http://schemas.openxmlformats.org/officeDocument/2006/relationships" id="257" r:id="Rba2d493cefa94b12"/>
    <p:sldId xmlns:r="http://schemas.openxmlformats.org/officeDocument/2006/relationships" id="258" r:id="Rb0e37e0e44514dc5"/>
    <p:sldId xmlns:r="http://schemas.openxmlformats.org/officeDocument/2006/relationships" id="259" r:id="R1553502383a64bd4"/>
    <p:sldId xmlns:r="http://schemas.openxmlformats.org/officeDocument/2006/relationships" id="260" r:id="Rb91ee3d948834734"/>
    <p:sldId xmlns:r="http://schemas.openxmlformats.org/officeDocument/2006/relationships" id="261" r:id="Ra88339a9ff8e45d5"/>
    <p:sldId xmlns:r="http://schemas.openxmlformats.org/officeDocument/2006/relationships" id="262" r:id="R748161dc933244b4"/>
    <p:sldId xmlns:r="http://schemas.openxmlformats.org/officeDocument/2006/relationships" id="263" r:id="R47de94df72f947b3"/>
    <p:sldId xmlns:r="http://schemas.openxmlformats.org/officeDocument/2006/relationships" id="264" r:id="R8a4bfa050bbe4d1b"/>
    <p:sldId xmlns:r="http://schemas.openxmlformats.org/officeDocument/2006/relationships" id="265" r:id="R3561edd9603a40ff"/>
    <p:sldId xmlns:r="http://schemas.openxmlformats.org/officeDocument/2006/relationships" id="266" r:id="Rd02be5453a5546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bd06dc098f4dbc" /><Relationship Type="http://schemas.openxmlformats.org/officeDocument/2006/relationships/slideMaster" Target="/ppt/slideMasters/slideMaster1.xml" Id="R8a8b64102d774d53" /><Relationship Type="http://schemas.openxmlformats.org/officeDocument/2006/relationships/notesMaster" Target="/ppt/notesMasters/notesMaster1.xml" Id="R1756b75518c6498d" /><Relationship Type="http://schemas.openxmlformats.org/officeDocument/2006/relationships/presProps" Target="/ppt/presProps.xml" Id="R09677712e38b4d0e" /><Relationship Type="http://schemas.openxmlformats.org/officeDocument/2006/relationships/tableStyles" Target="/ppt/tableStyles.xml" Id="R21ed4a7a1fc74573" /><Relationship Type="http://schemas.openxmlformats.org/officeDocument/2006/relationships/slide" Target="/ppt/slides/slide1.xml" Id="R9e4ee65de588413d" /><Relationship Type="http://schemas.openxmlformats.org/officeDocument/2006/relationships/slide" Target="/ppt/slides/slide2.xml" Id="Rba2d493cefa94b12" /><Relationship Type="http://schemas.openxmlformats.org/officeDocument/2006/relationships/slide" Target="/ppt/slides/slide3.xml" Id="Rb0e37e0e44514dc5" /><Relationship Type="http://schemas.openxmlformats.org/officeDocument/2006/relationships/slide" Target="/ppt/slides/slide4.xml" Id="R1553502383a64bd4" /><Relationship Type="http://schemas.openxmlformats.org/officeDocument/2006/relationships/slide" Target="/ppt/slides/slide5.xml" Id="Rb91ee3d948834734" /><Relationship Type="http://schemas.openxmlformats.org/officeDocument/2006/relationships/slide" Target="/ppt/slides/slide6.xml" Id="Ra88339a9ff8e45d5" /><Relationship Type="http://schemas.openxmlformats.org/officeDocument/2006/relationships/slide" Target="/ppt/slides/slide7.xml" Id="R748161dc933244b4" /><Relationship Type="http://schemas.openxmlformats.org/officeDocument/2006/relationships/slide" Target="/ppt/slides/slide8.xml" Id="R47de94df72f947b3" /><Relationship Type="http://schemas.openxmlformats.org/officeDocument/2006/relationships/slide" Target="/ppt/slides/slide9.xml" Id="R8a4bfa050bbe4d1b" /><Relationship Type="http://schemas.openxmlformats.org/officeDocument/2006/relationships/slide" Target="/ppt/slides/slide10.xml" Id="R3561edd9603a40ff" /><Relationship Type="http://schemas.openxmlformats.org/officeDocument/2006/relationships/slide" Target="/ppt/slides/slide11.xml" Id="Rd02be5453a5546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0f1d16f6bd4c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e2837abea044c4" /><Relationship Type="http://schemas.openxmlformats.org/officeDocument/2006/relationships/notesMaster" Target="/ppt/notesMasters/notesMaster1.xml" Id="Rb4b837ed4a8048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4508126c1a4de1" /><Relationship Type="http://schemas.openxmlformats.org/officeDocument/2006/relationships/notesMaster" Target="/ppt/notesMasters/notesMaster1.xml" Id="Rf311dd2893fc4d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76fa5fa6024a03" /><Relationship Type="http://schemas.openxmlformats.org/officeDocument/2006/relationships/notesMaster" Target="/ppt/notesMasters/notesMaster1.xml" Id="R3aa8ca0a023c42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c2c43d25af45fc" /><Relationship Type="http://schemas.openxmlformats.org/officeDocument/2006/relationships/notesMaster" Target="/ppt/notesMasters/notesMaster1.xml" Id="R0f02824a8ec040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7f5d5db751496a" /><Relationship Type="http://schemas.openxmlformats.org/officeDocument/2006/relationships/notesMaster" Target="/ppt/notesMasters/notesMaster1.xml" Id="R9f5f7629d37a49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fb038d8ed24d01" /><Relationship Type="http://schemas.openxmlformats.org/officeDocument/2006/relationships/notesMaster" Target="/ppt/notesMasters/notesMaster1.xml" Id="Rab832b58255b4c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801a06e33646d8" /><Relationship Type="http://schemas.openxmlformats.org/officeDocument/2006/relationships/notesMaster" Target="/ppt/notesMasters/notesMaster1.xml" Id="Rd7d382e233a344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a15239fb674fcb" /><Relationship Type="http://schemas.openxmlformats.org/officeDocument/2006/relationships/notesMaster" Target="/ppt/notesMasters/notesMaster1.xml" Id="R155b3353f88f43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dace3bd9974bb8" /><Relationship Type="http://schemas.openxmlformats.org/officeDocument/2006/relationships/notesMaster" Target="/ppt/notesMasters/notesMaster1.xml" Id="R247bb1d463d248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ae368aa4984077" /><Relationship Type="http://schemas.openxmlformats.org/officeDocument/2006/relationships/notesMaster" Target="/ppt/notesMasters/notesMaster1.xml" Id="R4945c7797af844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ec7c2a012d4d45" /><Relationship Type="http://schemas.openxmlformats.org/officeDocument/2006/relationships/notesMaster" Target="/ppt/notesMasters/notesMaster1.xml" Id="Rc89fecb86495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Campus_Navigation_Proposal (2).pdf. The cover uses the proposal title and team names; the implementation framing comes from the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web_app.py; campus_nav.py; index.html; campus_map.json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campus_map.json; build_osm_map.py; README.md. Counts were read from the included JSON map and route CLI output. The README’s approximate count is slightly different because OSM extracts can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build_osm_map.py; campus_map.json; campus_nav.py. The diagram is illustrative. Building entrances and connectors are approximate, not surveyed.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README.md; test_campus_nav.py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README.md; test_campus_nav.py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index.html; web_app.py;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campus_nav.py; campus_map.json. Values captured by running the documented default command during presentation preparation. Times are a single run and should not be treated as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campus_nav.py; build_osm_map.py; test_campus_nav.py; campus_map.json. Crowd scenarios are explicit cost multipliers and are recalculated by all three search methods.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README.md; Campus_Navigation_Proposal (2).pdf; campus_map.json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a4b56140d4c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a6040186240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17c4da95447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4d675fe9841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b419aa6384b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bd7c5f02045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672EDA-CD6F-4A8D-91E6-1D92557B7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3A0D71-412F-4AFD-B7D5-9ADCCC58C6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169142-1B0C-44FA-962E-FD2FA8DA3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37BC33-5060-4DD7-80A1-497A0DD0D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25D0EF-52ED-4E25-873E-09BB3E53A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295F27-D0F0-4589-A069-4B58C34230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8A8C26-EFDC-4CBE-BF94-10B5672933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45CDA4-73BA-4F02-A645-89A2972D72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9A7379-E54C-44F8-A5C2-BF7918E7C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777854-5D52-4CB5-B007-CA0DCE3D7A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fdd28e78bd4fe9" /><Relationship Type="http://schemas.openxmlformats.org/officeDocument/2006/relationships/slideLayout" Target="/ppt/slideLayouts/slideLayout1.xml" Id="R924ec6c844974bc3" /><Relationship Type="http://schemas.openxmlformats.org/officeDocument/2006/relationships/slideLayout" Target="/ppt/slideLayouts/slideLayout2.xml" Id="Rfa65c6d33f894d56" /><Relationship Type="http://schemas.openxmlformats.org/officeDocument/2006/relationships/slideLayout" Target="/ppt/slideLayouts/slideLayout3.xml" Id="Rd4ee979656ac4ba8" /><Relationship Type="http://schemas.openxmlformats.org/officeDocument/2006/relationships/slideLayout" Target="/ppt/slideLayouts/slideLayout4.xml" Id="Rebafde1358e440e4" /><Relationship Type="http://schemas.openxmlformats.org/officeDocument/2006/relationships/slideLayout" Target="/ppt/slideLayouts/slideLayout5.xml" Id="R6844e53786c34ce8" /><Relationship Type="http://schemas.openxmlformats.org/officeDocument/2006/relationships/slideLayout" Target="/ppt/slideLayouts/slideLayout6.xml" Id="Rbc9d029f7a1442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4ec6c844974bc3"/>
    <p:sldLayoutId xmlns:r="http://schemas.openxmlformats.org/officeDocument/2006/relationships" id="2147483650" r:id="Rfa65c6d33f894d56"/>
    <p:sldLayoutId xmlns:r="http://schemas.openxmlformats.org/officeDocument/2006/relationships" id="2147483651" r:id="Rd4ee979656ac4ba8"/>
    <p:sldLayoutId xmlns:r="http://schemas.openxmlformats.org/officeDocument/2006/relationships" id="2147483652" r:id="Rebafde1358e440e4"/>
    <p:sldLayoutId xmlns:r="http://schemas.openxmlformats.org/officeDocument/2006/relationships" id="2147483653" r:id="R6844e53786c34ce8"/>
    <p:sldLayoutId xmlns:r="http://schemas.openxmlformats.org/officeDocument/2006/relationships" id="2147483654" r:id="Rbc9d029f7a1442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db9ba8b07454e" /><Relationship Type="http://schemas.openxmlformats.org/officeDocument/2006/relationships/notesSlide" Target="/ppt/notesSlides/notesSlide1.xml" Id="Rc114a04e84734e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d5737c06bf438e" /><Relationship Type="http://schemas.openxmlformats.org/officeDocument/2006/relationships/notesSlide" Target="/ppt/notesSlides/notesSlide2.xml" Id="R9392dc551cf046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bbe2fb5e64764" /><Relationship Type="http://schemas.openxmlformats.org/officeDocument/2006/relationships/notesSlide" Target="/ppt/notesSlides/notesSlide3.xml" Id="R103d179e968c41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0cb1faebf4627" /><Relationship Type="http://schemas.openxmlformats.org/officeDocument/2006/relationships/notesSlide" Target="/ppt/notesSlides/notesSlide4.xml" Id="R345ccdce80084c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86e51d8cbe4ffa" /><Relationship Type="http://schemas.openxmlformats.org/officeDocument/2006/relationships/notesSlide" Target="/ppt/notesSlides/notesSlide5.xml" Id="R5d26434a4b8547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886afd49d94910" /><Relationship Type="http://schemas.openxmlformats.org/officeDocument/2006/relationships/notesSlide" Target="/ppt/notesSlides/notesSlide6.xml" Id="Rc784c5b862d448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e688eada4e4219" /><Relationship Type="http://schemas.openxmlformats.org/officeDocument/2006/relationships/notesSlide" Target="/ppt/notesSlides/notesSlide7.xml" Id="Re6abec4321c340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ab20391db54467" /><Relationship Type="http://schemas.openxmlformats.org/officeDocument/2006/relationships/notesSlide" Target="/ppt/notesSlides/notesSlide8.xml" Id="R7affc7c0d89c4f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4c9c7987e0477e" /><Relationship Type="http://schemas.openxmlformats.org/officeDocument/2006/relationships/notesSlide" Target="/ppt/notesSlides/notesSlide9.xml" Id="R3356cf2419474b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1d929f1f04d45" /><Relationship Type="http://schemas.openxmlformats.org/officeDocument/2006/relationships/notesSlide" Target="/ppt/notesSlides/notesSlide10.xml" Id="R0c4ea2996ca443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8e61197564e88" /><Relationship Type="http://schemas.openxmlformats.org/officeDocument/2006/relationships/notesSlide" Target="/ppt/notesSlides/notesSlide11.xml" Id="Ra68ebe4fb6dc47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6A6AE07-7F0E-4EDD-A162-71748FA6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F6FCC0B-E5D1-4B51-9ABC-360F3333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733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ARTIFICIAL INTELLIGENCE  /  PROJECT PRESENTATION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A28B11F-B61A-4DA9-BDA3-8489EA61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742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Navigation</a:t>
            </a:r>
          </a:p>
          <a:p xmlns:a="http://schemas.openxmlformats.org/drawingml/2006/main">
            <a:pPr algn="l">
              <a:defRPr sz="42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Assistant using A*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73DC52-2A08-4327-A565-5EE17167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 working pedestrian route planner for VIT Vellore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169C2D37-546C-42EF-ABE0-B8F2F028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966565-051B-4F74-95AD-EA936A49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C9775C9-5BFD-46E6-AED2-86669EB4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   ·   Nayan Gattani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A8084D6-8D07-4689-A96B-041D68C1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   ·   Ashish Kumar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A1EE2E-B693-4ADA-B10A-465566E9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Review 2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470725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39E721F-1B30-47A4-A97A-E082BE70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F958272-88CA-4D73-9994-B2156AF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What the project now includes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A428E96-1B0C-4E16-91D5-8F0CDE8F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907445B-61D0-4D51-A923-7103FA56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EABBDAE-D637-45D1-9F4F-5AAE5F06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 local Python search engine, a real campus walking graph and a browser map work together.</a:t>
            </a:r>
          </a:p>
        </p:txBody>
      </p:sp>
      <p:sp>
        <p:nvSpPr>
          <p:cNvPr id="6" name="arch-0">
            <a:extLst xmlns:a="http://schemas.openxmlformats.org/drawingml/2006/main">
              <a:ext uri="{FF2B5EF4-FFF2-40B4-BE49-F238E27FC236}">
                <a16:creationId xmlns:a16="http://schemas.microsoft.com/office/drawing/2014/main" id="{3B79CF91-CD5D-4A2A-B10A-5C541B18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7" name="arch-accent-0">
            <a:extLst xmlns:a="http://schemas.openxmlformats.org/drawingml/2006/main">
              <a:ext uri="{FF2B5EF4-FFF2-40B4-BE49-F238E27FC236}">
                <a16:creationId xmlns:a16="http://schemas.microsoft.com/office/drawing/2014/main" id="{61185AE8-ABC7-405B-B0F3-058873AC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3C1919-1865-4DE5-9419-7452D557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Browser interface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9D6C2D9-5AF8-4DA3-A212-9A5A6250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HTML, CSS, JavaScript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Leaflet map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Place selectors + comparison</a:t>
            </a:r>
          </a:p>
        </p:txBody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C6687D33-BC86-49EB-AD57-0D7BCB67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24200" y="35052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11" name="arch-1">
            <a:extLst xmlns:a="http://schemas.openxmlformats.org/drawingml/2006/main">
              <a:ext uri="{FF2B5EF4-FFF2-40B4-BE49-F238E27FC236}">
                <a16:creationId xmlns:a16="http://schemas.microsoft.com/office/drawing/2014/main" id="{6BA031EF-D208-46A0-AB82-7640B68B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arch-accent-1">
            <a:extLst xmlns:a="http://schemas.openxmlformats.org/drawingml/2006/main">
              <a:ext uri="{FF2B5EF4-FFF2-40B4-BE49-F238E27FC236}">
                <a16:creationId xmlns:a16="http://schemas.microsoft.com/office/drawing/2014/main" id="{917D6481-D8BB-4A05-AD2B-BD136103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8FC857-2761-45AC-875A-28EE6F96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Local web service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351C53B-8D9C-498B-BED6-1848AA2D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Python standard library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/api/map and /api/route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Runs on localhost:8000</a:t>
            </a:r>
          </a:p>
        </p:txBody>
      </p:sp>
      <p:sp>
        <p:nvSpPr>
          <p:cNvPr id="15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0FDB1D2-E1F6-4526-BA97-73C35BC9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67400" y="35052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16" name="arch-2">
            <a:extLst xmlns:a="http://schemas.openxmlformats.org/drawingml/2006/main">
              <a:ext uri="{FF2B5EF4-FFF2-40B4-BE49-F238E27FC236}">
                <a16:creationId xmlns:a16="http://schemas.microsoft.com/office/drawing/2014/main" id="{47889BFD-0EBD-4068-ABF4-E6B478E6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7" name="arch-accent-2">
            <a:extLst xmlns:a="http://schemas.openxmlformats.org/drawingml/2006/main">
              <a:ext uri="{FF2B5EF4-FFF2-40B4-BE49-F238E27FC236}">
                <a16:creationId xmlns:a16="http://schemas.microsoft.com/office/drawing/2014/main" id="{800F5408-0ABC-4A93-8D29-DE7C0CE1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C0266CE-E85E-44C4-8993-789AD00D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Search core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7F6B2FF-099D-4350-BE96-BF54A1C3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A* and Dijkstra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Breadth-first search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Shared weighted graph</a:t>
            </a:r>
          </a:p>
        </p:txBody>
      </p:sp>
      <p:sp>
        <p:nvSpPr>
          <p:cNvPr id="2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66A3E30F-16BA-48EB-A78B-1F21D864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35052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21" name="arch-3">
            <a:extLst xmlns:a="http://schemas.openxmlformats.org/drawingml/2006/main">
              <a:ext uri="{FF2B5EF4-FFF2-40B4-BE49-F238E27FC236}">
                <a16:creationId xmlns:a16="http://schemas.microsoft.com/office/drawing/2014/main" id="{C039B441-20C2-472F-A199-907242FB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2" name="arch-accent-3">
            <a:extLst xmlns:a="http://schemas.openxmlformats.org/drawingml/2006/main">
              <a:ext uri="{FF2B5EF4-FFF2-40B4-BE49-F238E27FC236}">
                <a16:creationId xmlns:a16="http://schemas.microsoft.com/office/drawing/2014/main" id="{AE624215-0F8C-4AE0-AB06-9DA30E11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38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EA89139-233B-4194-ABC4-D10D7CA5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7652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Map data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CBDD267-25E6-4BBE-8B5B-170F312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71825"/>
            <a:ext cx="2028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JSON</a:t>
            </a:r>
          </a:p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F0F7B54-7334-4A9E-BE77-38A33539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browser requests route results from the same Python functions used by the command-line demo.</a:t>
            </a:r>
          </a:p>
        </p:txBody>
      </p:sp>
    </p:spTree>
    <p:extLst>
      <p:ext uri="{BB962C8B-B14F-4D97-AF65-F5344CB8AC3E}">
        <p14:creationId xmlns:p14="http://schemas.microsoft.com/office/powerpoint/2010/main" val="1163877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8D0A4AC-2086-4C45-AAC1-5AC287E1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A75F260-6ADA-42C5-A28F-3DD21A2F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VIT Vellore walking network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B3E45E5-0DAE-4AA7-956B-C0105809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3AD09B-E31B-4BD0-8253-A3A101D5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84ADF8-AB73-4A8E-9117-C3115C8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CURRENT INCLUDED MAP BUNDLE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1D4F7A-A0E1-4469-9233-9866E9C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1,965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C44D6C9-C834-46EA-9E4D-96ED8436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nodes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843C86-7B90-4172-8FD4-DB5225B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47850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2,131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D73C7D5-39DA-47E0-BB6F-6D73E4F6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edges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22698CA-9417-4823-86B0-FF0FD70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2476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5E03E1E-1DD7-4439-B247-C4B3A832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named places</a:t>
            </a:r>
          </a:p>
        </p:txBody>
      </p:sp>
      <p:sp>
        <p:nvSpPr>
          <p:cNvPr id="12" name="data-divider">
            <a:extLst xmlns:a="http://schemas.openxmlformats.org/drawingml/2006/main">
              <a:ext uri="{FF2B5EF4-FFF2-40B4-BE49-F238E27FC236}">
                <a16:creationId xmlns:a16="http://schemas.microsoft.com/office/drawing/2014/main" id="{2468C95B-D0B8-446B-8149-04EF20CF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9E4CA4C-C340-453D-8CB6-6DD44A8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PLACE CATEGORIES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8E3739C-5643-4081-ADA4-2F1E90F3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384302-846E-4DE6-B7F0-1B448A33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2432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places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E473021-8414-4DBB-858D-38D4FF80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1B99AD5-5F71-4750-9D01-60BE6420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2432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Hostels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D2276E2-BE2D-4185-8400-2A94EF8F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A16A876-9A7E-4090-8640-C66D8C55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A–H blocks, MGB, EV Periyar Library, Anna Auditorium, Food Court, 3A Gate, Main Gate and mapped hostels.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771EBC1-7B47-49CC-93D9-98DB5311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OpenStreetMap contributors · extract retrieved 21 Oct 2026 · ODbL</a:t>
            </a:r>
          </a:p>
        </p:txBody>
      </p:sp>
    </p:spTree>
    <p:extLst>
      <p:ext uri="{BB962C8B-B14F-4D97-AF65-F5344CB8AC3E}">
        <p14:creationId xmlns:p14="http://schemas.microsoft.com/office/powerpoint/2010/main" val="34255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31D130F-D84A-4553-9851-3FFD46D7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99427F6-F1A4-4E63-8417-635DDF2F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mapped places become route endpoints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65F28E2-73F7-45CD-A8C7-FA05107B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6EE6C7-8176-440F-998B-B16D3CE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A0A134-D2CE-4809-B8A2-872192C2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 paths form a connected graph. Named campus features snap to the nearest mapped walkway node.</a:t>
            </a:r>
          </a:p>
        </p:txBody>
      </p:sp>
      <p:sp>
        <p:nvSpPr>
          <p:cNvPr id="6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C17C7F4-1600-41F8-B8D6-780A7FA8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57300" y="2762250"/>
            <a:ext cx="201930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7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76647EC7-15FB-485F-90FA-24E1C1F3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6600" y="2762250"/>
            <a:ext cx="198120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8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783A9059-7A70-4705-B575-41C20B70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57800" y="2667000"/>
            <a:ext cx="2019300" cy="981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9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F2EF01B7-5D0F-483E-9505-E6F0D2D4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2667000"/>
            <a:ext cx="35337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20D63057-D8DB-4547-A6DE-E876A267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57800" y="3648075"/>
            <a:ext cx="388620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1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1A965C84-A245-444A-A83A-A3D81EF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144000" y="2743200"/>
            <a:ext cx="1666875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2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F08F3B75-679B-4B67-8CA5-035D167C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76600" y="2667000"/>
            <a:ext cx="40005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3" name="map-node-gate">
            <a:extLst xmlns:a="http://schemas.openxmlformats.org/drawingml/2006/main">
              <a:ext uri="{FF2B5EF4-FFF2-40B4-BE49-F238E27FC236}">
                <a16:creationId xmlns:a16="http://schemas.microsoft.com/office/drawing/2014/main" id="{10673388-F383-4C07-904B-B09D76DA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14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4" name="map-node-junction">
            <a:extLst xmlns:a="http://schemas.openxmlformats.org/drawingml/2006/main">
              <a:ext uri="{FF2B5EF4-FFF2-40B4-BE49-F238E27FC236}">
                <a16:creationId xmlns:a16="http://schemas.microsoft.com/office/drawing/2014/main" id="{FF68A607-CDCD-4ABC-BC8B-1B90BAC2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00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15" name="map-node-library">
            <a:extLst xmlns:a="http://schemas.openxmlformats.org/drawingml/2006/main">
              <a:ext uri="{FF2B5EF4-FFF2-40B4-BE49-F238E27FC236}">
                <a16:creationId xmlns:a16="http://schemas.microsoft.com/office/drawing/2014/main" id="{1AA27DF8-D2CB-40A4-B6A4-FB8BBC7C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86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6" name="map-node-block">
            <a:extLst xmlns:a="http://schemas.openxmlformats.org/drawingml/2006/main">
              <a:ext uri="{FF2B5EF4-FFF2-40B4-BE49-F238E27FC236}">
                <a16:creationId xmlns:a16="http://schemas.microsoft.com/office/drawing/2014/main" id="{41EFE38D-9EA1-4B77-9716-680E2CC2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7" name="map-node-food">
            <a:extLst xmlns:a="http://schemas.openxmlformats.org/drawingml/2006/main">
              <a:ext uri="{FF2B5EF4-FFF2-40B4-BE49-F238E27FC236}">
                <a16:creationId xmlns:a16="http://schemas.microsoft.com/office/drawing/2014/main" id="{577B3BF7-51BD-4871-8F1F-6523E1FD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67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8" name="map-node-goal">
            <a:extLst xmlns:a="http://schemas.openxmlformats.org/drawingml/2006/main">
              <a:ext uri="{FF2B5EF4-FFF2-40B4-BE49-F238E27FC236}">
                <a16:creationId xmlns:a16="http://schemas.microsoft.com/office/drawing/2014/main" id="{2D822C2F-21DD-4823-A8E6-3410C3B7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81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9" name="feature-dot">
            <a:extLst xmlns:a="http://schemas.openxmlformats.org/drawingml/2006/main">
              <a:ext uri="{FF2B5EF4-FFF2-40B4-BE49-F238E27FC236}">
                <a16:creationId xmlns:a16="http://schemas.microsoft.com/office/drawing/2014/main" id="{E334AA4E-61C1-4441-9794-4F5163E3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9525">
            <a:solidFill>
              <a:srgbClr val="F3C969"/>
            </a:solidFill>
            <a:prstDash val="solid"/>
          </a:ln>
        </p:spPr>
      </p:sp>
      <p:sp>
        <p:nvSpPr>
          <p:cNvPr id="2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0E8CE888-BC86-4BE9-A62A-F5844B8C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7275" y="3676650"/>
            <a:ext cx="20002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FBA1CB0-1AC6-48A7-8592-AE211FFA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4342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Named place</a:t>
            </a:r>
          </a:p>
        </p:txBody>
      </p:sp>
      <p:sp>
        <p:nvSpPr>
          <p:cNvPr id="22" name="walkway-dot">
            <a:extLst xmlns:a="http://schemas.openxmlformats.org/drawingml/2006/main">
              <a:ext uri="{FF2B5EF4-FFF2-40B4-BE49-F238E27FC236}">
                <a16:creationId xmlns:a16="http://schemas.microsoft.com/office/drawing/2014/main" id="{34D23CFD-4F40-4559-A9DD-ED58D21F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9525">
            <a:solidFill>
              <a:srgbClr val="49D7C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527EB53-69CC-4E4A-A465-713B8521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43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node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185EAB3-CD90-4A00-A4E2-DEB1D4AD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Route totals include the straight-line endpoint snap offsets as approximate access connectors.</a:t>
            </a:r>
          </a:p>
        </p:txBody>
      </p:sp>
    </p:spTree>
    <p:extLst>
      <p:ext uri="{BB962C8B-B14F-4D97-AF65-F5344CB8AC3E}">
        <p14:creationId xmlns:p14="http://schemas.microsoft.com/office/powerpoint/2010/main" val="1986822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3B24AFE-20D3-4060-A407-B24834E1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1A50C43-6B61-4522-8139-BBE56BB3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search core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D4CCD03-FD59-41BD-B862-06FC10D3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76113A-3FF0-4338-963B-A2A2884D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4FB078-D368-4D56-8F7A-72A0A21E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72A633-3AAC-48FD-8898-48C91AF8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CAB98CF-0DC8-4A79-A2D6-C36A96C7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Known weighted route cost from the starting point.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0158D5-77A4-4108-B072-48F0DBE2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544FC7-FD8B-4E99-8BCC-22463CD3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Straight-line Euclidean estimate to the destination.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64A9EE-EF54-437B-A4BA-E53EF617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Parent map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1C3432-A566-4E49-8193-9CAE9F26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Records each node’s predecessor to rebuild the final route.</a:t>
            </a:r>
          </a:p>
        </p:txBody>
      </p:sp>
      <p:sp>
        <p:nvSpPr>
          <p:cNvPr id="12" name="heuristic-note">
            <a:extLst xmlns:a="http://schemas.openxmlformats.org/drawingml/2006/main">
              <a:ext uri="{FF2B5EF4-FFF2-40B4-BE49-F238E27FC236}">
                <a16:creationId xmlns:a16="http://schemas.microsoft.com/office/drawing/2014/main" id="{353E35B5-6BCE-40DD-95D3-CCC5E4F8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9725"/>
            <a:ext cx="41719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98A833-AE81-4E4B-AAFF-27806EB4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HEURISTIC SAFETY CHECK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C808A86-ABC9-47D6-BDC6-63248DB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4315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Every loaded edge must be at least as long as the straight-line distance between its endpoints.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B78D6BC-59FC-40D3-92D5-B8981CDC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38525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With non-negative distances, this keeps the Euclidean heuristic admissible and consistent for the loaded graph.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FA58F4F-36D9-40CF-84D9-22B0400E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Invalid edges are rejected while the map loads.</a:t>
            </a:r>
          </a:p>
        </p:txBody>
      </p:sp>
    </p:spTree>
    <p:extLst>
      <p:ext uri="{BB962C8B-B14F-4D97-AF65-F5344CB8AC3E}">
        <p14:creationId xmlns:p14="http://schemas.microsoft.com/office/powerpoint/2010/main" val="15210378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5A88FB1-4CBE-4A6E-B7A2-C5F7BAE1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7C3AC98-5A6E-4C2F-B153-9D6C08F8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Three search methods, three different behaviors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CE1924C-5836-42AA-9606-0F4001C7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7A102A8-4791-4588-A929-5AC43F75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06</a:t>
            </a:r>
          </a:p>
        </p:txBody>
      </p:sp>
      <p:sp>
        <p:nvSpPr>
          <p:cNvPr id="5" name="algo-marker-0">
            <a:extLst xmlns:a="http://schemas.openxmlformats.org/drawingml/2006/main">
              <a:ext uri="{FF2B5EF4-FFF2-40B4-BE49-F238E27FC236}">
                <a16:creationId xmlns:a16="http://schemas.microsoft.com/office/drawing/2014/main" id="{AA22672C-BCCB-4E19-A07B-3A324E51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2411C5C-6C75-40A3-8F6E-CE0840F6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C5A1D4-34FF-4954-AB2B-E9226BB2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478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g(n) + h(n)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1DE190-EC30-4FEF-BADC-EA06B8A3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383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Finds a minimum-cost route while using straight-line look-ahead.</a:t>
            </a:r>
          </a:p>
        </p:txBody>
      </p:sp>
      <p:sp>
        <p:nvSpPr>
          <p:cNvPr id="9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E53F0FF9-0886-40E5-8001-C5354741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25717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algo-marker-1">
            <a:extLst xmlns:a="http://schemas.openxmlformats.org/drawingml/2006/main">
              <a:ext uri="{FF2B5EF4-FFF2-40B4-BE49-F238E27FC236}">
                <a16:creationId xmlns:a16="http://schemas.microsoft.com/office/drawing/2014/main" id="{7EF44693-FFF6-4A21-8A1E-EBC575B2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2C1C678-E75F-4348-992A-2BBA4BE9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Dijkstra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3A28E8-986C-4702-B348-D11E8BDC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47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BF38B21-0EBD-4B2B-8BD2-1F5E6A03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38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Minimum-cost reference on the same weighted graph.</a:t>
            </a:r>
          </a:p>
        </p:txBody>
      </p:sp>
      <p:sp>
        <p:nvSpPr>
          <p:cNvPr id="14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4E0C360B-9298-4B3D-8A10-7CAFBFFF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37719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algo-marker-2">
            <a:extLst xmlns:a="http://schemas.openxmlformats.org/drawingml/2006/main">
              <a:ext uri="{FF2B5EF4-FFF2-40B4-BE49-F238E27FC236}">
                <a16:creationId xmlns:a16="http://schemas.microsoft.com/office/drawing/2014/main" id="{D19974F3-3CB3-4F28-8F75-B3AE8FB5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C64B129-D569-4130-BF9D-836239E8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04CF9CD-D73B-4C35-BA0D-8575D769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edge count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C793691-7090-4921-917B-524499F7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386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Finds a route with the fewest graph segments. Segment distances do not affect its search.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3F506FB-35DB-44A6-A796-1343A81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Dijkstra is A* with h(n) = 0. BFS may return a longer physical route when edge lengths vary.</a:t>
            </a:r>
          </a:p>
        </p:txBody>
      </p:sp>
    </p:spTree>
    <p:extLst>
      <p:ext uri="{BB962C8B-B14F-4D97-AF65-F5344CB8AC3E}">
        <p14:creationId xmlns:p14="http://schemas.microsoft.com/office/powerpoint/2010/main" val="16645985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0CFDF78-095F-4F9E-AE0C-7262F7AF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4D038FD-9E5D-4024-AD43-E0BFFDDE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Interactive web app features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5AC8CC9-C009-46C6-8DB2-BD8E6801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3AD8DD0-2BCB-42E2-BBB8-D62ED8DB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7958119-B597-4933-96C9-831B7818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ROUTE CONTROLS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EF13029-F724-46D8-A5FD-240629CB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start and destination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FF3D521-2F44-46D1-AB69-FF4E169A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Swap the two selections and calculate a new walking route.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978BCD-96D6-4BB8-8531-64FA086F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 COMPARISON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376A06C-7BE3-4587-8031-D9693C82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· Dijkstra · BFS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50A5F9-91A8-4ABF-80FB-F9E6A0ED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Each option reports route cost and expanded nodes. Selecting an option redraws its path.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2DE863E-A655-4982-A9D4-F8C8697F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954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MAP AND ROUTE DETAILS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E1621CC-0EBC-40E6-9B78-BE5D2995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9547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Leaflet map of VIT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6759E34-1A50-458D-9A29-2B1070B6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Shows the walking network, selected path, start and destination markers, plus approximate building-access connectors.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86B4683-7BFE-4F56-8E1D-23E63679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2653394-40C0-4E0F-8E50-27A9BCA0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Distance and time estimate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E4D7322-8AA1-4628-B128-857DB486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Shows route metrics, endpoint snap distances, and the selected crowd scenario. Normal, moderate, and high apply 1.00x, 1.25x, and 1.50x cost multipliers.</a:t>
            </a:r>
          </a:p>
        </p:txBody>
      </p:sp>
      <p:sp>
        <p:nvSpPr>
          <p:cNvPr id="17" name="netbox">
            <a:extLst xmlns:a="http://schemas.openxmlformats.org/drawingml/2006/main">
              <a:ext uri="{FF2B5EF4-FFF2-40B4-BE49-F238E27FC236}">
                <a16:creationId xmlns:a16="http://schemas.microsoft.com/office/drawing/2014/main" id="{12736057-48DD-4B3B-A8DC-E9F30332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F66F7B1-36B4-4AB6-99F2-9579F41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404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Browser: index.html + Leaflet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826DA4E-5201-4928-87C3-1EDA7E79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Local Python API: /api/map  /api/route</a:t>
            </a:r>
          </a:p>
        </p:txBody>
      </p:sp>
    </p:spTree>
    <p:extLst>
      <p:ext uri="{BB962C8B-B14F-4D97-AF65-F5344CB8AC3E}">
        <p14:creationId xmlns:p14="http://schemas.microsoft.com/office/powerpoint/2010/main" val="387817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6A9A7DD-79AE-4D94-93A3-636F07D5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7C62A13-3089-4932-9D77-625389BD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Command-line demonstration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48FA2C9-A709-4A76-A676-96CFCCA2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93591CA-A138-4308-848C-00360023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A75C962-1B94-4D1B-A268-7C5E01E3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DEFAULT DEMO</a:t>
            </a:r>
          </a:p>
        </p:txBody>
      </p:sp>
      <p:sp>
        <p:nvSpPr>
          <p:cNvPr id="6" name="cli-frame">
            <a:extLst xmlns:a="http://schemas.openxmlformats.org/drawingml/2006/main">
              <a:ext uri="{FF2B5EF4-FFF2-40B4-BE49-F238E27FC236}">
                <a16:creationId xmlns:a16="http://schemas.microsoft.com/office/drawing/2014/main" id="{E38B0C6C-4C6F-4603-BF13-81D6AAF2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3068D9-DDE6-423F-A154-5AD6D739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campus_nav.py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FDD532-2377-4FB2-A9E9-57170A5F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CHANGE LOCATIONS / CROWD SCENARIO</a:t>
            </a:r>
          </a:p>
        </p:txBody>
      </p:sp>
      <p:sp>
        <p:nvSpPr>
          <p:cNvPr id="9" name="cli-frame-2">
            <a:extLst xmlns:a="http://schemas.openxmlformats.org/drawingml/2006/main">
              <a:ext uri="{FF2B5EF4-FFF2-40B4-BE49-F238E27FC236}">
                <a16:creationId xmlns:a16="http://schemas.microsoft.com/office/drawing/2014/main" id="{77B6D7BE-B1CC-4DB2-AAA4-479A00B0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82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4F70DA6-2CF1-444B-8264-1BD228BC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019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python campus_nav.py --start main_gate_uni_entrance --goal ev_periyar_library --crowd-factor 1.5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4029E42-23DC-4536-8221-F6222462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CLI prints each algorithm’s route, physical distance, search cost, estimated walking time, expanded nodes and measured search time. Raw walkway-node IDs also work; --data accepts another JSON graph.</a:t>
            </a:r>
          </a:p>
        </p:txBody>
      </p:sp>
    </p:spTree>
    <p:extLst>
      <p:ext uri="{BB962C8B-B14F-4D97-AF65-F5344CB8AC3E}">
        <p14:creationId xmlns:p14="http://schemas.microsoft.com/office/powerpoint/2010/main" val="1380934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09F6D51-D280-4D00-82F3-55F95244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7758749-D4BE-498D-AEC5-88FBF618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Default route results: Main Gate to A Block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06CEAED-2E1D-49DB-B822-4804E419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AFEBEE1-94CA-4BA8-BF89-256D36DE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AE30C7-AD96-4E92-9E31-33F8470F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Run from the included campus_map.json on this machine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C09E8C5-C2E8-4DCB-B4F2-820E47A9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9784FC-39C3-4AA9-9B8F-8F5B2D24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288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EE5B536-9408-4E25-AB76-BA7332B6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NODES EXPANDED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EC7E00-3474-4929-8460-9D0666C5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288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SEARCH TIME*</a:t>
            </a:r>
          </a:p>
        </p:txBody>
      </p:sp>
      <p:sp>
        <p:nvSpPr>
          <p:cNvPr id="10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8277ECAD-292D-42F0-912B-186C4DAC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295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2AB26F-EED1-402B-83AE-C9AFB42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193ACF-0C5D-4FBB-865D-F8381249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1,501.9 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5A1BA2-252C-4935-B133-CABF67F3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28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413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54B02A8-51FC-487F-B34F-F1A3B464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1.523 ms</a:t>
            </a:r>
          </a:p>
        </p:txBody>
      </p:sp>
      <p:sp>
        <p:nvSpPr>
          <p:cNvPr id="15" name="distance-bar-0">
            <a:extLst xmlns:a="http://schemas.openxmlformats.org/drawingml/2006/main">
              <a:ext uri="{FF2B5EF4-FFF2-40B4-BE49-F238E27FC236}">
                <a16:creationId xmlns:a16="http://schemas.microsoft.com/office/drawing/2014/main" id="{8B7410F0-562D-42B0-9E69-196A34E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38450"/>
            <a:ext cx="303993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B58E6E30-38DB-4E3A-8ECA-7CF0433B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124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BB83E03-CDFB-43CE-B4F3-9B62EBB8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Dijkstra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8C8F82F-AA32-4C72-AC63-24E2352E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1,501.9 m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938FC2D-688B-4AD0-B92D-4AC4130B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57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1004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700B8FD-4650-4155-A2DD-478D609A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1.330 ms</a:t>
            </a:r>
          </a:p>
        </p:txBody>
      </p:sp>
      <p:sp>
        <p:nvSpPr>
          <p:cNvPr id="21" name="distance-bar-1">
            <a:extLst xmlns:a="http://schemas.openxmlformats.org/drawingml/2006/main">
              <a:ext uri="{FF2B5EF4-FFF2-40B4-BE49-F238E27FC236}">
                <a16:creationId xmlns:a16="http://schemas.microsoft.com/office/drawing/2014/main" id="{B8AE4FF5-592E-45D6-998E-BBFCD68B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67125"/>
            <a:ext cx="303993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98539558-DC10-4702-9E6B-C932B944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952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C8D1B3C-005E-4754-A447-BBD3F90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F3BF6FF-AA55-48DD-88DA-316CD198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86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1,570.5 m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F23E6F2-F560-43EA-8269-6FEC0D94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862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958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9568223-80C7-4D5E-BC3C-79319658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86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0.931 ms</a:t>
            </a:r>
          </a:p>
        </p:txBody>
      </p:sp>
      <p:sp>
        <p:nvSpPr>
          <p:cNvPr id="27" name="distance-bar-2">
            <a:extLst xmlns:a="http://schemas.openxmlformats.org/drawingml/2006/main">
              <a:ext uri="{FF2B5EF4-FFF2-40B4-BE49-F238E27FC236}">
                <a16:creationId xmlns:a16="http://schemas.microsoft.com/office/drawing/2014/main" id="{73CEE912-A50D-4780-A520-80F09895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95800"/>
            <a:ext cx="317879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34350B3-7CDF-4CE3-ADB0-9D466E17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A* and Dijkstra returned the same lowest-cost distance. BFS chose fewer segments but traveled 68.6 m farther. Crowd scenarios change cost and time, not measured physical distance.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F239B10-C68E-4D45-9F99-E5AB21EB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*Single-run timing varies with machine load. Compare node expansions and route cost for a steadier view.</a:t>
            </a:r>
          </a:p>
        </p:txBody>
      </p:sp>
    </p:spTree>
    <p:extLst>
      <p:ext uri="{BB962C8B-B14F-4D97-AF65-F5344CB8AC3E}">
        <p14:creationId xmlns:p14="http://schemas.microsoft.com/office/powerpoint/2010/main" val="1909671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9B80C0E-A80B-4DB7-889B-4A4CEA02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845D1DA-17CD-4B34-A8DB-448A5BB9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Validation, assumptions and known limits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B6C3002-8270-48F0-ADDE-549AA2A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381AD8-F146-4A11-987E-52D0E203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577C5F-7FAE-455E-8E18-5684D56B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CODE AND TEST COVERAGE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4A57BF-DE50-4428-ABB7-F893D95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seven included test cases cover A* versus Dijkstra, BFS hop behavior, start = goal, unreachable routes, unknown locations, unique hostel names and heuristic safety.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06C9F9C-C55D-4200-811B-E5EDF93F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map loader also checks duplicate IDs, finite coordinates, valid endpoints, positive distances and crowd factors of at least 1.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869027-646F-48A4-8EB6-9D3B9030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859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WHAT THE MAP AND TIME MEAN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BF7620-8022-46CA-9B66-D4FCB391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OSM is community-maintained, not an official VIT navigation dataset. Named places may not have mapped entrances, so the app snaps them to nearby paths.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BA50C5D-2F46-4E0A-8A7C-CF779722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Edges are treated as two-way. The graph includes mapped steps and access roads. Walking time assumes a constant 1.4 m/s.</a:t>
            </a:r>
          </a:p>
        </p:txBody>
      </p:sp>
      <p:sp>
        <p:nvSpPr>
          <p:cNvPr id="11" name="limit-note">
            <a:extLst xmlns:a="http://schemas.openxmlformats.org/drawingml/2006/main">
              <a:ext uri="{FF2B5EF4-FFF2-40B4-BE49-F238E27FC236}">
                <a16:creationId xmlns:a16="http://schemas.microsoft.com/office/drawing/2014/main" id="{9BEE9C67-DF11-4AD3-BA5D-1B09E714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736BD5-4D72-4CA4-B7C1-942D6F2B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0DDCCD-DDC3-497B-9E31-0E0B909A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app now supports user-selected crowd scenarios (1.00x / 1.25x / 1.50x), but not live crowd sensing. Closures, step-free accessibility, terrain difficulty and personalized walking speed remain outside the current data.</a:t>
            </a:r>
          </a:p>
        </p:txBody>
      </p:sp>
    </p:spTree>
    <p:extLst>
      <p:ext uri="{BB962C8B-B14F-4D97-AF65-F5344CB8AC3E}">
        <p14:creationId xmlns:p14="http://schemas.microsoft.com/office/powerpoint/2010/main" val="20017094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4BFD8A3-9991-41FE-919B-2A603A06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9583CF2-B309-46BE-9C73-8CE848BA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Project team and review handoff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B4BBE64-1496-464A-B360-10F875D0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CBFBD7-88D6-44DE-8A9D-E5B459C7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VIT VELLORE  /  PROJECT REVIEW  /  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2D4750-AABA-433C-B01F-6F035972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90A398-C242-40A8-86F0-42789952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8E96B70-A1D2-46B3-A488-448D9E94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43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24BCE0819</a:t>
            </a:r>
          </a:p>
        </p:txBody>
      </p:sp>
      <p:sp>
        <p:nvSpPr>
          <p:cNvPr id="8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52C59874-6C93-49FC-BEB7-363EF2C6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33362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2EB843-03AF-44B1-A3B2-E7D43A17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Nayan Gattani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A0F768-831D-45CD-AE8B-942A1133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24BDS0117</a:t>
            </a:r>
          </a:p>
        </p:txBody>
      </p:sp>
      <p:sp>
        <p:nvSpPr>
          <p:cNvPr id="11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87CB0748-5530-4FE2-8170-FA12B938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9527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09C4B24-698F-4327-8E56-A845AA0F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6CB7F3-1278-43C2-A6F1-FFB0A92D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24BCE0205</a:t>
            </a:r>
          </a:p>
        </p:txBody>
      </p:sp>
      <p:sp>
        <p:nvSpPr>
          <p:cNvPr id="14" name="diagram-link">
            <a:extLst xmlns:a="http://schemas.openxmlformats.org/drawingml/2006/main">
              <a:ext uri="{FF2B5EF4-FFF2-40B4-BE49-F238E27FC236}">
                <a16:creationId xmlns:a16="http://schemas.microsoft.com/office/drawing/2014/main" id="{57B38C8B-777B-4AF1-9CD8-B9DAFFCF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57187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A22F113-78B6-4B08-A94E-B6FA13A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Ashish Kumar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80A3AB4-DD8A-47C0-9BF0-DE825C51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004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24BKT0059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51F614F-1F37-43F2-A7C5-168FDC94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049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RUN THE WEB APP</a:t>
            </a:r>
          </a:p>
        </p:txBody>
      </p:sp>
      <p:sp>
        <p:nvSpPr>
          <p:cNvPr id="18" name="runweb">
            <a:extLst xmlns:a="http://schemas.openxmlformats.org/drawingml/2006/main">
              <a:ext uri="{FF2B5EF4-FFF2-40B4-BE49-F238E27FC236}">
                <a16:creationId xmlns:a16="http://schemas.microsoft.com/office/drawing/2014/main" id="{B41569EF-CA28-4A19-B3B5-ECC11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457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C600346-739B-41BE-8C72-7E8D48BA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web_app.py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9876A61-DC7C-4DC3-9C2A-E9A65B4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860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Open http://127.0.0.1:8000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A8E8736-32A6-47F9-A62A-F19C6A61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RUN THE CLI</a:t>
            </a:r>
          </a:p>
        </p:txBody>
      </p:sp>
      <p:sp>
        <p:nvSpPr>
          <p:cNvPr id="22" name="runcli">
            <a:extLst xmlns:a="http://schemas.openxmlformats.org/drawingml/2006/main">
              <a:ext uri="{FF2B5EF4-FFF2-40B4-BE49-F238E27FC236}">
                <a16:creationId xmlns:a16="http://schemas.microsoft.com/office/drawing/2014/main" id="{A5F5D3D8-B8DE-46FD-8528-DC0E5776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90975"/>
            <a:ext cx="4457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48931BF-B57E-4D74-AFFD-B3739368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57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python campus_nav.py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78E8FE8-2E57-4B50-84F1-CCF2160D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911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Python 3.10 or newer. Leaflet and map tiles need internet in the browser.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6831BA7-6E21-4F14-A548-80549131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Map and tile attribution: OpenStreetMap contributors · Open Database License (ODbL)</a:t>
            </a:r>
          </a:p>
        </p:txBody>
      </p:sp>
    </p:spTree>
    <p:extLst>
      <p:ext uri="{BB962C8B-B14F-4D97-AF65-F5344CB8AC3E}">
        <p14:creationId xmlns:p14="http://schemas.microsoft.com/office/powerpoint/2010/main" val="1289279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2026-10-29T11:56:23.8900000Z</dcterms:created>
  <dcterms:modified xsi:type="dcterms:W3CDTF">2026-10-29T11:56:23.8900000Z</dcterms:modified>
</coreProperties>
</file>